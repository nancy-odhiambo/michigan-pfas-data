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i8fLYElh59t4jHQwYsQUndL0E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1151E8-28CC-4D0A-90E6-D913D1850F2D}">
  <a:tblStyle styleId="{FA1151E8-28CC-4D0A-90E6-D913D1850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728" y="15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>
  <p:cSld name="Research Poster Template 4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4" descr="Vertical Divider"/>
          <p:cNvCxnSpPr/>
          <p:nvPr/>
        </p:nvCxnSpPr>
        <p:spPr>
          <a:xfrm>
            <a:off x="11185525" y="6742380"/>
            <a:ext cx="0" cy="22860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9" name="Google Shape;19;p4" descr="Vertical Divider"/>
          <p:cNvCxnSpPr/>
          <p:nvPr/>
        </p:nvCxnSpPr>
        <p:spPr>
          <a:xfrm>
            <a:off x="21945600" y="6742380"/>
            <a:ext cx="0" cy="22860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0" name="Google Shape;20;p4" descr="Vertical Divider"/>
          <p:cNvCxnSpPr/>
          <p:nvPr/>
        </p:nvCxnSpPr>
        <p:spPr>
          <a:xfrm>
            <a:off x="32705675" y="6742380"/>
            <a:ext cx="0" cy="22860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14400" y="6859659"/>
            <a:ext cx="9798050" cy="1472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4" descr="Photo alt tag goes here"/>
          <p:cNvSpPr>
            <a:spLocks noGrp="1"/>
          </p:cNvSpPr>
          <p:nvPr>
            <p:ph type="pic" idx="2"/>
          </p:nvPr>
        </p:nvSpPr>
        <p:spPr>
          <a:xfrm>
            <a:off x="914400" y="22086737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4" descr="Photo alt tag goes here"/>
          <p:cNvSpPr>
            <a:spLocks noGrp="1"/>
          </p:cNvSpPr>
          <p:nvPr>
            <p:ph type="pic" idx="3"/>
          </p:nvPr>
        </p:nvSpPr>
        <p:spPr>
          <a:xfrm>
            <a:off x="33194624" y="17881325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1674474" y="6859658"/>
            <a:ext cx="9798050" cy="22679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5"/>
          </p:nvPr>
        </p:nvSpPr>
        <p:spPr>
          <a:xfrm>
            <a:off x="22418677" y="6863122"/>
            <a:ext cx="9798050" cy="697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33194624" y="6859659"/>
            <a:ext cx="9798050" cy="1019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7"/>
          </p:nvPr>
        </p:nvSpPr>
        <p:spPr>
          <a:xfrm>
            <a:off x="33194624" y="25808882"/>
            <a:ext cx="9798050" cy="384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>
            <a:spLocks noGrp="1"/>
          </p:cNvSpPr>
          <p:nvPr>
            <p:ph type="chart" idx="8"/>
          </p:nvPr>
        </p:nvSpPr>
        <p:spPr>
          <a:xfrm>
            <a:off x="22550435" y="14690434"/>
            <a:ext cx="9666291" cy="6942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9"/>
          </p:nvPr>
        </p:nvSpPr>
        <p:spPr>
          <a:xfrm>
            <a:off x="22550435" y="22557898"/>
            <a:ext cx="9798050" cy="71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138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 hasCustomPrompt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 dirty="0"/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Functional connectivity (FC) is important for understanding neurodegenerative diseases and psychiatric disorders.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FC-based clustering of multi-subject fMRI data can inform physicians about patient diagnoses.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We propose a random covariance clustering model (RCCM) to cluster individuals based on FC, estimate individual FC networks, and to infer shared network features.</a:t>
            </a:r>
          </a:p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 lang="en-US" sz="3800" dirty="0">
              <a:solidFill>
                <a:schemeClr val="dk1"/>
              </a:solidFill>
            </a:endParaRPr>
          </a:p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53018" r="-84835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53018" r="-217" b="-200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152618" r="-84835" b="-100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152618" r="-217" b="-100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253281" r="-84835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253281" r="-217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222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 Empt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044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 descr="alt=&quot;&quot;"/>
          <p:cNvSpPr/>
          <p:nvPr/>
        </p:nvSpPr>
        <p:spPr>
          <a:xfrm>
            <a:off x="0" y="30409662"/>
            <a:ext cx="43891200" cy="250873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 descr="alt=&quot;&quot;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 descr="alt=&quot;&quot;"/>
          <p:cNvSpPr/>
          <p:nvPr/>
        </p:nvSpPr>
        <p:spPr>
          <a:xfrm>
            <a:off x="-1" y="5257800"/>
            <a:ext cx="43891201" cy="2612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3" descr="alt=&quot;&quot;"/>
          <p:cNvCxnSpPr/>
          <p:nvPr/>
        </p:nvCxnSpPr>
        <p:spPr>
          <a:xfrm>
            <a:off x="32696865" y="30837463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4" name="Google Shape;14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554365" y="1216818"/>
            <a:ext cx="5443902" cy="30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744" y="30969559"/>
            <a:ext cx="14811531" cy="13055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hyperlink" Target="https://www.r-project.org/" TargetMode="External"/><Relationship Id="rId4" Type="http://schemas.openxmlformats.org/officeDocument/2006/relationships/hyperlink" Target="https://github.com/dilernia/rccm" TargetMode="Externa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hyperlink" Target="https://www.r-project.org/" TargetMode="External"/><Relationship Id="rId4" Type="http://schemas.openxmlformats.org/officeDocument/2006/relationships/hyperlink" Target="https://github.com/dilernia/rccm" TargetMode="Externa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999938" y="1095482"/>
            <a:ext cx="41224200" cy="464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Penalized model-based clustering of fMRI data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Andrew DiLernia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Karina Quevedo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Jazmin Camchong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Kelvin Lim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Wei Pan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and Lin Zhang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 Grand Valley State University, 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Division of Biostatistics,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Psychiatry,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001669" y="6932975"/>
            <a:ext cx="10774649" cy="9090718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 dirty="0"/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Functional connectivity (FC) is important for understanding neurodegenerative diseases and psychiatric disorders.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FC-based clustering of multi-subject fMRI data can inform physicians about patient diagnoses.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We propose a random covariance clustering model (RCCM) to cluster individuals based on FC, estimate individual FC networks, and to infer shared network features.</a:t>
            </a:r>
          </a:p>
          <a:p>
            <a:pPr marL="0" marR="0" lvl="0" indent="0" algn="l" rtl="0">
              <a:lnSpc>
                <a:spcPct val="147368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800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Google Shape;39;p1"/>
              <p:cNvSpPr txBox="1"/>
              <p:nvPr/>
            </p:nvSpPr>
            <p:spPr>
              <a:xfrm>
                <a:off x="1085898" y="15092175"/>
                <a:ext cx="10860195" cy="16241137"/>
              </a:xfrm>
              <a:prstGeom prst="rect">
                <a:avLst/>
              </a:prstGeom>
              <a:solidFill>
                <a:schemeClr val="lt1">
                  <a:alpha val="6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Hierarchical Model</a:t>
                </a: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𝐤𝐭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30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-dimensional Gaussian random variable with mean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sz="30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30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</m:e>
                      <m:sup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follows a mixture distribution,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30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0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being the PDF of a Wishart random matrix with degrees of freedom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and mean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0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represents the proportion of subjects belonging to cluster </a:t>
                </a:r>
                <a:r>
                  <a:rPr lang="en-US" sz="3000" i="1" dirty="0">
                    <a:solidFill>
                      <a:schemeClr val="accent4">
                        <a:lumMod val="50000"/>
                      </a:schemeClr>
                    </a:solidFill>
                  </a:rPr>
                  <a:t>g</a:t>
                </a:r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0" marR="0" lvl="0" indent="0" algn="l" rtl="0">
                  <a:spcBef>
                    <a:spcPts val="2200"/>
                  </a:spcBef>
                  <a:spcAft>
                    <a:spcPts val="0"/>
                  </a:spcAft>
                  <a:buNone/>
                </a:pPr>
                <a:endParaRPr lang="en-US" sz="2800" b="1" i="0" u="none" strike="noStrike" cap="none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9" name="Google Shape;39;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98" y="15092175"/>
                <a:ext cx="10860195" cy="16241137"/>
              </a:xfrm>
              <a:prstGeom prst="rect">
                <a:avLst/>
              </a:prstGeom>
              <a:blipFill>
                <a:blip r:embed="rId3"/>
                <a:stretch>
                  <a:fillRect l="-2525" t="-1089" r="-19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Google Shape;41;p1"/>
              <p:cNvSpPr txBox="1"/>
              <p:nvPr/>
            </p:nvSpPr>
            <p:spPr>
              <a:xfrm>
                <a:off x="11949834" y="6932975"/>
                <a:ext cx="9508369" cy="10941160"/>
              </a:xfrm>
              <a:prstGeom prst="rect">
                <a:avLst/>
              </a:prstGeom>
              <a:solidFill>
                <a:schemeClr val="lt1">
                  <a:alpha val="6274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Penalized Objective Function</a:t>
                </a:r>
              </a:p>
              <a:p>
                <a:pPr lvl="0">
                  <a:spcBef>
                    <a:spcPts val="2200"/>
                  </a:spcBef>
                  <a:spcAft>
                    <a:spcPts val="2200"/>
                  </a:spcAft>
                </a:pPr>
                <a:r>
                  <a:rPr lang="en-US" sz="3000" dirty="0">
                    <a:effectLst/>
                    <a:latin typeface="+mn-lt"/>
                    <a:ea typeface="Cambria" panose="02040503050406030204" pitchFamily="18" charset="0"/>
                    <a:cs typeface="Times New Roman" panose="02020603050405020304" pitchFamily="18" charset="0"/>
                  </a:rPr>
                  <a:t>We aim to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3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ar-AE" sz="3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  <m:r>
                      <a:rPr lang="ar-AE" sz="3200" i="1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ar-AE" sz="3000" dirty="0">
                    <a:latin typeface="+mn-lt"/>
                  </a:rPr>
                  <a:t> </a:t>
                </a:r>
                <a:r>
                  <a:rPr lang="en-US" sz="3000" dirty="0">
                    <a:latin typeface="+mn-lt"/>
                  </a:rPr>
                  <a:t>b</a:t>
                </a:r>
                <a:r>
                  <a:rPr lang="en-US" sz="3000" dirty="0">
                    <a:effectLst/>
                    <a:latin typeface="+mn-lt"/>
                    <a:ea typeface="Cambria" panose="02040503050406030204" pitchFamily="18" charset="0"/>
                    <a:cs typeface="Times New Roman" panose="02020603050405020304" pitchFamily="18" charset="0"/>
                  </a:rPr>
                  <a:t>y minimizing the following penalized objective function:</a:t>
                </a:r>
                <a:endParaRPr lang="en-US" sz="1600" dirty="0">
                  <a:effectLst/>
                  <a:latin typeface="+mn-lt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3200" b="0" i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3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</m:sSub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2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3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200" b="1" i="0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3200" i="1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3200" i="1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0"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200" b="1" i="0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</m:sSub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0"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200" b="1" i="0">
                                      <a:latin typeface="Cambria Math" panose="02040503050406030204" pitchFamily="18" charset="0"/>
                                    </a:rPr>
                                    <m:t>𝟎𝐠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i="1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2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ar-AE" sz="32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2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200" b="1" i="0">
                              <a:latin typeface="Cambria Math" panose="02040503050406030204" pitchFamily="18" charset="0"/>
                            </a:rPr>
                            <m:t>𝟎𝐠</m:t>
                          </m:r>
                        </m:sub>
                      </m:sSub>
                      <m:r>
                        <a:rPr lang="ar-AE" sz="32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i="1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is the sum of the absolute value of the off-diagonal entries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en-US" sz="3200" i="1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i="1" dirty="0"/>
                  <a:t> </a:t>
                </a:r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are non-negative tuning parameters for the lasso penalties.</a:t>
                </a: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41" name="Google Shape;41;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9834" y="6932975"/>
                <a:ext cx="9508369" cy="10941160"/>
              </a:xfrm>
              <a:prstGeom prst="rect">
                <a:avLst/>
              </a:prstGeom>
              <a:blipFill>
                <a:blip r:embed="rId4"/>
                <a:stretch>
                  <a:fillRect l="-2885" t="-1616" r="-14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" name="Google Shape;53;p1" descr="Table 1"/>
          <p:cNvGraphicFramePr/>
          <p:nvPr/>
        </p:nvGraphicFramePr>
        <p:xfrm>
          <a:off x="11700545" y="24872881"/>
          <a:ext cx="9898100" cy="3744900"/>
        </p:xfrm>
        <a:graphic>
          <a:graphicData uri="http://schemas.openxmlformats.org/drawingml/2006/table">
            <a:tbl>
              <a:tblPr firstRow="1" bandRow="1">
                <a:noFill/>
                <a:tableStyleId>{FA1151E8-28CC-4D0A-90E6-D913D1850F2D}</a:tableStyleId>
              </a:tblPr>
              <a:tblGrid>
                <a:gridCol w="231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57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/>
                        <a:t>Table 1 - Title</a:t>
                      </a:r>
                      <a:endParaRPr sz="32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8.01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7.99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5.77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6.44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4.50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3.11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9.55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1.12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6.15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8.00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6.18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5.65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8.21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2.16</a:t>
                      </a:r>
                      <a:endParaRPr sz="2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3.11*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/>
                        <a:t>7.17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3.00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9.70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10.50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 dirty="0">
                          <a:solidFill>
                            <a:schemeClr val="dk1"/>
                          </a:solidFill>
                        </a:rPr>
                        <a:t>4.45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11668741" y="28891453"/>
            <a:ext cx="9829800" cy="461665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Unamcorper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efficitur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sed in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nulla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  <p:pic>
        <p:nvPicPr>
          <p:cNvPr id="56" name="Google Shape;56;p1" descr="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518647" y="11646426"/>
            <a:ext cx="707508" cy="70750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22410283" y="6932975"/>
            <a:ext cx="9784080" cy="21187235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Data Analysis </a:t>
            </a:r>
            <a:endParaRPr lang="en-US" sz="4800" dirty="0"/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applied the RCCM to a resting-state fMRI data set collected on 40 participants with chronic-episode schizophrenic, 21 first-episode schizophrenic participants, and 43 healthy controls. </a:t>
            </a: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Variability in edge presence for </a:t>
            </a: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</a:rPr>
              <a:t>G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= 2 or 3 clusters. A value of 0 indicates perfect agreement in edge presence within a cluster, while a value closer to 0.25 indicates more heterogeneity in edge presence.</a:t>
            </a: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Estimated FC networks of the inferior and superior parietal lobules obtained using RCCM specifying </a:t>
            </a: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</a:rPr>
              <a:t>G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= 2 or 3 clusters for the top and bottom rows respectively. </a:t>
            </a:r>
            <a:endParaRPr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3146443" y="6932975"/>
            <a:ext cx="9829800" cy="777696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dirty="0"/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Mauris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 diam id,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egestas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auctor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enim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Praesent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nibh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Duis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neque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facilisis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cursus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ultrices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vel,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ullamcorper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Donec semper lorem:</a:t>
            </a:r>
            <a:endParaRPr dirty="0"/>
          </a:p>
          <a:p>
            <a:pPr marL="914400" marR="0" lvl="1" indent="-45720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Sed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Risus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Nibh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CiIn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nisl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quam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aliquet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sed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nibh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sitamet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faucibus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placerat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dui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scelerisque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914400" marR="0" lvl="1" indent="-45720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Curabitur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Accumsan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Nulla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Fusce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urna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scelerisque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luctus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rum sed,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dolor in pulvinar in eros.</a:t>
            </a:r>
            <a:endParaRPr dirty="0"/>
          </a:p>
          <a:p>
            <a:pPr marL="914400" marR="0" lvl="1" indent="-45720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Elementum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Orci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Dignissim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Proin semper ipsum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finibus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quam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vitae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consectetur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cxnSp>
        <p:nvCxnSpPr>
          <p:cNvPr id="71" name="Google Shape;71;p1" descr="Horizontal Divider"/>
          <p:cNvCxnSpPr/>
          <p:nvPr/>
        </p:nvCxnSpPr>
        <p:spPr>
          <a:xfrm>
            <a:off x="33193568" y="17520974"/>
            <a:ext cx="978408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2" name="Google Shape;72;p1" descr="Horizontal Divider"/>
          <p:cNvCxnSpPr/>
          <p:nvPr/>
        </p:nvCxnSpPr>
        <p:spPr>
          <a:xfrm>
            <a:off x="33147000" y="23033909"/>
            <a:ext cx="978408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3" name="Google Shape;73;p1"/>
          <p:cNvSpPr txBox="1"/>
          <p:nvPr/>
        </p:nvSpPr>
        <p:spPr>
          <a:xfrm>
            <a:off x="33134314" y="23960092"/>
            <a:ext cx="9737512" cy="4144724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158333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Phasellus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bibendum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posuere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nibh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id, lacinia magna 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Mauris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 diam id,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egestas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auctor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enim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Duis vitae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tincidunt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tortor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vitae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sollicitudin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magna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Aenean et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sem.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Phasellus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bibendum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posuere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Lacinia magna.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Mauris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 diam id,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egestas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auctor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Mauris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orci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varius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 diam id,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egestas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auctor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enim</a:t>
            </a:r>
            <a:endParaRPr dirty="0"/>
          </a:p>
          <a:p>
            <a:pPr marL="0" marR="0" lvl="0" indent="-152400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Duis vitae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tincidunt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tortor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vitae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sollicitudin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magna</a:t>
            </a:r>
            <a:endParaRPr dirty="0"/>
          </a:p>
        </p:txBody>
      </p:sp>
      <p:sp>
        <p:nvSpPr>
          <p:cNvPr id="74" name="Google Shape;74;p1"/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41521047" y="30840633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pic>
        <p:nvPicPr>
          <p:cNvPr id="76" name="Google Shape;7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33108" y="20951459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77" name="Google Shape;77;p1"/>
          <p:cNvSpPr txBox="1"/>
          <p:nvPr/>
        </p:nvSpPr>
        <p:spPr>
          <a:xfrm>
            <a:off x="33193568" y="17902488"/>
            <a:ext cx="9951753" cy="3075289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R Package</a:t>
            </a:r>
            <a:endParaRPr dirty="0"/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An R package implementing our method for clustering and joint estimation of multiple sparse precision matrices is publicly available on GitHub: https://github.com/dilernia/rccm</a:t>
            </a:r>
            <a:endParaRPr dirty="0">
              <a:solidFill>
                <a:schemeClr val="accent4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81F1FA-FF11-0B06-3720-4117E59AAC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818288"/>
                  </p:ext>
                </p:extLst>
              </p:nvPr>
            </p:nvGraphicFramePr>
            <p:xfrm>
              <a:off x="481580" y="16250755"/>
              <a:ext cx="11814825" cy="8182229"/>
            </p:xfrm>
            <a:graphic>
              <a:graphicData uri="http://schemas.openxmlformats.org/drawingml/2006/table">
                <a:tbl>
                  <a:tblPr firstRow="1" bandRow="1" bandCol="1">
                    <a:tableStyleId>{FA1151E8-28CC-4D0A-90E6-D913D1850F2D}</a:tableStyleId>
                  </a:tblPr>
                  <a:tblGrid>
                    <a:gridCol w="2632363">
                      <a:extLst>
                        <a:ext uri="{9D8B030D-6E8A-4147-A177-3AD203B41FA5}">
                          <a16:colId xmlns:a16="http://schemas.microsoft.com/office/drawing/2014/main" val="2463128186"/>
                        </a:ext>
                      </a:extLst>
                    </a:gridCol>
                    <a:gridCol w="5762009">
                      <a:extLst>
                        <a:ext uri="{9D8B030D-6E8A-4147-A177-3AD203B41FA5}">
                          <a16:colId xmlns:a16="http://schemas.microsoft.com/office/drawing/2014/main" val="2539837615"/>
                        </a:ext>
                      </a:extLst>
                    </a:gridCol>
                    <a:gridCol w="3420453">
                      <a:extLst>
                        <a:ext uri="{9D8B030D-6E8A-4147-A177-3AD203B41FA5}">
                          <a16:colId xmlns:a16="http://schemas.microsoft.com/office/drawing/2014/main" val="786373764"/>
                        </a:ext>
                      </a:extLst>
                    </a:gridCol>
                  </a:tblGrid>
                  <a:tr h="536511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0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0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dirty="0">
                              <a:effectLst/>
                            </a:rPr>
                            <a:t>Interpretation</a:t>
                          </a:r>
                          <a:endParaRPr lang="en-US" sz="3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24720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2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86938959"/>
                      </a:ext>
                    </a:extLst>
                  </a:tr>
                  <a:tr h="2070267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0191003"/>
                      </a:ext>
                    </a:extLst>
                  </a:tr>
                  <a:tr h="146569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2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2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2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2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2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2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2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2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2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2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2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4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2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endParaRPr lang="en-US" sz="2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656895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81F1FA-FF11-0B06-3720-4117E59AAC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818288"/>
                  </p:ext>
                </p:extLst>
              </p:nvPr>
            </p:nvGraphicFramePr>
            <p:xfrm>
              <a:off x="481580" y="16250755"/>
              <a:ext cx="11814825" cy="8182229"/>
            </p:xfrm>
            <a:graphic>
              <a:graphicData uri="http://schemas.openxmlformats.org/drawingml/2006/table">
                <a:tbl>
                  <a:tblPr firstRow="1" bandRow="1" bandCol="1">
                    <a:tableStyleId>{FA1151E8-28CC-4D0A-90E6-D913D1850F2D}</a:tableStyleId>
                  </a:tblPr>
                  <a:tblGrid>
                    <a:gridCol w="2632363">
                      <a:extLst>
                        <a:ext uri="{9D8B030D-6E8A-4147-A177-3AD203B41FA5}">
                          <a16:colId xmlns:a16="http://schemas.microsoft.com/office/drawing/2014/main" val="2463128186"/>
                        </a:ext>
                      </a:extLst>
                    </a:gridCol>
                    <a:gridCol w="5762009">
                      <a:extLst>
                        <a:ext uri="{9D8B030D-6E8A-4147-A177-3AD203B41FA5}">
                          <a16:colId xmlns:a16="http://schemas.microsoft.com/office/drawing/2014/main" val="2539837615"/>
                        </a:ext>
                      </a:extLst>
                    </a:gridCol>
                    <a:gridCol w="3420453">
                      <a:extLst>
                        <a:ext uri="{9D8B030D-6E8A-4147-A177-3AD203B41FA5}">
                          <a16:colId xmlns:a16="http://schemas.microsoft.com/office/drawing/2014/main" val="786373764"/>
                        </a:ext>
                      </a:extLst>
                    </a:gridCol>
                  </a:tblGrid>
                  <a:tr h="603123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0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0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000" dirty="0">
                              <a:effectLst/>
                            </a:rPr>
                            <a:t>Interpretation</a:t>
                          </a:r>
                          <a:endParaRPr lang="en-US" sz="3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2472038"/>
                      </a:ext>
                    </a:extLst>
                  </a:tr>
                  <a:tr h="2726182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5772" t="-22321" r="-59619" b="-178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5374" t="-22321" r="-356" b="-178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6938959"/>
                      </a:ext>
                    </a:extLst>
                  </a:tr>
                  <a:tr h="2126742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5772" t="-157020" r="-59619" b="-128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5374" t="-157020" r="-356" b="-128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0191003"/>
                      </a:ext>
                    </a:extLst>
                  </a:tr>
                  <a:tr h="2726182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5772" t="-200223" r="-59619" b="-4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45374" t="-200223" r="-356" b="-4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6895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2F44BB9-5E1F-57E0-C776-AE711FBDB1EF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22213005" y="12333225"/>
            <a:ext cx="10178636" cy="475342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A0345FE-AB16-9DD0-923E-C5A3729C9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2802" y="20435338"/>
            <a:ext cx="9975087" cy="555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47;p1" descr="B">
            <a:extLst>
              <a:ext uri="{FF2B5EF4-FFF2-40B4-BE49-F238E27FC236}">
                <a16:creationId xmlns:a16="http://schemas.microsoft.com/office/drawing/2014/main" id="{E3151B00-FEB3-85A5-DBE3-089A3FFDF70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518647" y="20435338"/>
            <a:ext cx="707508" cy="70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14398" y="6686550"/>
                <a:ext cx="13716001" cy="23518147"/>
              </a:xfrm>
            </p:spPr>
            <p:txBody>
              <a:bodyPr/>
              <a:lstStyle/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Introduction</a:t>
                </a:r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Functional connectivity (FC) is important for understanding neurodegenerative diseases and psychiatric disorders.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FC-based clustering of multi-subject fMRI data can inform physicians about patient diagnoses.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propose a random covariance clustering model (RCCM) to cluster individuals based on FC, estimate individual FC networks, and to infer shared network features.</a:t>
                </a: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Hierarchical Model</a:t>
                </a: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𝐤𝐭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-dimensional Gaussian random variable with mean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</m:e>
                      <m:sup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follows a mixture distribution,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being the PDF of a Wishart random matrix with degrees of freedom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and mean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represents the proportion of subjects belonging to cluster </a:t>
                </a:r>
                <a:r>
                  <a:rPr lang="en-US" sz="3200" i="1" dirty="0">
                    <a:solidFill>
                      <a:schemeClr val="accent4">
                        <a:lumMod val="50000"/>
                      </a:schemeClr>
                    </a:solidFill>
                  </a:rPr>
                  <a:t>g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4398" y="6686550"/>
                <a:ext cx="13716001" cy="23518147"/>
              </a:xfrm>
              <a:blipFill>
                <a:blip r:embed="rId2"/>
                <a:stretch>
                  <a:fillRect l="-2044" t="-752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F657839-AC5A-CBEC-68BD-5C169C5740B8}"/>
                  </a:ext>
                </a:extLst>
              </p:cNvPr>
              <p:cNvSpPr>
                <a:spLocks noGrp="1"/>
              </p:cNvSpPr>
              <p:nvPr>
                <p:ph type="body" idx="4"/>
              </p:nvPr>
            </p:nvSpPr>
            <p:spPr>
              <a:xfrm>
                <a:off x="15220334" y="6832926"/>
                <a:ext cx="14040466" cy="23401268"/>
              </a:xfrm>
            </p:spPr>
            <p:txBody>
              <a:bodyPr/>
              <a:lstStyle/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Penalized Objective Function</a:t>
                </a:r>
              </a:p>
              <a:p>
                <a:pPr marL="0" lvl="0" indent="0">
                  <a:spcBef>
                    <a:spcPts val="1200"/>
                  </a:spcBef>
                  <a:spcAft>
                    <a:spcPts val="1200"/>
                  </a:spcAft>
                  <a:buClr>
                    <a:srgbClr val="7F7F7F"/>
                  </a:buClr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ar-AE" sz="32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by minimizing the following penalized objective function: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</m:s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</m:sSub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𝟎𝐠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𝟎𝐠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is the sum of the absolute value of the off-diagonal entries of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  <a:endParaRPr lang="en-US" sz="3200" i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</a:rPr>
                  <a:t>and</a:t>
                </a:r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i="1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are non-negative tuning parameters for the lasso penalties.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Expectation / conditional maximization approach used for optimization</a:t>
                </a:r>
                <a:r>
                  <a:rPr lang="en-US" sz="3200" baseline="30000" dirty="0">
                    <a:solidFill>
                      <a:schemeClr val="accent4">
                        <a:lumMod val="50000"/>
                      </a:schemeClr>
                    </a:solidFill>
                  </a:rPr>
                  <a:t>1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Data Analysis </a:t>
                </a:r>
              </a:p>
              <a:p>
                <a:pPr marL="0" indent="0">
                  <a:spcBef>
                    <a:spcPts val="1200"/>
                  </a:spcBef>
                  <a:buClr>
                    <a:srgbClr val="7F7F7F"/>
                  </a:buClr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applied the RCCM to a resting-state fMRI data set collected on 40 participants with chronic-episode schizophrenic, 21 first-episode schizophrenic participants, and 43 healthy controls using R</a:t>
                </a:r>
                <a:r>
                  <a:rPr lang="en-US" sz="3200" baseline="30000" dirty="0">
                    <a:solidFill>
                      <a:schemeClr val="accent4">
                        <a:lumMod val="50000"/>
                      </a:schemeClr>
                    </a:solidFill>
                  </a:rPr>
                  <a:t>2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/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/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>
                  <a:solidFill>
                    <a:schemeClr val="dk1"/>
                  </a:solidFill>
                </a:endParaRPr>
              </a:p>
              <a:p>
                <a:pPr indent="-228600">
                  <a:spcBef>
                    <a:spcPts val="2200"/>
                  </a:spcBef>
                  <a:spcAft>
                    <a:spcPts val="2200"/>
                  </a:spcAft>
                  <a:buClr>
                    <a:schemeClr val="dk1"/>
                  </a:buClr>
                  <a:buNone/>
                </a:pPr>
                <a:endParaRPr lang="en-US" i="1" dirty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buClr>
                    <a:srgbClr val="7F7F7F"/>
                  </a:buClr>
                </a:pPr>
                <a:endParaRPr lang="en-US" sz="32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0" indent="0">
                  <a:spcBef>
                    <a:spcPts val="1200"/>
                  </a:spcBef>
                  <a:buClr>
                    <a:srgbClr val="7F7F7F"/>
                  </a:buClr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Estimated FC networks of the inferior and superior parietal lobules obtained using RCCM specifying G = 2 or 3 clusters.</a:t>
                </a:r>
              </a:p>
              <a:p>
                <a:pPr indent="-228600">
                  <a:spcBef>
                    <a:spcPts val="2200"/>
                  </a:spcBef>
                  <a:spcAft>
                    <a:spcPts val="2200"/>
                  </a:spcAft>
                  <a:buClr>
                    <a:schemeClr val="dk1"/>
                  </a:buClr>
                  <a:buNone/>
                </a:pPr>
                <a:endParaRPr lang="en-US" i="1" dirty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F657839-AC5A-CBEC-68BD-5C169C574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"/>
              </p:nvPr>
            </p:nvSpPr>
            <p:spPr>
              <a:xfrm>
                <a:off x="15220334" y="6832926"/>
                <a:ext cx="14040466" cy="23401268"/>
              </a:xfrm>
              <a:blipFill>
                <a:blip r:embed="rId3"/>
                <a:stretch>
                  <a:fillRect l="-1997" t="-755" r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3DD35-43BF-65C2-6796-A270F64CBCC8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marL="0" indent="0">
              <a:lnSpc>
                <a:spcPct val="95833"/>
              </a:lnSpc>
              <a:buNone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Variability in edge presence for G = 2 or 3 clusters. A value of 0 indicates perfect agreement in edge presence within a cluster, while a value closer to 0.25 indicates more heterogeneity in edge presence.</a:t>
            </a: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Discussion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Found some evidence to support the disconnection hypothesis among the majority schizophrenic group.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RCCM could be extended to account for autocorrelation in fMRI or to allow for dynamic FC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R Package</a:t>
            </a: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An R package implementing our method for clustering and joint estimation of multiple sparse precision matrices is publicly available on GitHub: </a:t>
            </a:r>
            <a:r>
              <a:rPr lang="en-US" sz="32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https://github.com/dilernia/rccm</a:t>
            </a:r>
            <a:endParaRPr lang="en-US" sz="3200" b="0" i="0" u="none" strike="noStrike" cap="none" dirty="0">
              <a:solidFill>
                <a:schemeClr val="accent4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Meng, X., and D. B. Rubin. 1993. “Maximum Likelihood Estimation via the ECM Algorithm: A General Framework.” </a:t>
            </a:r>
            <a:r>
              <a:rPr lang="en-US" sz="3000" dirty="0" err="1">
                <a:solidFill>
                  <a:schemeClr val="accent4">
                    <a:lumMod val="50000"/>
                  </a:schemeClr>
                </a:solidFill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Biometrika</a:t>
            </a:r>
            <a:r>
              <a:rPr lang="en-US" sz="3000" dirty="0">
                <a:solidFill>
                  <a:schemeClr val="accent4">
                    <a:lumMod val="50000"/>
                  </a:schemeClr>
                </a:solidFill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80 (2): 267. https://doi.org/10.2307/2337198.</a:t>
            </a:r>
          </a:p>
          <a:p>
            <a:pPr marL="51435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r>
              <a:rPr lang="en-US" sz="28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 Core Team. 2021. R: A Language and Environment for Statistical Computing. Vienna, Austria: R Foundation for Statistical Computing.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https://www.R-project.org/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3000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BAAC6169-C1CE-EE5A-EDB1-D24E66F4A940}"/>
              </a:ext>
            </a:extLst>
          </p:cNvPr>
          <p:cNvSpPr/>
          <p:nvPr/>
        </p:nvSpPr>
        <p:spPr>
          <a:xfrm>
            <a:off x="999938" y="1095482"/>
            <a:ext cx="41224200" cy="464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Penalized model-based clustering of fMRI data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Andrew DiLernia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Karina Quevedo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Jazmin Camchong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Kelvin Lim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Wei Pan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and Lin Zhang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 Grand Valley State University, 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Division of Biostatistics,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Psychiatry,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4;p1">
            <a:extLst>
              <a:ext uri="{FF2B5EF4-FFF2-40B4-BE49-F238E27FC236}">
                <a16:creationId xmlns:a16="http://schemas.microsoft.com/office/drawing/2014/main" id="{7731369C-25C6-4539-52D3-470DF230526A}"/>
              </a:ext>
            </a:extLst>
          </p:cNvPr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10FB42-A4CC-A7B3-94DB-7A69BEA53E0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9603700" y="6457950"/>
            <a:ext cx="13487400" cy="6572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E7702C5A-992E-EF3F-9948-A2848F44C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2280977"/>
                  </p:ext>
                </p:extLst>
              </p:nvPr>
            </p:nvGraphicFramePr>
            <p:xfrm>
              <a:off x="371475" y="15030450"/>
              <a:ext cx="14773275" cy="9117567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914650">
                      <a:extLst>
                        <a:ext uri="{9D8B030D-6E8A-4147-A177-3AD203B41FA5}">
                          <a16:colId xmlns:a16="http://schemas.microsoft.com/office/drawing/2014/main" val="2908783586"/>
                        </a:ext>
                      </a:extLst>
                    </a:gridCol>
                    <a:gridCol w="7458075">
                      <a:extLst>
                        <a:ext uri="{9D8B030D-6E8A-4147-A177-3AD203B41FA5}">
                          <a16:colId xmlns:a16="http://schemas.microsoft.com/office/drawing/2014/main" val="2815676818"/>
                        </a:ext>
                      </a:extLst>
                    </a:gridCol>
                    <a:gridCol w="4400550">
                      <a:extLst>
                        <a:ext uri="{9D8B030D-6E8A-4147-A177-3AD203B41FA5}">
                          <a16:colId xmlns:a16="http://schemas.microsoft.com/office/drawing/2014/main" val="1041601337"/>
                        </a:ext>
                      </a:extLst>
                    </a:gridCol>
                  </a:tblGrid>
                  <a:tr h="876345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7277814"/>
                      </a:ext>
                    </a:extLst>
                  </a:tr>
                  <a:tr h="2593960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84485166"/>
                      </a:ext>
                    </a:extLst>
                  </a:tr>
                  <a:tr h="2593960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622266"/>
                      </a:ext>
                    </a:extLst>
                  </a:tr>
                  <a:tr h="2593960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7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7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100" b="0" i="1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100" b="0" i="0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100" b="0" i="0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3100" b="0" i="0" u="none" strike="noStrike" cap="none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04581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E7702C5A-992E-EF3F-9948-A2848F44C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2280977"/>
                  </p:ext>
                </p:extLst>
              </p:nvPr>
            </p:nvGraphicFramePr>
            <p:xfrm>
              <a:off x="371475" y="15030450"/>
              <a:ext cx="14773275" cy="9117567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914650">
                      <a:extLst>
                        <a:ext uri="{9D8B030D-6E8A-4147-A177-3AD203B41FA5}">
                          <a16:colId xmlns:a16="http://schemas.microsoft.com/office/drawing/2014/main" val="2908783586"/>
                        </a:ext>
                      </a:extLst>
                    </a:gridCol>
                    <a:gridCol w="7458075">
                      <a:extLst>
                        <a:ext uri="{9D8B030D-6E8A-4147-A177-3AD203B41FA5}">
                          <a16:colId xmlns:a16="http://schemas.microsoft.com/office/drawing/2014/main" val="2815676818"/>
                        </a:ext>
                      </a:extLst>
                    </a:gridCol>
                    <a:gridCol w="4400550">
                      <a:extLst>
                        <a:ext uri="{9D8B030D-6E8A-4147-A177-3AD203B41FA5}">
                          <a16:colId xmlns:a16="http://schemas.microsoft.com/office/drawing/2014/main" val="1041601337"/>
                        </a:ext>
                      </a:extLst>
                    </a:gridCol>
                  </a:tblGrid>
                  <a:tr h="876345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7277814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102" t="-32151" r="-59102" b="-208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6011" t="-32151" r="-277" b="-208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4485166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102" t="-132151" r="-59102" b="-108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6011" t="-132151" r="-277" b="-108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2266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102" t="-232151" r="-59102" b="-8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6011" t="-232151" r="-277" b="-8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58153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57E71FA4-F450-E21C-1B6A-6C17BFD00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3283" y="21749787"/>
            <a:ext cx="11217267" cy="624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76;p1">
            <a:extLst>
              <a:ext uri="{FF2B5EF4-FFF2-40B4-BE49-F238E27FC236}">
                <a16:creationId xmlns:a16="http://schemas.microsoft.com/office/drawing/2014/main" id="{BB728658-9F61-908A-3DCE-2DBBF3565C0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705108" y="30752684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868621AD-28B6-FC79-EBD8-99D7DB5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26047"/>
              </p:ext>
            </p:extLst>
          </p:nvPr>
        </p:nvGraphicFramePr>
        <p:xfrm>
          <a:off x="8743950" y="9791700"/>
          <a:ext cx="11772900" cy="3924300"/>
        </p:xfrm>
        <a:graphic>
          <a:graphicData uri="http://schemas.openxmlformats.org/drawingml/2006/table">
            <a:tbl>
              <a:tblPr firstRow="1" bandRow="1">
                <a:tableStyleId>{FA1151E8-28CC-4D0A-90E6-D913D1850F2D}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356408871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623433223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3381780015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32797344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3344908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656639452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1st Episode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Chronic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032964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23 (53.5%)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 (66.7%)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30 (75.0%)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460149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 (46.5%)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7 (33.3%)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 (25.0%)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4336318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21 (48.8%)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 (57.1%)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28 (70.0%)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8431279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10 (23.3%)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6 (28.6%)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(20.0%)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92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1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Introduction</a:t>
                </a:r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Functional connectivity (FC) is important for understanding neurodegenerative diseases and psychiatric disorders.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FC-based clustering of multi-subject fMRI data can inform physicians about patient diagnoses.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propose a random covariance clustering model (RCCM) to cluster individuals based on FC, estimate individual FC networks, and to infer shared network features.</a:t>
                </a: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Hierarchical Model</a:t>
                </a: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𝐤𝐭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-dimensional Gaussian random variable with mean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and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</m:e>
                      <m:sup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follows a mixture distribution,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</m:e>
                          <m:sub>
                            <m:r>
                              <a:rPr lang="en-US" sz="32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being the PDF of a Wishart random matrix with degrees of freedom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 and mean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represents the proportion of subjects belonging to cluster </a:t>
                </a:r>
                <a:r>
                  <a:rPr lang="en-US" sz="3200" i="1" dirty="0">
                    <a:solidFill>
                      <a:schemeClr val="accent4">
                        <a:lumMod val="50000"/>
                      </a:schemeClr>
                    </a:solidFill>
                  </a:rPr>
                  <a:t>g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2044" t="-757" r="-1689" b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F657839-AC5A-CBEC-68BD-5C169C5740B8}"/>
                  </a:ext>
                </a:extLst>
              </p:cNvPr>
              <p:cNvSpPr>
                <a:spLocks noGrp="1"/>
              </p:cNvSpPr>
              <p:nvPr>
                <p:ph type="body" idx="4"/>
              </p:nvPr>
            </p:nvSpPr>
            <p:spPr/>
            <p:txBody>
              <a:bodyPr/>
              <a:lstStyle/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Penalized Objective Function</a:t>
                </a:r>
              </a:p>
              <a:p>
                <a:pPr marL="0" lvl="0" indent="0">
                  <a:spcBef>
                    <a:spcPts val="1200"/>
                  </a:spcBef>
                  <a:spcAft>
                    <a:spcPts val="1200"/>
                  </a:spcAft>
                  <a:buClr>
                    <a:srgbClr val="7F7F7F"/>
                  </a:buClr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32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ar-AE" sz="32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𝟎𝐠</m:t>
                        </m:r>
                      </m:sub>
                    </m:sSub>
                    <m:r>
                      <a:rPr lang="ar-AE" sz="320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ar-AE" sz="32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by minimizing the following penalized objective function: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𝐤𝐭</m:t>
                                      </m:r>
                                    </m:sub>
                                  </m:s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</m:sub>
                                  </m:s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</m:sSub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𝛀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𝟎𝐠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𝟎𝐠</m:t>
                          </m:r>
                        </m:sub>
                      </m:sSub>
                      <m:r>
                        <a:rPr lang="ar-AE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ar-AE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is the sum of the absolute value of the off-diagonal entries of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  <a:endParaRPr lang="en-US" sz="3200" i="1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2"/>
                  </a:buClr>
                  <a:buSzPts val="3500"/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</a:rPr>
                  <a:t>and</a:t>
                </a:r>
                <a:r>
                  <a:rPr lang="en-US" sz="3000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200" i="1" dirty="0">
                    <a:solidFill>
                      <a:schemeClr val="accent4">
                        <a:lumMod val="50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are non-negative tuning parameters for the lasso penalties.</a:t>
                </a:r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Expectation / conditional maximization used for optimization</a:t>
                </a:r>
                <a:r>
                  <a:rPr lang="en-US" sz="3200" baseline="30000" dirty="0">
                    <a:solidFill>
                      <a:schemeClr val="accent4">
                        <a:lumMod val="50000"/>
                      </a:schemeClr>
                    </a:solidFill>
                  </a:rPr>
                  <a:t>1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Data Analysis </a:t>
                </a:r>
              </a:p>
              <a:p>
                <a:pPr marL="0" indent="0">
                  <a:spcBef>
                    <a:spcPts val="1200"/>
                  </a:spcBef>
                  <a:buClr>
                    <a:srgbClr val="7F7F7F"/>
                  </a:buClr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applied the RCCM to a resting-state fMRI data set collected on 40 participants with chronic-episode schizophrenic, 21 first-episode schizophrenic participants, and 43 healthy controls using R</a:t>
                </a:r>
                <a:r>
                  <a:rPr lang="en-US" sz="3200" baseline="30000" dirty="0">
                    <a:solidFill>
                      <a:schemeClr val="accent4">
                        <a:lumMod val="50000"/>
                      </a:schemeClr>
                    </a:solidFill>
                  </a:rPr>
                  <a:t>2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.</a:t>
                </a: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/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sz="2800" dirty="0"/>
              </a:p>
              <a:p>
                <a:pPr indent="-228600">
                  <a:spcBef>
                    <a:spcPts val="2200"/>
                  </a:spcBef>
                  <a:spcAft>
                    <a:spcPts val="2200"/>
                  </a:spcAft>
                  <a:buClr>
                    <a:schemeClr val="dk1"/>
                  </a:buClr>
                  <a:buNone/>
                </a:pPr>
                <a:endParaRPr lang="en-US" sz="1200" i="1" dirty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indent="-228600">
                  <a:spcBef>
                    <a:spcPts val="2200"/>
                  </a:spcBef>
                  <a:spcAft>
                    <a:spcPts val="2200"/>
                  </a:spcAft>
                  <a:buClr>
                    <a:schemeClr val="dk1"/>
                  </a:buClr>
                  <a:buNone/>
                </a:pPr>
                <a:endParaRPr lang="en-US" sz="1200" i="1" dirty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indent="-228600">
                  <a:spcBef>
                    <a:spcPts val="2200"/>
                  </a:spcBef>
                  <a:spcAft>
                    <a:spcPts val="2200"/>
                  </a:spcAft>
                  <a:buClr>
                    <a:schemeClr val="dk1"/>
                  </a:buClr>
                  <a:buNone/>
                </a:pPr>
                <a:r>
                  <a:rPr lang="en-US" i="1" dirty="0">
                    <a:solidFill>
                      <a:schemeClr val="accent4">
                        <a:lumMod val="50000"/>
                      </a:schemeClr>
                    </a:solidFill>
                    <a:latin typeface="+mn-lt"/>
                    <a:ea typeface="Cambria" panose="02040503050406030204" pitchFamily="18" charset="0"/>
                    <a:cs typeface="Times New Roman" panose="02020603050405020304" pitchFamily="18" charset="0"/>
                  </a:rPr>
                  <a:t>Summary of clustering results for specifying G = 2 or 3 clusters.</a:t>
                </a:r>
              </a:p>
              <a:p>
                <a:pPr marL="0" indent="0">
                  <a:spcBef>
                    <a:spcPts val="1200"/>
                  </a:spcBef>
                  <a:buClr>
                    <a:srgbClr val="7F7F7F"/>
                  </a:buClr>
                </a:pPr>
                <a:endParaRPr lang="en-US" sz="32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F657839-AC5A-CBEC-68BD-5C169C574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"/>
              </p:nvPr>
            </p:nvSpPr>
            <p:spPr>
              <a:blipFill>
                <a:blip r:embed="rId3"/>
                <a:stretch>
                  <a:fillRect l="-2085" t="-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3DD35-43BF-65C2-6796-A270F64CBCC8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 marL="0" indent="0">
              <a:lnSpc>
                <a:spcPct val="95833"/>
              </a:lnSpc>
              <a:buNone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  <a:latin typeface="+mn-lt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44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Variability in edge presence with 0 indicating perfect agreement in edge presence within a cluster, and values closer to 0.25 indicating more variability.</a:t>
            </a:r>
          </a:p>
          <a:p>
            <a:pPr marL="0" indent="0">
              <a:spcBef>
                <a:spcPts val="1200"/>
              </a:spcBef>
              <a:buNone/>
            </a:pPr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Estimated FC networks of the inferior and superior parietal lobules obtained using RCCM specifying G = 2 or 3 clusters for the top and bottom rows respectively. </a:t>
            </a: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Discussion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Found some evidence to support the disconnection hypothesis among the majority schizophrenic group.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Could be extended to account for autocorrelation or dynamic FC.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R Package</a:t>
            </a:r>
          </a:p>
          <a:p>
            <a:pPr marL="0" marR="0" lvl="0" indent="0" algn="l" rtl="0">
              <a:lnSpc>
                <a:spcPct val="164285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An R package implementing the RCCM is publicly available on GitHub: </a:t>
            </a:r>
            <a:r>
              <a:rPr lang="en-US" sz="32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https://github.com/dilernia/rccm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Meng, X., and D. B. Rubin. 1993. “Maximum Likelihood Estimation via the ECM Algorithm: A General Framework.”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</a:rPr>
              <a:t>Biometrika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80 (2): 267. https://doi.org/10.2307/2337198.</a:t>
            </a:r>
          </a:p>
          <a:p>
            <a:pPr marL="51435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r>
              <a:rPr lang="en-US" sz="2400" b="0" i="0" u="none" strike="noStrike" cap="none" dirty="0">
                <a:solidFill>
                  <a:schemeClr val="accent4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 Core Team. 2021. R: A Language and Environment for Statistical Computing. Vienna, Austria: R Foundation for Statistical Computing.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https://www.R-project.org/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3000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3000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BAAC6169-C1CE-EE5A-EDB1-D24E66F4A940}"/>
              </a:ext>
            </a:extLst>
          </p:cNvPr>
          <p:cNvSpPr/>
          <p:nvPr/>
        </p:nvSpPr>
        <p:spPr>
          <a:xfrm>
            <a:off x="999938" y="1095482"/>
            <a:ext cx="41224200" cy="464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Penalized model-based clustering of fMRI data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Andrew DiLernia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Karina Quevedo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Jazmin Camchong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Kelvin Lim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Wei Pan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and Lin Zhang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 Grand Valley State University, </a:t>
            </a: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Division of Biostatistics,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30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Psychiatry, University of Minnesota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4;p1">
            <a:extLst>
              <a:ext uri="{FF2B5EF4-FFF2-40B4-BE49-F238E27FC236}">
                <a16:creationId xmlns:a16="http://schemas.microsoft.com/office/drawing/2014/main" id="{7731369C-25C6-4539-52D3-470DF230526A}"/>
              </a:ext>
            </a:extLst>
          </p:cNvPr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10FB42-A4CC-A7B3-94DB-7A69BEA53E0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0089475" y="6029325"/>
            <a:ext cx="12058650" cy="5429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E7702C5A-992E-EF3F-9948-A2848F44C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3746"/>
                  </p:ext>
                </p:extLst>
              </p:nvPr>
            </p:nvGraphicFramePr>
            <p:xfrm>
              <a:off x="371475" y="15230475"/>
              <a:ext cx="14258925" cy="909834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13173">
                      <a:extLst>
                        <a:ext uri="{9D8B030D-6E8A-4147-A177-3AD203B41FA5}">
                          <a16:colId xmlns:a16="http://schemas.microsoft.com/office/drawing/2014/main" val="2908783586"/>
                        </a:ext>
                      </a:extLst>
                    </a:gridCol>
                    <a:gridCol w="7198413">
                      <a:extLst>
                        <a:ext uri="{9D8B030D-6E8A-4147-A177-3AD203B41FA5}">
                          <a16:colId xmlns:a16="http://schemas.microsoft.com/office/drawing/2014/main" val="2815676818"/>
                        </a:ext>
                      </a:extLst>
                    </a:gridCol>
                    <a:gridCol w="4247339">
                      <a:extLst>
                        <a:ext uri="{9D8B030D-6E8A-4147-A177-3AD203B41FA5}">
                          <a16:colId xmlns:a16="http://schemas.microsoft.com/office/drawing/2014/main" val="1041601337"/>
                        </a:ext>
                      </a:extLst>
                    </a:gridCol>
                  </a:tblGrid>
                  <a:tr h="857119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7277814"/>
                      </a:ext>
                    </a:extLst>
                  </a:tr>
                  <a:tr h="268680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284485166"/>
                      </a:ext>
                    </a:extLst>
                  </a:tr>
                  <a:tr h="268680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622266"/>
                      </a:ext>
                    </a:extLst>
                  </a:tr>
                  <a:tr h="268680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7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7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7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7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7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7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7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7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7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7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7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100" b="0" i="1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100" b="0" i="0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3100" b="0" i="0" u="none" strike="noStrike" cap="none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3100" b="0" i="0" u="none" strike="noStrike" cap="none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3100" b="0" i="0" u="none" strike="noStrike" cap="none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3100" b="0" i="0" u="none" strike="noStrike" cap="none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045815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6">
                <a:extLst>
                  <a:ext uri="{FF2B5EF4-FFF2-40B4-BE49-F238E27FC236}">
                    <a16:creationId xmlns:a16="http://schemas.microsoft.com/office/drawing/2014/main" id="{E7702C5A-992E-EF3F-9948-A2848F44C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3746"/>
                  </p:ext>
                </p:extLst>
              </p:nvPr>
            </p:nvGraphicFramePr>
            <p:xfrm>
              <a:off x="371475" y="15230475"/>
              <a:ext cx="14258925" cy="909834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13173">
                      <a:extLst>
                        <a:ext uri="{9D8B030D-6E8A-4147-A177-3AD203B41FA5}">
                          <a16:colId xmlns:a16="http://schemas.microsoft.com/office/drawing/2014/main" val="2908783586"/>
                        </a:ext>
                      </a:extLst>
                    </a:gridCol>
                    <a:gridCol w="7198413">
                      <a:extLst>
                        <a:ext uri="{9D8B030D-6E8A-4147-A177-3AD203B41FA5}">
                          <a16:colId xmlns:a16="http://schemas.microsoft.com/office/drawing/2014/main" val="2815676818"/>
                        </a:ext>
                      </a:extLst>
                    </a:gridCol>
                    <a:gridCol w="4247339">
                      <a:extLst>
                        <a:ext uri="{9D8B030D-6E8A-4147-A177-3AD203B41FA5}">
                          <a16:colId xmlns:a16="http://schemas.microsoft.com/office/drawing/2014/main" val="1041601337"/>
                        </a:ext>
                      </a:extLst>
                    </a:gridCol>
                  </a:tblGrid>
                  <a:tr h="857119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97277814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204" t="-31556" r="-59272" b="-2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5868" t="-31556" r="-430" b="-2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4485166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204" t="-131264" r="-59272" b="-108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5868" t="-131264" r="-430" b="-108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2266"/>
                      </a:ext>
                    </a:extLst>
                  </a:tr>
                  <a:tr h="2747074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1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1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39204" t="-231264" r="-59272" b="-8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235868" t="-231264" r="-430" b="-8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58153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57E71FA4-F450-E21C-1B6A-6C17BFD00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7392" y="13206978"/>
            <a:ext cx="10962002" cy="61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76;p1">
            <a:extLst>
              <a:ext uri="{FF2B5EF4-FFF2-40B4-BE49-F238E27FC236}">
                <a16:creationId xmlns:a16="http://schemas.microsoft.com/office/drawing/2014/main" id="{BB728658-9F61-908A-3DCE-2DBBF3565C0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705108" y="30752684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868621AD-28B6-FC79-EBD8-99D7DB5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88632"/>
              </p:ext>
            </p:extLst>
          </p:nvPr>
        </p:nvGraphicFramePr>
        <p:xfrm>
          <a:off x="15837693" y="23564850"/>
          <a:ext cx="12215813" cy="4981576"/>
        </p:xfrm>
        <a:graphic>
          <a:graphicData uri="http://schemas.openxmlformats.org/drawingml/2006/table">
            <a:tbl>
              <a:tblPr firstRow="1" bandRow="1">
                <a:tableStyleId>{FA1151E8-28CC-4D0A-90E6-D913D1850F2D}</a:tableStyleId>
              </a:tblPr>
              <a:tblGrid>
                <a:gridCol w="1107259">
                  <a:extLst>
                    <a:ext uri="{9D8B030D-6E8A-4147-A177-3AD203B41FA5}">
                      <a16:colId xmlns:a16="http://schemas.microsoft.com/office/drawing/2014/main" val="3564088710"/>
                    </a:ext>
                  </a:extLst>
                </a:gridCol>
                <a:gridCol w="2051686">
                  <a:extLst>
                    <a:ext uri="{9D8B030D-6E8A-4147-A177-3AD203B41FA5}">
                      <a16:colId xmlns:a16="http://schemas.microsoft.com/office/drawing/2014/main" val="2623433223"/>
                    </a:ext>
                  </a:extLst>
                </a:gridCol>
                <a:gridCol w="2861044">
                  <a:extLst>
                    <a:ext uri="{9D8B030D-6E8A-4147-A177-3AD203B41FA5}">
                      <a16:colId xmlns:a16="http://schemas.microsoft.com/office/drawing/2014/main" val="3381780015"/>
                    </a:ext>
                  </a:extLst>
                </a:gridCol>
                <a:gridCol w="2961906">
                  <a:extLst>
                    <a:ext uri="{9D8B030D-6E8A-4147-A177-3AD203B41FA5}">
                      <a16:colId xmlns:a16="http://schemas.microsoft.com/office/drawing/2014/main" val="327973448"/>
                    </a:ext>
                  </a:extLst>
                </a:gridCol>
                <a:gridCol w="3233918">
                  <a:extLst>
                    <a:ext uri="{9D8B030D-6E8A-4147-A177-3AD203B41FA5}">
                      <a16:colId xmlns:a16="http://schemas.microsoft.com/office/drawing/2014/main" val="2033449080"/>
                    </a:ext>
                  </a:extLst>
                </a:gridCol>
              </a:tblGrid>
              <a:tr h="934586">
                <a:tc>
                  <a:txBody>
                    <a:bodyPr/>
                    <a:lstStyle/>
                    <a:p>
                      <a:pPr marL="0" marR="0" indent="45720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Control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1st Episode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Chronic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4032964"/>
                  </a:ext>
                </a:extLst>
              </a:tr>
              <a:tr h="863113"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23 (53.5%)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14 (66.7%)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30 (75.0%)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4601491"/>
                  </a:ext>
                </a:extLst>
              </a:tr>
              <a:tr h="779725"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20 (46.5%)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7 (33.3%)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10 (25.0%)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4336318"/>
                  </a:ext>
                </a:extLst>
              </a:tr>
              <a:tr h="779725"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21 (48.8%)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12 (57.1%)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28 (70.0%)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8431279"/>
                  </a:ext>
                </a:extLst>
              </a:tr>
              <a:tr h="877191"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10 (23.3%)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6 (28.6%)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dirty="0"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8 (20.0%)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929843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  <a:sym typeface="Arial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 rtl="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  <a:sym typeface="Arial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  <a:sym typeface="Arial"/>
                        </a:rPr>
                        <a:t>12 (27.9%)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  <a:sym typeface="Arial"/>
                        </a:rPr>
                        <a:t>3 (14.3%)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3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mbria" panose="02040503050406030204" pitchFamily="18" charset="0"/>
                          <a:cs typeface="Arial" panose="020B0604020202020204" pitchFamily="34" charset="0"/>
                          <a:sym typeface="Arial"/>
                        </a:rPr>
                        <a:t>4 (10.0%)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828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509560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1867</Words>
  <Application>Microsoft Office PowerPoint</Application>
  <PresentationFormat>Custom</PresentationFormat>
  <Paragraphs>324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 Math</vt:lpstr>
      <vt:lpstr>NTR</vt:lpstr>
      <vt:lpstr>Times New Roman</vt:lpstr>
      <vt:lpstr>Research Poster Template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Andrew DiLernia</cp:lastModifiedBy>
  <cp:revision>54</cp:revision>
  <dcterms:created xsi:type="dcterms:W3CDTF">2019-03-28T18:35:19Z</dcterms:created>
  <dcterms:modified xsi:type="dcterms:W3CDTF">2023-05-11T20:36:00Z</dcterms:modified>
</cp:coreProperties>
</file>