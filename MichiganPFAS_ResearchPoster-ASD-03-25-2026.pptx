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" roundtripDataSignature="AMtx7mi8fLYElh59t4jHQwYsQUndL0E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F5337-778B-AB8B-530D-C9B0AF4A36E0}" v="117" dt="2026-03-25T16:28:54.689"/>
    <p1510:client id="{6C20A5EC-8840-9940-BC91-4086AF4B13F5}" v="33" dt="2026-03-25T11:29:17.515"/>
    <p1510:client id="{CDA5B9FC-6E7C-8348-8C8C-767D86500204}" v="25" dt="2026-03-25T15:52:30.742"/>
  </p1510:revLst>
</p1510:revInfo>
</file>

<file path=ppt/tableStyles.xml><?xml version="1.0" encoding="utf-8"?>
<a:tblStyleLst xmlns:a="http://schemas.openxmlformats.org/drawingml/2006/main" def="{FA1151E8-28CC-4D0A-90E6-D913D1850F2D}">
  <a:tblStyle styleId="{FA1151E8-28CC-4D0A-90E6-D913D1850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9" autoAdjust="0"/>
    <p:restoredTop sz="94798"/>
  </p:normalViewPr>
  <p:slideViewPr>
    <p:cSldViewPr snapToGrid="0">
      <p:cViewPr>
        <p:scale>
          <a:sx n="40" d="100"/>
          <a:sy n="40" d="100"/>
        </p:scale>
        <p:origin x="872" y="-880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customschemas.google.com/relationships/presentationmetadata" Target="metadata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 hasCustomPrompt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 dirty="0"/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Functional connectivity (FC) is important for understanding neurodegenerative diseases and psychiatric disorders.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FC-based clustering of multi-subject fMRI data can inform physicians about patient diagnoses.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We propose a random covariance clustering model (RCCM) to cluster individuals based on FC, estimate individual FC networks, and to infer shared network features.</a:t>
            </a:r>
          </a:p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 lang="en-US" sz="3800" dirty="0">
              <a:solidFill>
                <a:schemeClr val="dk1"/>
              </a:solidFill>
            </a:endParaRPr>
          </a:p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>
                              <a:effectLst/>
                            </a:rPr>
                            <a:t>Interpretation</a:t>
                          </a:r>
                          <a:endParaRPr lang="en-US" sz="3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53018" r="-84835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53018" r="-217" b="-200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152618" r="-84835" b="-100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152618" r="-217" b="-100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253281" r="-84835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253281" r="-217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222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 Empt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044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 descr="alt=&quot;&quot;"/>
          <p:cNvSpPr/>
          <p:nvPr/>
        </p:nvSpPr>
        <p:spPr>
          <a:xfrm>
            <a:off x="0" y="30409662"/>
            <a:ext cx="43891200" cy="250873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 descr="alt=&quot;&quot;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 descr="alt=&quot;&quot;"/>
          <p:cNvSpPr/>
          <p:nvPr/>
        </p:nvSpPr>
        <p:spPr>
          <a:xfrm>
            <a:off x="-1" y="5257800"/>
            <a:ext cx="43891201" cy="2612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3" descr="alt=&quot;&quot;"/>
          <p:cNvCxnSpPr/>
          <p:nvPr/>
        </p:nvCxnSpPr>
        <p:spPr>
          <a:xfrm>
            <a:off x="32696865" y="30837463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4" name="Google Shape;1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54365" y="1216818"/>
            <a:ext cx="5443902" cy="30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744" y="30969559"/>
            <a:ext cx="14811531" cy="13055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www.epa.gov/pfas/pfas-explained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www.michigan.gov/egle/maps-data/mpart-pfas-gis" TargetMode="Externa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57839-AC5A-CBEC-68BD-5C169C5740B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4895095" y="5629335"/>
            <a:ext cx="14101012" cy="2481217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B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Results</a:t>
            </a:r>
          </a:p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50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1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8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3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Clr>
                <a:srgbClr val="7F7F7F"/>
              </a:buClr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BAAC6169-C1CE-EE5A-EDB1-D24E66F4A940}"/>
              </a:ext>
            </a:extLst>
          </p:cNvPr>
          <p:cNvSpPr/>
          <p:nvPr/>
        </p:nvSpPr>
        <p:spPr>
          <a:xfrm>
            <a:off x="999938" y="1095482"/>
            <a:ext cx="41224200" cy="452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chemeClr val="lt1"/>
                </a:solidFill>
              </a:rPr>
              <a:t>A Spatial Analysis of PFAS Pollution in Michigan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Nancy </a:t>
            </a:r>
            <a:r>
              <a:rPr lang="en-US" sz="3600" dirty="0">
                <a:solidFill>
                  <a:schemeClr val="lt1"/>
                </a:solidFill>
              </a:rPr>
              <a:t>Odhiambo, Andrew </a:t>
            </a:r>
            <a:r>
              <a:rPr lang="en-US" sz="3600" dirty="0" err="1">
                <a:solidFill>
                  <a:schemeClr val="lt1"/>
                </a:solidFill>
              </a:rPr>
              <a:t>DiLernia</a:t>
            </a:r>
            <a:endParaRPr lang="en-US" sz="3600" baseline="30000" dirty="0" err="1">
              <a:solidFill>
                <a:schemeClr val="lt1"/>
              </a:solidFill>
            </a:endParaRPr>
          </a:p>
          <a:p>
            <a:pPr lvl="0"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 Grand Valley State University 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4;p1">
            <a:extLst>
              <a:ext uri="{FF2B5EF4-FFF2-40B4-BE49-F238E27FC236}">
                <a16:creationId xmlns:a16="http://schemas.microsoft.com/office/drawing/2014/main" id="{7731369C-25C6-4539-52D3-470DF230526A}"/>
              </a:ext>
            </a:extLst>
          </p:cNvPr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76;p1">
            <a:extLst>
              <a:ext uri="{FF2B5EF4-FFF2-40B4-BE49-F238E27FC236}">
                <a16:creationId xmlns:a16="http://schemas.microsoft.com/office/drawing/2014/main" id="{BB728658-9F61-908A-3DCE-2DBBF3565C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05108" y="30752684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AB71F360-BB8B-D375-3180-E5F2E2514D50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9260800" y="5619555"/>
            <a:ext cx="14630400" cy="24812177"/>
          </a:xfrm>
        </p:spPr>
        <p:txBody>
          <a:bodyPr/>
          <a:lstStyle/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Conclusion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[Insert content from the sticky notes from our meeting]</a:t>
            </a:r>
          </a:p>
          <a:p>
            <a:pPr lvl="1" indent="-457200">
              <a:spcBef>
                <a:spcPts val="1200"/>
              </a:spcBef>
              <a:buClr>
                <a:srgbClr val="005BBB"/>
              </a:buClr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We also developed an interactive dashboard published on GitHub: https://github.com/Nancy-Odhiambo/Michigan-PFAS-Data</a:t>
            </a:r>
            <a:endParaRPr lang="en-US" sz="3200" b="1" dirty="0">
              <a:solidFill>
                <a:srgbClr val="005BBB"/>
              </a:solidFill>
              <a:ea typeface="Calibri"/>
            </a:endParaRPr>
          </a:p>
          <a:p>
            <a:pPr mar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  <a:endParaRPr lang="en-US" dirty="0"/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Environmental Protection Agency. (2025, September 30). PFAS explained. </a:t>
            </a: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https://www.epa.gov/pfas/pfas-explained</a:t>
            </a:r>
            <a:endParaRPr lang="en-US" sz="2500" dirty="0">
              <a:solidFill>
                <a:schemeClr val="accent4">
                  <a:lumMod val="50000"/>
                </a:schemeClr>
              </a:solidFill>
              <a:hlinkClick r:id="rId3"/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U.S. Environmental Protection Agency. (2024, April 8). Understanding the final PFAS national primary drinking water regulation: Hazard index maximum contaminant level [Fact sheet]. https://www.epa.gov/system/files/documents/2024-04/pfas-npdwr_fact-sheet_hazard-index_4.8.24.pdf</a:t>
            </a: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</a:rPr>
              <a:t>Michigan Department of Environment, Great Lakes, and Energy (EGLE). (2026). MPART PFAS Geographic Information System [Data set]. Michigan PFAS Action Response Team. </a:t>
            </a: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https://www.michigan.gov/egle/maps-data/mpart-pfas-gis</a:t>
            </a:r>
            <a:endParaRPr lang="en-US" sz="2500" dirty="0">
              <a:solidFill>
                <a:schemeClr val="accent4">
                  <a:lumMod val="50000"/>
                </a:schemeClr>
              </a:solidFill>
              <a:hlinkClick r:id="rId4"/>
            </a:endParaRPr>
          </a:p>
          <a:p>
            <a:pPr marL="51435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Clr>
                <a:schemeClr val="dk1"/>
              </a:buClr>
              <a:buNone/>
            </a:pPr>
            <a:endParaRPr lang="en-US" sz="2500" dirty="0"/>
          </a:p>
          <a:p>
            <a:pPr marL="514350" indent="-514350">
              <a:lnSpc>
                <a:spcPct val="95833"/>
              </a:lnSpc>
              <a:buClr>
                <a:schemeClr val="dk1"/>
              </a:buClr>
              <a:buAutoNum type="arabicPeriod"/>
            </a:pPr>
            <a:endParaRPr lang="en-US" sz="3000" dirty="0">
              <a:solidFill>
                <a:srgbClr val="333333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Char char="•"/>
            </a:pPr>
            <a:endParaRPr lang="en-US" dirty="0"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5A505-4BB7-0C64-4386-A57A3D5AA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1033" y="6614556"/>
            <a:ext cx="12365181" cy="8243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B399D0-5D23-D139-707D-865B3CB82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65131" y="15267285"/>
            <a:ext cx="12670183" cy="9050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858FAE-1C8D-0946-B8C3-06B7A8DBCB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12065" y="5707504"/>
            <a:ext cx="13383695" cy="95597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BA9DBB-2550-B185-75A1-8A4A4386A3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475" y="24561462"/>
            <a:ext cx="13816630" cy="55266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1173C06-0403-2A94-6AF8-40D60FE4BD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14606" y="5607056"/>
                <a:ext cx="13716001" cy="23345038"/>
              </a:xfrm>
            </p:spPr>
            <p:txBody>
              <a:bodyPr/>
              <a:lstStyle/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Introduction</a:t>
                </a:r>
                <a:endParaRPr lang="en-US" sz="4800" dirty="0"/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Per- and polyfluoroalkyl substances (PFAS) are synthetic “forever” chemicals that are widely used in everyday products.¹</a:t>
                </a: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PFAS do not break down easily in the environment or the human body.</a:t>
                </a: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Research indicates that PFAS exposure may be linked to harmful health effects², so monitoring PFAS pollution levels is important for public health research </a:t>
                </a:r>
                <a:r>
                  <a:rPr lang="en-US" sz="3200">
                    <a:solidFill>
                      <a:schemeClr val="accent4">
                        <a:lumMod val="50000"/>
                      </a:schemeClr>
                    </a:solidFill>
                  </a:rPr>
                  <a:t>and evidence-based </a:t>
                </a: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policy decisions.</a:t>
                </a:r>
                <a:endParaRPr lang="en-US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We analyzed data on PFAS pollution from the Michigan Department of Environmental Great Lakes and Energy and the Michigan PFAS Action Response Team³, summarizing patterns in PFAS pollution in Michigan.</a:t>
                </a:r>
                <a:endParaRPr lang="en-US" sz="3200" b="1" dirty="0">
                  <a:solidFill>
                    <a:srgbClr val="005BBB"/>
                  </a:solidFill>
                  <a:ea typeface="Verdana"/>
                </a:endParaRPr>
              </a:p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Hazard Index</a:t>
                </a:r>
                <a:endParaRPr lang="en-US" sz="4800" dirty="0">
                  <a:solidFill>
                    <a:srgbClr val="666666"/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lr>
                    <a:srgbClr val="005BBB"/>
                  </a:buClr>
                  <a:buFont typeface="Arial,Sans-Serif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The hazard index is a unitless metric from the Environmental Protection Agency (EPA) that summarizes the adverse health effects associated with exposure to mixtures of different PFAS analytes.²</a:t>
                </a:r>
                <a:endParaRPr lang="en-US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285750" lvl="1">
                  <a:spcBef>
                    <a:spcPts val="1200"/>
                  </a:spcBef>
                  <a:buClr>
                    <a:srgbClr val="005BBB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000"/>
                        <m:t>Hazard</m:t>
                      </m:r>
                      <m:r>
                        <m:rPr>
                          <m:nor/>
                        </m:rPr>
                        <a:rPr lang="en-US" sz="3000"/>
                        <m:t> </m:t>
                      </m:r>
                      <m:r>
                        <m:rPr>
                          <m:nor/>
                        </m:rPr>
                        <a:rPr lang="en-US" sz="3000"/>
                        <m:t>Index</m:t>
                      </m:r>
                      <m:r>
                        <a:rPr lang="en-US" sz="3000"/>
                        <m:t>=</m:t>
                      </m:r>
                      <m:d>
                        <m:dPr>
                          <m:ctrlPr>
                            <a:rPr lang="en-US" sz="3000" i="1"/>
                          </m:ctrlPr>
                        </m:dPr>
                        <m:e>
                          <m:f>
                            <m:fPr>
                              <m:ctrlPr>
                                <a:rPr lang="en-US" sz="3000" i="1"/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HFPODA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/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/>
                        <m:t>+</m:t>
                      </m:r>
                      <m:d>
                        <m:dPr>
                          <m:ctrlPr>
                            <a:rPr lang="en-US" sz="3000" i="1"/>
                          </m:ctrlPr>
                        </m:dPr>
                        <m:e>
                          <m:f>
                            <m:fPr>
                              <m:ctrlPr>
                                <a:rPr lang="en-US" sz="3000" i="1"/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PFBS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/>
                                <m:t>2000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/>
                        <m:t>+</m:t>
                      </m:r>
                      <m:d>
                        <m:dPr>
                          <m:ctrlPr>
                            <a:rPr lang="en-US" sz="3000" i="1"/>
                          </m:ctrlPr>
                        </m:dPr>
                        <m:e>
                          <m:f>
                            <m:fPr>
                              <m:ctrlPr>
                                <a:rPr lang="en-US" sz="3000" i="1"/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PFNA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/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  <m:r>
                        <a:rPr lang="en-US" sz="3000"/>
                        <m:t>+</m:t>
                      </m:r>
                      <m:d>
                        <m:dPr>
                          <m:ctrlPr>
                            <a:rPr lang="en-US" sz="3000" i="1"/>
                          </m:ctrlPr>
                        </m:dPr>
                        <m:e>
                          <m:f>
                            <m:fPr>
                              <m:ctrlPr>
                                <a:rPr lang="en-US" sz="3000" i="1"/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3000"/>
                                <m:t>PFHxS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num>
                            <m:den>
                              <m:r>
                                <a:rPr lang="en-US" sz="3000" i="1"/>
                                <m:t>10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3000"/>
                                <m:t>ppt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3000" dirty="0">
                  <a:solidFill>
                    <a:schemeClr val="accent4">
                      <a:lumMod val="50000"/>
                    </a:schemeClr>
                  </a:solidFill>
                </a:endParaRPr>
              </a:p>
              <a:p>
                <a:pPr marL="742950" lvl="1" indent="-457200">
                  <a:spcBef>
                    <a:spcPts val="1200"/>
                  </a:spcBef>
                  <a:buClr>
                    <a:srgbClr val="005BBB"/>
                  </a:buClr>
                  <a:buFont typeface="Arial,Sans-Serif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The EPA’s Hazard Index Maximum Contaminant Level (MCL) is set at 1, meaning there are potential elevated health risks for drinking water with hazard index levels exceeding 1.</a:t>
                </a:r>
              </a:p>
              <a:p>
                <a:pPr marL="0" indent="0">
                  <a:lnSpc>
                    <a:spcPct val="95833"/>
                  </a:lnSpc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1173C06-0403-2A94-6AF8-40D60FE4B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14606" y="5607056"/>
                <a:ext cx="13716001" cy="23345038"/>
              </a:xfrm>
              <a:blipFill>
                <a:blip r:embed="rId9"/>
                <a:stretch>
                  <a:fillRect l="-1943" t="-761" r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402343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366</Words>
  <Application>Microsoft Macintosh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Arial,Sans-Serif</vt:lpstr>
      <vt:lpstr>Calibri</vt:lpstr>
      <vt:lpstr>Cambria</vt:lpstr>
      <vt:lpstr>Cambria Math</vt:lpstr>
      <vt:lpstr>NTR</vt:lpstr>
      <vt:lpstr>Times New Roman</vt:lpstr>
      <vt:lpstr>Verdana</vt:lpstr>
      <vt:lpstr>Research Poster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Andrew DiLernia</cp:lastModifiedBy>
  <cp:revision>141</cp:revision>
  <dcterms:created xsi:type="dcterms:W3CDTF">2019-03-28T18:35:19Z</dcterms:created>
  <dcterms:modified xsi:type="dcterms:W3CDTF">2026-03-25T16:52:19Z</dcterms:modified>
</cp:coreProperties>
</file>