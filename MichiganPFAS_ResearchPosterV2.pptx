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9" roundtripDataSignature="AMtx7mi8fLYElh59t4jHQwYsQUndL0Eu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1151E8-28CC-4D0A-90E6-D913D1850F2D}">
  <a:tblStyle styleId="{FA1151E8-28CC-4D0A-90E6-D913D1850F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02" autoAdjust="0"/>
    <p:restoredTop sz="94733"/>
  </p:normalViewPr>
  <p:slideViewPr>
    <p:cSldViewPr snapToGrid="0">
      <p:cViewPr>
        <p:scale>
          <a:sx n="30" d="100"/>
          <a:sy n="30" d="100"/>
        </p:scale>
        <p:origin x="1488" y="-504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8871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 preserve="1" userDrawn="1">
  <p:cSld name="Research Poster Template 3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 hasCustomPrompt="1"/>
          </p:nvPr>
        </p:nvSpPr>
        <p:spPr>
          <a:xfrm>
            <a:off x="914398" y="6859659"/>
            <a:ext cx="13716001" cy="2334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64285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en-US" dirty="0"/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Functional connectivity (FC) is important for understanding neurodegenerative diseases and psychiatric disorders.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FC-based clustering of multi-subject fMRI data can inform physicians about patient diagnoses.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We propose a random covariance clustering model (RCCM) to cluster individuals based on FC, estimate individual FC networks, and to infer shared network features.</a:t>
            </a:r>
          </a:p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Hierarchical Model</a:t>
            </a:r>
            <a:endParaRPr lang="en-US" sz="3800" dirty="0">
              <a:solidFill>
                <a:schemeClr val="dk1"/>
              </a:solidFill>
            </a:endParaRPr>
          </a:p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5220335" y="6832926"/>
            <a:ext cx="13450530" cy="234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29880232" y="6859658"/>
            <a:ext cx="13112442" cy="2328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D64A777-8221-90AB-7F62-34B53C1013C0}"/>
                  </a:ext>
                </a:extLst>
              </p:cNvPr>
              <p:cNvGraphicFramePr>
                <a:graphicFrameLocks noGrp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3180680857"/>
                  </p:ext>
                </p:extLst>
              </p:nvPr>
            </p:nvGraphicFramePr>
            <p:xfrm>
              <a:off x="648929" y="14846709"/>
              <a:ext cx="15102348" cy="819027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56315">
                      <a:extLst>
                        <a:ext uri="{9D8B030D-6E8A-4147-A177-3AD203B41FA5}">
                          <a16:colId xmlns:a16="http://schemas.microsoft.com/office/drawing/2014/main" val="1191074651"/>
                        </a:ext>
                      </a:extLst>
                    </a:gridCol>
                    <a:gridCol w="6631900">
                      <a:extLst>
                        <a:ext uri="{9D8B030D-6E8A-4147-A177-3AD203B41FA5}">
                          <a16:colId xmlns:a16="http://schemas.microsoft.com/office/drawing/2014/main" val="2841301798"/>
                        </a:ext>
                      </a:extLst>
                    </a:gridCol>
                    <a:gridCol w="5614133">
                      <a:extLst>
                        <a:ext uri="{9D8B030D-6E8A-4147-A177-3AD203B41FA5}">
                          <a16:colId xmlns:a16="http://schemas.microsoft.com/office/drawing/2014/main" val="3617628030"/>
                        </a:ext>
                      </a:extLst>
                    </a:gridCol>
                  </a:tblGrid>
                  <a:tr h="1224217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8523086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𝟎𝐠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cluster-level precision matrices describing group-level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39924968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𝑖𝑖𝑑</m:t>
                                    </m:r>
                                  </m:lim>
                                </m:limUpp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𝟎𝐠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subject-level precision matrices describing unique individual-level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68420601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𝐤𝐭</m:t>
                                    </m:r>
                                  </m:sub>
                                </m:sSub>
                                <m:r>
                                  <a:rPr lang="en-US" sz="36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𝑖𝑛𝑑</m:t>
                                    </m:r>
                                  </m:lim>
                                </m:limUpp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𝒩</m:t>
                                    </m:r>
                                  </m:e>
                                  <m:sub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𝛍</m:t>
                                        </m:r>
                                      </m:e>
                                      <m:sub>
                                        <m:r>
                                          <a:rPr lang="en-US" sz="36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𝑡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fMRI signals consisting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observations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variables for subject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𝑘</m:t>
                              </m:r>
                            </m:oMath>
                          </a14:m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4433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D64A777-8221-90AB-7F62-34B53C1013C0}"/>
                  </a:ext>
                </a:extLst>
              </p:cNvPr>
              <p:cNvGraphicFramePr>
                <a:graphicFrameLocks noGrp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3180680857"/>
                  </p:ext>
                </p:extLst>
              </p:nvPr>
            </p:nvGraphicFramePr>
            <p:xfrm>
              <a:off x="648929" y="14846709"/>
              <a:ext cx="15102348" cy="819027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56315">
                      <a:extLst>
                        <a:ext uri="{9D8B030D-6E8A-4147-A177-3AD203B41FA5}">
                          <a16:colId xmlns:a16="http://schemas.microsoft.com/office/drawing/2014/main" val="1191074651"/>
                        </a:ext>
                      </a:extLst>
                    </a:gridCol>
                    <a:gridCol w="6631900">
                      <a:extLst>
                        <a:ext uri="{9D8B030D-6E8A-4147-A177-3AD203B41FA5}">
                          <a16:colId xmlns:a16="http://schemas.microsoft.com/office/drawing/2014/main" val="2841301798"/>
                        </a:ext>
                      </a:extLst>
                    </a:gridCol>
                    <a:gridCol w="5614133">
                      <a:extLst>
                        <a:ext uri="{9D8B030D-6E8A-4147-A177-3AD203B41FA5}">
                          <a16:colId xmlns:a16="http://schemas.microsoft.com/office/drawing/2014/main" val="3617628030"/>
                        </a:ext>
                      </a:extLst>
                    </a:gridCol>
                  </a:tblGrid>
                  <a:tr h="1224217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Interpretation</a:t>
                          </a:r>
                          <a:endParaRPr lang="en-US" sz="3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8523086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53018" r="-84835" b="-2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53018" r="-217" b="-200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24968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152618" r="-84835" b="-100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152618" r="-217" b="-100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420601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253281" r="-84835" b="-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253281" r="-217" b="-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433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222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9216" userDrawn="1">
          <p15:clr>
            <a:srgbClr val="FBAE40"/>
          </p15:clr>
        </p15:guide>
        <p15:guide id="3" pos="184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 preserve="1" userDrawn="1">
  <p:cSld name="Research Poster Template 3 Column Empt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914398" y="6859659"/>
            <a:ext cx="13716001" cy="2334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64285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5220335" y="6832926"/>
            <a:ext cx="13450530" cy="234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29880232" y="6859658"/>
            <a:ext cx="13112442" cy="2328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044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9216" userDrawn="1">
          <p15:clr>
            <a:srgbClr val="FBAE40"/>
          </p15:clr>
        </p15:guide>
        <p15:guide id="3" pos="1843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 descr="alt=&quot;&quot;"/>
          <p:cNvSpPr/>
          <p:nvPr/>
        </p:nvSpPr>
        <p:spPr>
          <a:xfrm>
            <a:off x="0" y="30409662"/>
            <a:ext cx="43891200" cy="250873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 descr="alt=&quot;&quot;"/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 descr="alt=&quot;&quot;"/>
          <p:cNvSpPr/>
          <p:nvPr/>
        </p:nvSpPr>
        <p:spPr>
          <a:xfrm>
            <a:off x="-1" y="5257800"/>
            <a:ext cx="43891201" cy="2612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5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3" descr="alt=&quot;&quot;"/>
          <p:cNvCxnSpPr/>
          <p:nvPr/>
        </p:nvCxnSpPr>
        <p:spPr>
          <a:xfrm>
            <a:off x="32696865" y="30837463"/>
            <a:ext cx="0" cy="1588169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4" name="Google Shape;1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54365" y="1216818"/>
            <a:ext cx="5443902" cy="3052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744" y="30969559"/>
            <a:ext cx="14811531" cy="13055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hyperlink" Target="https://www.epa.gov/pfas/pfas-explained" TargetMode="External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hyperlink" Target="https://www.michigan.gov/egle/maps-data/mpart-pfas-gis" TargetMode="External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57839-AC5A-CBEC-68BD-5C169C5740B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4895095" y="5629335"/>
            <a:ext cx="14101012" cy="2481217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5BBB"/>
                </a:solidFill>
                <a:effectLst/>
                <a:uLnTx/>
                <a:uFillTx/>
                <a:cs typeface="Arial"/>
                <a:sym typeface="Arial"/>
              </a:rPr>
              <a:t>Hazard Index at Sample Sites</a:t>
            </a:r>
          </a:p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666666">
                  <a:lumMod val="50000"/>
                </a:srgbClr>
              </a:solidFill>
              <a:effectLst/>
              <a:uLnTx/>
              <a:uFillTx/>
              <a:cs typeface="Arial"/>
              <a:sym typeface="Arial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12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8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32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Clr>
                <a:srgbClr val="7F7F7F"/>
              </a:buClr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Google Shape;36;p1">
            <a:extLst>
              <a:ext uri="{FF2B5EF4-FFF2-40B4-BE49-F238E27FC236}">
                <a16:creationId xmlns:a16="http://schemas.microsoft.com/office/drawing/2014/main" id="{BAAC6169-C1CE-EE5A-EDB1-D24E66F4A940}"/>
              </a:ext>
            </a:extLst>
          </p:cNvPr>
          <p:cNvSpPr/>
          <p:nvPr/>
        </p:nvSpPr>
        <p:spPr>
          <a:xfrm>
            <a:off x="999938" y="1095482"/>
            <a:ext cx="41224200" cy="452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45600" rIns="91225" bIns="45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chemeClr val="lt1"/>
                </a:solidFill>
              </a:rPr>
              <a:t>A Spatial Analysis of PFAS Pollution in Michigan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800"/>
              </a:spcBef>
            </a:pPr>
            <a:r>
              <a:rPr lang="en-US" sz="3600" b="0" i="0" u="none" strike="noStrike" cap="none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Nancy </a:t>
            </a:r>
            <a:r>
              <a:rPr lang="en-US" sz="3600" dirty="0">
                <a:solidFill>
                  <a:schemeClr val="lt1"/>
                </a:solidFill>
              </a:rPr>
              <a:t>Odhiambo, Andrew </a:t>
            </a:r>
            <a:r>
              <a:rPr lang="en-US" sz="3600" dirty="0" err="1">
                <a:solidFill>
                  <a:schemeClr val="lt1"/>
                </a:solidFill>
              </a:rPr>
              <a:t>DiLernia</a:t>
            </a:r>
            <a:endParaRPr lang="en-US" sz="3600" baseline="30000" dirty="0" err="1">
              <a:solidFill>
                <a:schemeClr val="lt1"/>
              </a:solidFill>
            </a:endParaRPr>
          </a:p>
          <a:p>
            <a:pPr lvl="0">
              <a:spcBef>
                <a:spcPts val="1800"/>
              </a:spcBef>
            </a:pPr>
            <a:r>
              <a:rPr lang="en-US" sz="3600" b="0" i="0" u="none" strike="noStrike" cap="none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Department of Statistics, Grand Valley State University 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4;p1">
            <a:extLst>
              <a:ext uri="{FF2B5EF4-FFF2-40B4-BE49-F238E27FC236}">
                <a16:creationId xmlns:a16="http://schemas.microsoft.com/office/drawing/2014/main" id="{7731369C-25C6-4539-52D3-470DF230526A}"/>
              </a:ext>
            </a:extLst>
          </p:cNvPr>
          <p:cNvSpPr/>
          <p:nvPr/>
        </p:nvSpPr>
        <p:spPr>
          <a:xfrm>
            <a:off x="33196429" y="30840633"/>
            <a:ext cx="9780371" cy="1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Statistics,</a:t>
            </a:r>
            <a:b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Grand Valley State University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gvsu.edu</a:t>
            </a:r>
            <a:endParaRPr dirty="0"/>
          </a:p>
          <a:p>
            <a:pPr marL="0" marR="0" lvl="0" indent="0" algn="l" rtl="0">
              <a:spcBef>
                <a:spcPts val="8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AB71F360-BB8B-D375-3180-E5F2E2514D50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29260800" y="5619555"/>
            <a:ext cx="14630400" cy="24812177"/>
          </a:xfrm>
        </p:spPr>
        <p:txBody>
          <a:bodyPr/>
          <a:lstStyle/>
          <a:p>
            <a:pPr marL="0" lvl="0" indent="0">
              <a:lnSpc>
                <a:spcPct val="95833"/>
              </a:lnSpc>
              <a:buNone/>
            </a:pPr>
            <a:r>
              <a:rPr lang="en-US" sz="4800" b="1" dirty="0">
                <a:solidFill>
                  <a:srgbClr val="005BBB"/>
                </a:solidFill>
              </a:rPr>
              <a:t>PFAS Contamination Sites</a:t>
            </a: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32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r>
              <a:rPr lang="en-US" sz="4800" b="1" dirty="0">
                <a:solidFill>
                  <a:srgbClr val="005BBB"/>
                </a:solidFill>
              </a:rPr>
              <a:t>Conclusion</a:t>
            </a:r>
          </a:p>
          <a:p>
            <a:pPr lvl="1" indent="-457200">
              <a:spcBef>
                <a:spcPts val="1200"/>
              </a:spcBef>
              <a:buSzPts val="3500"/>
            </a:pPr>
            <a:r>
              <a:rPr lang="en-US" sz="3200" dirty="0" err="1">
                <a:solidFill>
                  <a:schemeClr val="accent4">
                    <a:lumMod val="50000"/>
                  </a:schemeClr>
                </a:solidFill>
              </a:rPr>
              <a:t>PFHxS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 dominates as the analyte with the greatest impact on hazard index levels in drinking water samples.</a:t>
            </a:r>
          </a:p>
          <a:p>
            <a:pPr lvl="1" indent="-457200">
              <a:spcBef>
                <a:spcPts val="1200"/>
              </a:spcBef>
              <a:buSzPts val="3500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Many of the sites with the highest hazard index levels are school facilities.</a:t>
            </a:r>
          </a:p>
          <a:p>
            <a:pPr lvl="1" indent="-457200">
              <a:spcBef>
                <a:spcPts val="1200"/>
              </a:spcBef>
              <a:buClr>
                <a:srgbClr val="005BBB"/>
              </a:buClr>
              <a:buSzPts val="3500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There are many drinking water sites and systems with hazard index greater than 1 which surpasses the set Maximum Contamination Level.</a:t>
            </a:r>
          </a:p>
          <a:p>
            <a:pPr lvl="1" indent="-457200">
              <a:spcBef>
                <a:spcPts val="1200"/>
              </a:spcBef>
              <a:buClr>
                <a:srgbClr val="005BBB"/>
              </a:buClr>
              <a:buSzPts val="3500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We are also developing an interactive dashboard which will be published on GitHub: https://</a:t>
            </a:r>
            <a:r>
              <a:rPr lang="en-US" sz="3200" dirty="0" err="1">
                <a:solidFill>
                  <a:schemeClr val="accent4">
                    <a:lumMod val="50000"/>
                  </a:schemeClr>
                </a:solidFill>
              </a:rPr>
              <a:t>github.com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/Nancy-Odhiambo/Michigan-PFAS-Data</a:t>
            </a:r>
            <a:endParaRPr lang="en-US" sz="3200" b="1" dirty="0">
              <a:solidFill>
                <a:srgbClr val="005BBB"/>
              </a:solidFill>
              <a:ea typeface="Calibri"/>
            </a:endParaRPr>
          </a:p>
          <a:p>
            <a:pPr marL="0" indent="0">
              <a:lnSpc>
                <a:spcPct val="95833"/>
              </a:lnSpc>
              <a:buNone/>
            </a:pPr>
            <a:r>
              <a:rPr lang="en-US" sz="4800" b="1" dirty="0">
                <a:solidFill>
                  <a:srgbClr val="005BBB"/>
                </a:solidFill>
              </a:rPr>
              <a:t>References</a:t>
            </a:r>
            <a:endParaRPr lang="en-US" dirty="0"/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</a:rPr>
              <a:t>Environmental Protection Agency. (2025, September 30). PFAS explained. </a:t>
            </a: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https://www.epa.gov/pfas/pfas-explained</a:t>
            </a:r>
            <a:endParaRPr lang="en-US" sz="2500" dirty="0">
              <a:solidFill>
                <a:schemeClr val="accent4">
                  <a:lumMod val="50000"/>
                </a:schemeClr>
              </a:solidFill>
              <a:hlinkClick r:id="rId3"/>
            </a:endParaRPr>
          </a:p>
          <a:p>
            <a:pPr marL="51435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</a:rPr>
              <a:t>U.S. Environmental Protection Agency. (2024, April 8). Understanding the final PFAS national primary drinking water regulation: Hazard index maximum contaminant level [Fact sheet]. https://www.epa.gov/system/files/documents/2024-04/pfas-npdwr_fact-sheet_hazard-index_4.8.24.pdf</a:t>
            </a:r>
          </a:p>
          <a:p>
            <a:pPr marL="51435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</a:rPr>
              <a:t>Michigan Department of Environment, Great Lakes, and Energy (EGLE). (2026). MPART PFAS Geographic Information System [Data set]. Michigan PFAS Action Response Team. </a:t>
            </a: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https://www.michigan.gov/egle/maps-data/mpart-pfas-gis</a:t>
            </a:r>
            <a:endParaRPr lang="en-US" sz="2500" dirty="0">
              <a:solidFill>
                <a:schemeClr val="accent4">
                  <a:lumMod val="50000"/>
                </a:schemeClr>
              </a:solidFill>
              <a:hlinkClick r:id="rId4"/>
            </a:endParaRPr>
          </a:p>
          <a:p>
            <a:pPr marL="51435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0" lvl="0" indent="0">
              <a:lnSpc>
                <a:spcPct val="95833"/>
              </a:lnSpc>
              <a:buClr>
                <a:schemeClr val="dk1"/>
              </a:buClr>
              <a:buNone/>
            </a:pPr>
            <a:endParaRPr lang="en-US" sz="2500" dirty="0"/>
          </a:p>
          <a:p>
            <a:pPr marL="514350" indent="-514350">
              <a:lnSpc>
                <a:spcPct val="95833"/>
              </a:lnSpc>
              <a:buClr>
                <a:schemeClr val="dk1"/>
              </a:buClr>
              <a:buAutoNum type="arabicPeriod"/>
            </a:pPr>
            <a:endParaRPr lang="en-US" sz="3000" dirty="0">
              <a:solidFill>
                <a:srgbClr val="333333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Char char="•"/>
            </a:pPr>
            <a:endParaRPr lang="en-US" dirty="0"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1173C06-0403-2A94-6AF8-40D60FE4BD9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99504" y="5607056"/>
                <a:ext cx="14231103" cy="24812176"/>
              </a:xfrm>
            </p:spPr>
            <p:txBody>
              <a:bodyPr/>
              <a:lstStyle/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Introduction</a:t>
                </a:r>
                <a:endParaRPr lang="en-US" sz="4800" dirty="0"/>
              </a:p>
              <a:p>
                <a:pPr marL="742950" lvl="1" indent="-457200">
                  <a:spcBef>
                    <a:spcPts val="1200"/>
                  </a:spcBef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Per- and polyfluoroalkyl substances (PFAS) are synthetic “forever” chemicals that are widely used in everyday products.¹</a:t>
                </a:r>
              </a:p>
              <a:p>
                <a:pPr marL="742950" lvl="1" indent="-457200">
                  <a:spcBef>
                    <a:spcPts val="1200"/>
                  </a:spcBef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PFAS do not break down easily in the environment or the human body.</a:t>
                </a:r>
              </a:p>
              <a:p>
                <a:pPr marL="742950" lvl="1" indent="-457200">
                  <a:spcBef>
                    <a:spcPts val="1200"/>
                  </a:spcBef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Research indicates that PFAS exposure may be linked to harmful health effects, so monitoring PFAS pollution levels is important for public health research and evidence-based policy decisions.</a:t>
                </a:r>
                <a:endParaRPr lang="en-US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742950" lvl="1" indent="-457200">
                  <a:spcBef>
                    <a:spcPts val="1200"/>
                  </a:spcBef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We analyzed data on PFAS pollution from the Michigan Department of Environmental Great Lakes and Energy and the Michigan PFAS Action Response Team³, summarizing patterns in PFAS pollution in Michigan.</a:t>
                </a:r>
                <a:endParaRPr lang="en-US" sz="3200" b="1" dirty="0">
                  <a:solidFill>
                    <a:srgbClr val="005BBB"/>
                  </a:solidFill>
                  <a:ea typeface="Verdana"/>
                </a:endParaRPr>
              </a:p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Hazard Index</a:t>
                </a:r>
                <a:endParaRPr lang="en-US" sz="4800" dirty="0">
                  <a:solidFill>
                    <a:srgbClr val="666666"/>
                  </a:solidFill>
                </a:endParaRPr>
              </a:p>
              <a:p>
                <a:pPr marL="742950" lvl="1" indent="-457200">
                  <a:spcBef>
                    <a:spcPts val="1200"/>
                  </a:spcBef>
                  <a:buClr>
                    <a:srgbClr val="005BBB"/>
                  </a:buClr>
                  <a:buFont typeface="Arial,Sans-Serif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The hazard index is a unitless metric from the Environmental Protection Agency (EPA) that summarizes the adverse health effects associated with exposure to mixtures of different PFAS analytes.²</a:t>
                </a:r>
                <a:endParaRPr lang="en-US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285750" lvl="1">
                  <a:spcBef>
                    <a:spcPts val="1200"/>
                  </a:spcBef>
                  <a:buClr>
                    <a:srgbClr val="005BBB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000"/>
                        <m:t>Hazard</m:t>
                      </m:r>
                      <m:r>
                        <m:rPr>
                          <m:nor/>
                        </m:rPr>
                        <a:rPr lang="en-US" sz="3000"/>
                        <m:t> </m:t>
                      </m:r>
                      <m:r>
                        <m:rPr>
                          <m:nor/>
                        </m:rPr>
                        <a:rPr lang="en-US" sz="3000"/>
                        <m:t>Index</m:t>
                      </m:r>
                      <m:r>
                        <a:rPr lang="en-US" sz="3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3000"/>
                                <m:t>HFPODA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den>
                          </m:f>
                        </m:e>
                      </m:d>
                      <m:r>
                        <a:rPr lang="en-US" sz="3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3000"/>
                                <m:t>PFBS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2000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den>
                          </m:f>
                        </m:e>
                      </m:d>
                      <m:r>
                        <a:rPr lang="en-US" sz="3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3000"/>
                                <m:t>PFNA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den>
                          </m:f>
                        </m:e>
                      </m:d>
                      <m:r>
                        <a:rPr lang="en-US" sz="3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3000"/>
                                <m:t>PFHxS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3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742950" lvl="1" indent="-457200">
                  <a:spcBef>
                    <a:spcPts val="1200"/>
                  </a:spcBef>
                  <a:buClr>
                    <a:srgbClr val="005BBB"/>
                  </a:buClr>
                  <a:buFont typeface="Arial,Sans-Serif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The EPA’s Hazard Index Maximum Contaminant Level (MCL) is set at 1, meaning there are potential elevated health risks for drinking water with hazard index levels exceeding 1.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66666"/>
                  </a:buClr>
                  <a:buSzPts val="2800"/>
                  <a:buFont typeface="Arial"/>
                  <a:buNone/>
                  <a:tabLst/>
                  <a:defRPr/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Results</a:t>
                </a:r>
                <a:endPara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285750" lvl="1">
                  <a:spcBef>
                    <a:spcPts val="1200"/>
                  </a:spcBef>
                  <a:buClr>
                    <a:srgbClr val="005BBB"/>
                  </a:buClr>
                </a:pPr>
                <a:endParaRPr lang="en-US" sz="32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95833"/>
                  </a:lnSpc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1173C06-0403-2A94-6AF8-40D60FE4B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9504" y="5607056"/>
                <a:ext cx="14231103" cy="24812176"/>
              </a:xfrm>
              <a:blipFill>
                <a:blip r:embed="rId5"/>
                <a:stretch>
                  <a:fillRect l="-1963" t="-716" r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QR Code">
            <a:extLst>
              <a:ext uri="{FF2B5EF4-FFF2-40B4-BE49-F238E27FC236}">
                <a16:creationId xmlns:a16="http://schemas.microsoft.com/office/drawing/2014/main" id="{4B74822B-A35F-3E3A-D303-5FA0B3957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2959" y="30653139"/>
            <a:ext cx="1871088" cy="187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DEBB8A-F865-609C-0583-2531C5FA20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4903441" y="19812000"/>
            <a:ext cx="14366556" cy="102618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77BF915-846A-249E-4A7F-F27B27536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675549" y="23547123"/>
            <a:ext cx="10308163" cy="687210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EF56EBB-91FA-6198-ED35-1E1DC3E0E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1370248" y="6028456"/>
            <a:ext cx="9469375" cy="113632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FA5C1B0-F1D9-777E-81E0-A14F5C7E04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7641990" y="6647664"/>
            <a:ext cx="9469375" cy="1136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02343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2910</TotalTime>
  <Words>422</Words>
  <Application>Microsoft Macintosh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Arial,Sans-Serif</vt:lpstr>
      <vt:lpstr>Calibri</vt:lpstr>
      <vt:lpstr>Cambria</vt:lpstr>
      <vt:lpstr>Cambria Math</vt:lpstr>
      <vt:lpstr>NTR</vt:lpstr>
      <vt:lpstr>Times New Roman</vt:lpstr>
      <vt:lpstr>Verdana</vt:lpstr>
      <vt:lpstr>Research Poster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Nancy A. Odhiambo</cp:lastModifiedBy>
  <cp:revision>149</cp:revision>
  <dcterms:created xsi:type="dcterms:W3CDTF">2019-03-28T18:35:19Z</dcterms:created>
  <dcterms:modified xsi:type="dcterms:W3CDTF">2026-04-03T01:51:35Z</dcterms:modified>
</cp:coreProperties>
</file>