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61" r:id="rId2"/>
  </p:sldIdLst>
  <p:sldSz cx="43891200" cy="329184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8">
          <p15:clr>
            <a:srgbClr val="A4A3A4"/>
          </p15:clr>
        </p15:guide>
        <p15:guide id="2" pos="13824">
          <p15:clr>
            <a:srgbClr val="A4A3A4"/>
          </p15:clr>
        </p15:guide>
      </p15:sldGuideLst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9" roundtripDataSignature="AMtx7mi8fLYElh59t4jHQwYsQUndL0Eu8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8780F1-3F5F-9B49-AE34-5CCFF222A762}" v="43" dt="2026-04-01T04:36:17.962"/>
  </p1510:revLst>
</p1510:revInfo>
</file>

<file path=ppt/tableStyles.xml><?xml version="1.0" encoding="utf-8"?>
<a:tblStyleLst xmlns:a="http://schemas.openxmlformats.org/drawingml/2006/main" def="{FA1151E8-28CC-4D0A-90E6-D913D1850F2D}">
  <a:tblStyle styleId="{FA1151E8-28CC-4D0A-90E6-D913D1850F2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98" autoAdjust="0"/>
    <p:restoredTop sz="94854"/>
  </p:normalViewPr>
  <p:slideViewPr>
    <p:cSldViewPr snapToGrid="0">
      <p:cViewPr varScale="1">
        <p:scale>
          <a:sx n="24" d="100"/>
          <a:sy n="24" d="100"/>
        </p:scale>
        <p:origin x="568" y="280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9" Type="http://customschemas.google.com/relationships/presentationmetadata" Target="metadata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ncy A. Odhiambo" userId="9fd03ea9-f642-46ed-82e0-72dc91a725bc" providerId="ADAL" clId="{6B025E33-D5BB-5DD4-954E-4AC3FAD535B9}"/>
    <pc:docChg chg="undo custSel modSld modMainMaster">
      <pc:chgData name="Nancy A. Odhiambo" userId="9fd03ea9-f642-46ed-82e0-72dc91a725bc" providerId="ADAL" clId="{6B025E33-D5BB-5DD4-954E-4AC3FAD535B9}" dt="2026-04-01T04:36:17.962" v="270"/>
      <pc:docMkLst>
        <pc:docMk/>
      </pc:docMkLst>
      <pc:sldChg chg="addSp delSp modSp mod setBg">
        <pc:chgData name="Nancy A. Odhiambo" userId="9fd03ea9-f642-46ed-82e0-72dc91a725bc" providerId="ADAL" clId="{6B025E33-D5BB-5DD4-954E-4AC3FAD535B9}" dt="2026-04-01T04:36:17.962" v="270"/>
        <pc:sldMkLst>
          <pc:docMk/>
          <pc:sldMk cId="3865402343" sldId="261"/>
        </pc:sldMkLst>
        <pc:spChg chg="mod">
          <ac:chgData name="Nancy A. Odhiambo" userId="9fd03ea9-f642-46ed-82e0-72dc91a725bc" providerId="ADAL" clId="{6B025E33-D5BB-5DD4-954E-4AC3FAD535B9}" dt="2026-04-01T03:31:22.403" v="73" actId="20577"/>
          <ac:spMkLst>
            <pc:docMk/>
            <pc:sldMk cId="3865402343" sldId="261"/>
            <ac:spMk id="5" creationId="{0F657839-AC5A-CBEC-68BD-5C169C5740B8}"/>
          </ac:spMkLst>
        </pc:spChg>
        <pc:spChg chg="mod">
          <ac:chgData name="Nancy A. Odhiambo" userId="9fd03ea9-f642-46ed-82e0-72dc91a725bc" providerId="ADAL" clId="{6B025E33-D5BB-5DD4-954E-4AC3FAD535B9}" dt="2026-04-01T03:56:14.901" v="226" actId="14100"/>
          <ac:spMkLst>
            <pc:docMk/>
            <pc:sldMk cId="3865402343" sldId="261"/>
            <ac:spMk id="6" creationId="{61173C06-0403-2A94-6AF8-40D60FE4BD9D}"/>
          </ac:spMkLst>
        </pc:spChg>
        <pc:spChg chg="mod">
          <ac:chgData name="Nancy A. Odhiambo" userId="9fd03ea9-f642-46ed-82e0-72dc91a725bc" providerId="ADAL" clId="{6B025E33-D5BB-5DD4-954E-4AC3FAD535B9}" dt="2026-04-01T01:25:19.194" v="33" actId="255"/>
          <ac:spMkLst>
            <pc:docMk/>
            <pc:sldMk cId="3865402343" sldId="261"/>
            <ac:spMk id="8" creationId="{BAAC6169-C1CE-EE5A-EDB1-D24E66F4A940}"/>
          </ac:spMkLst>
        </pc:spChg>
        <pc:spChg chg="mod">
          <ac:chgData name="Nancy A. Odhiambo" userId="9fd03ea9-f642-46ed-82e0-72dc91a725bc" providerId="ADAL" clId="{6B025E33-D5BB-5DD4-954E-4AC3FAD535B9}" dt="2026-04-01T01:23:01.154" v="6" actId="255"/>
          <ac:spMkLst>
            <pc:docMk/>
            <pc:sldMk cId="3865402343" sldId="261"/>
            <ac:spMk id="9" creationId="{7731369C-25C6-4539-52D3-470DF230526A}"/>
          </ac:spMkLst>
        </pc:spChg>
        <pc:spChg chg="mod">
          <ac:chgData name="Nancy A. Odhiambo" userId="9fd03ea9-f642-46ed-82e0-72dc91a725bc" providerId="ADAL" clId="{6B025E33-D5BB-5DD4-954E-4AC3FAD535B9}" dt="2026-04-01T03:34:53.556" v="89" actId="20577"/>
          <ac:spMkLst>
            <pc:docMk/>
            <pc:sldMk cId="3865402343" sldId="261"/>
            <ac:spMk id="50" creationId="{AB71F360-BB8B-D375-3180-E5F2E2514D50}"/>
          </ac:spMkLst>
        </pc:spChg>
        <pc:picChg chg="add del mod">
          <ac:chgData name="Nancy A. Odhiambo" userId="9fd03ea9-f642-46ed-82e0-72dc91a725bc" providerId="ADAL" clId="{6B025E33-D5BB-5DD4-954E-4AC3FAD535B9}" dt="2026-04-01T03:50:56.812" v="202" actId="478"/>
          <ac:picMkLst>
            <pc:docMk/>
            <pc:sldMk cId="3865402343" sldId="261"/>
            <ac:picMk id="3" creationId="{F112226C-EE2D-5A8B-9F43-5BDFAC2D8184}"/>
          </ac:picMkLst>
        </pc:picChg>
        <pc:picChg chg="del mod">
          <ac:chgData name="Nancy A. Odhiambo" userId="9fd03ea9-f642-46ed-82e0-72dc91a725bc" providerId="ADAL" clId="{6B025E33-D5BB-5DD4-954E-4AC3FAD535B9}" dt="2026-04-01T03:26:10.654" v="35" actId="478"/>
          <ac:picMkLst>
            <pc:docMk/>
            <pc:sldMk cId="3865402343" sldId="261"/>
            <ac:picMk id="4" creationId="{2275A505-4BB7-0C64-4386-A57A3D5AAC1E}"/>
          </ac:picMkLst>
        </pc:picChg>
        <pc:picChg chg="del mod">
          <ac:chgData name="Nancy A. Odhiambo" userId="9fd03ea9-f642-46ed-82e0-72dc91a725bc" providerId="ADAL" clId="{6B025E33-D5BB-5DD4-954E-4AC3FAD535B9}" dt="2026-04-01T03:26:12.367" v="36" actId="478"/>
          <ac:picMkLst>
            <pc:docMk/>
            <pc:sldMk cId="3865402343" sldId="261"/>
            <ac:picMk id="7" creationId="{8DB399D0-5D23-D139-707D-865B3CB825B9}"/>
          </ac:picMkLst>
        </pc:picChg>
        <pc:picChg chg="add del mod">
          <ac:chgData name="Nancy A. Odhiambo" userId="9fd03ea9-f642-46ed-82e0-72dc91a725bc" providerId="ADAL" clId="{6B025E33-D5BB-5DD4-954E-4AC3FAD535B9}" dt="2026-04-01T03:54:59.313" v="218" actId="478"/>
          <ac:picMkLst>
            <pc:docMk/>
            <pc:sldMk cId="3865402343" sldId="261"/>
            <ac:picMk id="11" creationId="{DDE1DC23-53A1-CA14-5554-8E2D674EE7A9}"/>
          </ac:picMkLst>
        </pc:picChg>
        <pc:picChg chg="del mod">
          <ac:chgData name="Nancy A. Odhiambo" userId="9fd03ea9-f642-46ed-82e0-72dc91a725bc" providerId="ADAL" clId="{6B025E33-D5BB-5DD4-954E-4AC3FAD535B9}" dt="2026-04-01T03:26:16.491" v="38" actId="478"/>
          <ac:picMkLst>
            <pc:docMk/>
            <pc:sldMk cId="3865402343" sldId="261"/>
            <ac:picMk id="12" creationId="{04858FAE-1C8D-0946-B8C3-06B7A8DBCB97}"/>
          </ac:picMkLst>
        </pc:picChg>
        <pc:picChg chg="del mod">
          <ac:chgData name="Nancy A. Odhiambo" userId="9fd03ea9-f642-46ed-82e0-72dc91a725bc" providerId="ADAL" clId="{6B025E33-D5BB-5DD4-954E-4AC3FAD535B9}" dt="2026-04-01T03:26:13.990" v="37" actId="478"/>
          <ac:picMkLst>
            <pc:docMk/>
            <pc:sldMk cId="3865402343" sldId="261"/>
            <ac:picMk id="14" creationId="{B5BA9DBB-2550-B185-75A1-8A4A4386A3B4}"/>
          </ac:picMkLst>
        </pc:picChg>
        <pc:picChg chg="add del mod">
          <ac:chgData name="Nancy A. Odhiambo" userId="9fd03ea9-f642-46ed-82e0-72dc91a725bc" providerId="ADAL" clId="{6B025E33-D5BB-5DD4-954E-4AC3FAD535B9}" dt="2026-04-01T03:55:06.268" v="220" actId="478"/>
          <ac:picMkLst>
            <pc:docMk/>
            <pc:sldMk cId="3865402343" sldId="261"/>
            <ac:picMk id="15" creationId="{7CF0013B-E5BC-D50D-FE0E-5D0656FCFE24}"/>
          </ac:picMkLst>
        </pc:picChg>
        <pc:picChg chg="add del mod">
          <ac:chgData name="Nancy A. Odhiambo" userId="9fd03ea9-f642-46ed-82e0-72dc91a725bc" providerId="ADAL" clId="{6B025E33-D5BB-5DD4-954E-4AC3FAD535B9}" dt="2026-04-01T03:48:44.609" v="191" actId="478"/>
          <ac:picMkLst>
            <pc:docMk/>
            <pc:sldMk cId="3865402343" sldId="261"/>
            <ac:picMk id="17" creationId="{1F046A89-943B-1C1D-C03E-39BA021F18FD}"/>
          </ac:picMkLst>
        </pc:picChg>
        <pc:picChg chg="add del mod">
          <ac:chgData name="Nancy A. Odhiambo" userId="9fd03ea9-f642-46ed-82e0-72dc91a725bc" providerId="ADAL" clId="{6B025E33-D5BB-5DD4-954E-4AC3FAD535B9}" dt="2026-04-01T03:48:22.992" v="184" actId="21"/>
          <ac:picMkLst>
            <pc:docMk/>
            <pc:sldMk cId="3865402343" sldId="261"/>
            <ac:picMk id="19" creationId="{F6067078-1971-2CB0-0349-F993729C3B6F}"/>
          </ac:picMkLst>
        </pc:picChg>
        <pc:picChg chg="add del mod">
          <ac:chgData name="Nancy A. Odhiambo" userId="9fd03ea9-f642-46ed-82e0-72dc91a725bc" providerId="ADAL" clId="{6B025E33-D5BB-5DD4-954E-4AC3FAD535B9}" dt="2026-04-01T03:58:19.865" v="239" actId="14100"/>
          <ac:picMkLst>
            <pc:docMk/>
            <pc:sldMk cId="3865402343" sldId="261"/>
            <ac:picMk id="20" creationId="{A2DEBB8A-F865-609C-0583-2531C5FA20D7}"/>
          </ac:picMkLst>
        </pc:picChg>
        <pc:picChg chg="add mod">
          <ac:chgData name="Nancy A. Odhiambo" userId="9fd03ea9-f642-46ed-82e0-72dc91a725bc" providerId="ADAL" clId="{6B025E33-D5BB-5DD4-954E-4AC3FAD535B9}" dt="2026-04-01T03:48:36.943" v="188"/>
          <ac:picMkLst>
            <pc:docMk/>
            <pc:sldMk cId="3865402343" sldId="261"/>
            <ac:picMk id="21" creationId="{A5C79883-2677-0EF4-103B-ADB61B21B575}"/>
          </ac:picMkLst>
        </pc:picChg>
        <pc:picChg chg="add mod">
          <ac:chgData name="Nancy A. Odhiambo" userId="9fd03ea9-f642-46ed-82e0-72dc91a725bc" providerId="ADAL" clId="{6B025E33-D5BB-5DD4-954E-4AC3FAD535B9}" dt="2026-04-01T03:57:53.317" v="237" actId="14100"/>
          <ac:picMkLst>
            <pc:docMk/>
            <pc:sldMk cId="3865402343" sldId="261"/>
            <ac:picMk id="23" creationId="{677BF915-846A-249E-4A7F-F27B275360E6}"/>
          </ac:picMkLst>
        </pc:picChg>
        <pc:picChg chg="add mod">
          <ac:chgData name="Nancy A. Odhiambo" userId="9fd03ea9-f642-46ed-82e0-72dc91a725bc" providerId="ADAL" clId="{6B025E33-D5BB-5DD4-954E-4AC3FAD535B9}" dt="2026-04-01T03:57:19.700" v="235" actId="14100"/>
          <ac:picMkLst>
            <pc:docMk/>
            <pc:sldMk cId="3865402343" sldId="261"/>
            <ac:picMk id="25" creationId="{83A2D002-4710-DA77-A88B-26210568B56D}"/>
          </ac:picMkLst>
        </pc:picChg>
        <pc:picChg chg="add mod">
          <ac:chgData name="Nancy A. Odhiambo" userId="9fd03ea9-f642-46ed-82e0-72dc91a725bc" providerId="ADAL" clId="{6B025E33-D5BB-5DD4-954E-4AC3FAD535B9}" dt="2026-04-01T03:59:28.398" v="241" actId="14100"/>
          <ac:picMkLst>
            <pc:docMk/>
            <pc:sldMk cId="3865402343" sldId="261"/>
            <ac:picMk id="27" creationId="{74E1BC0B-E930-6642-B516-85F2CB94425E}"/>
          </ac:picMkLst>
        </pc:picChg>
        <pc:picChg chg="add mod">
          <ac:chgData name="Nancy A. Odhiambo" userId="9fd03ea9-f642-46ed-82e0-72dc91a725bc" providerId="ADAL" clId="{6B025E33-D5BB-5DD4-954E-4AC3FAD535B9}" dt="2026-04-01T04:31:07.747" v="260" actId="14100"/>
          <ac:picMkLst>
            <pc:docMk/>
            <pc:sldMk cId="3865402343" sldId="261"/>
            <ac:picMk id="29" creationId="{A522BCBD-72DE-AE9D-2729-A808100AB3CD}"/>
          </ac:picMkLst>
        </pc:picChg>
        <pc:picChg chg="mod">
          <ac:chgData name="Nancy A. Odhiambo" userId="9fd03ea9-f642-46ed-82e0-72dc91a725bc" providerId="ADAL" clId="{6B025E33-D5BB-5DD4-954E-4AC3FAD535B9}" dt="2026-04-01T03:46:26.583" v="180" actId="1076"/>
          <ac:picMkLst>
            <pc:docMk/>
            <pc:sldMk cId="3865402343" sldId="261"/>
            <ac:picMk id="1026" creationId="{4B74822B-A35F-3E3A-D303-5FA0B39578AC}"/>
          </ac:picMkLst>
        </pc:picChg>
      </pc:sldChg>
      <pc:sldMasterChg chg="setBg modSldLayout">
        <pc:chgData name="Nancy A. Odhiambo" userId="9fd03ea9-f642-46ed-82e0-72dc91a725bc" providerId="ADAL" clId="{6B025E33-D5BB-5DD4-954E-4AC3FAD535B9}" dt="2026-04-01T04:36:17.962" v="270"/>
        <pc:sldMasterMkLst>
          <pc:docMk/>
          <pc:sldMasterMk cId="0" sldId="2147483648"/>
        </pc:sldMasterMkLst>
        <pc:sldLayoutChg chg="setBg">
          <pc:chgData name="Nancy A. Odhiambo" userId="9fd03ea9-f642-46ed-82e0-72dc91a725bc" providerId="ADAL" clId="{6B025E33-D5BB-5DD4-954E-4AC3FAD535B9}" dt="2026-04-01T04:36:17.962" v="270"/>
          <pc:sldLayoutMkLst>
            <pc:docMk/>
            <pc:sldMasterMk cId="0" sldId="2147483648"/>
            <pc:sldLayoutMk cId="0" sldId="2147483650"/>
          </pc:sldLayoutMkLst>
        </pc:sldLayoutChg>
        <pc:sldLayoutChg chg="setBg">
          <pc:chgData name="Nancy A. Odhiambo" userId="9fd03ea9-f642-46ed-82e0-72dc91a725bc" providerId="ADAL" clId="{6B025E33-D5BB-5DD4-954E-4AC3FAD535B9}" dt="2026-04-01T04:36:17.962" v="270"/>
          <pc:sldLayoutMkLst>
            <pc:docMk/>
            <pc:sldMasterMk cId="0" sldId="2147483648"/>
            <pc:sldLayoutMk cId="2802221383" sldId="2147483651"/>
          </pc:sldLayoutMkLst>
        </pc:sldLayoutChg>
        <pc:sldLayoutChg chg="setBg">
          <pc:chgData name="Nancy A. Odhiambo" userId="9fd03ea9-f642-46ed-82e0-72dc91a725bc" providerId="ADAL" clId="{6B025E33-D5BB-5DD4-954E-4AC3FAD535B9}" dt="2026-04-01T04:36:17.962" v="270"/>
          <pc:sldLayoutMkLst>
            <pc:docMk/>
            <pc:sldMasterMk cId="0" sldId="2147483648"/>
            <pc:sldLayoutMk cId="1060449366" sldId="214748365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earch Poster Template" preserve="1" userDrawn="1">
  <p:cSld name="Research Poster Template 3 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Google Shape;18;p4"/>
          <p:cNvCxnSpPr/>
          <p:nvPr/>
        </p:nvCxnSpPr>
        <p:spPr>
          <a:xfrm>
            <a:off x="11307763" y="8992295"/>
            <a:ext cx="914400" cy="91440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21" name="Google Shape;21;p4"/>
          <p:cNvSpPr txBox="1">
            <a:spLocks noGrp="1"/>
          </p:cNvSpPr>
          <p:nvPr>
            <p:ph type="body" idx="1" hasCustomPrompt="1"/>
          </p:nvPr>
        </p:nvSpPr>
        <p:spPr>
          <a:xfrm>
            <a:off x="914398" y="6859659"/>
            <a:ext cx="13716001" cy="23345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64285"/>
              </a:lnSpc>
              <a:spcBef>
                <a:spcPts val="0"/>
              </a:spcBef>
              <a:spcAft>
                <a:spcPts val="1200"/>
              </a:spcAft>
              <a:buClr>
                <a:schemeClr val="dk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005BBB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lang="en-US" dirty="0"/>
          </a:p>
          <a:p>
            <a:pPr marL="914400" lvl="1" indent="-457200">
              <a:lnSpc>
                <a:spcPct val="164285"/>
              </a:lnSpc>
              <a:spcBef>
                <a:spcPts val="1200"/>
              </a:spcBef>
              <a:buClr>
                <a:schemeClr val="dk2"/>
              </a:buClr>
              <a:buSzPts val="3500"/>
              <a:buFont typeface="Arial"/>
              <a:buChar char="•"/>
            </a:pPr>
            <a:r>
              <a:rPr lang="en-US" sz="3000" dirty="0">
                <a:solidFill>
                  <a:schemeClr val="accent4">
                    <a:lumMod val="50000"/>
                  </a:schemeClr>
                </a:solidFill>
              </a:rPr>
              <a:t>Functional connectivity (FC) is important for understanding neurodegenerative diseases and psychiatric disorders.</a:t>
            </a:r>
          </a:p>
          <a:p>
            <a:pPr marL="914400" lvl="1" indent="-457200">
              <a:lnSpc>
                <a:spcPct val="164285"/>
              </a:lnSpc>
              <a:spcBef>
                <a:spcPts val="1200"/>
              </a:spcBef>
              <a:buClr>
                <a:schemeClr val="dk2"/>
              </a:buClr>
              <a:buSzPts val="3500"/>
              <a:buFont typeface="Arial"/>
              <a:buChar char="•"/>
            </a:pPr>
            <a:r>
              <a:rPr lang="en-US" sz="3000" dirty="0">
                <a:solidFill>
                  <a:schemeClr val="accent4">
                    <a:lumMod val="50000"/>
                  </a:schemeClr>
                </a:solidFill>
              </a:rPr>
              <a:t>FC-based clustering of multi-subject fMRI data can inform physicians about patient diagnoses.</a:t>
            </a:r>
          </a:p>
          <a:p>
            <a:pPr marL="914400" lvl="1" indent="-457200">
              <a:lnSpc>
                <a:spcPct val="164285"/>
              </a:lnSpc>
              <a:spcBef>
                <a:spcPts val="1200"/>
              </a:spcBef>
              <a:buClr>
                <a:schemeClr val="dk2"/>
              </a:buClr>
              <a:buSzPts val="3500"/>
              <a:buFont typeface="Arial"/>
              <a:buChar char="•"/>
            </a:pPr>
            <a:r>
              <a:rPr lang="en-US" sz="3000" dirty="0">
                <a:solidFill>
                  <a:schemeClr val="accent4">
                    <a:lumMod val="50000"/>
                  </a:schemeClr>
                </a:solidFill>
              </a:rPr>
              <a:t>We propose a random covariance clustering model (RCCM) to cluster individuals based on FC, estimate individual FC networks, and to infer shared network features.</a:t>
            </a:r>
          </a:p>
          <a:p>
            <a:pPr marL="0" marR="0" lvl="0" indent="0" algn="l" rtl="0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005BBB"/>
                </a:solidFill>
                <a:latin typeface="Arial"/>
                <a:ea typeface="Arial"/>
                <a:cs typeface="Arial"/>
                <a:sym typeface="Arial"/>
              </a:rPr>
              <a:t>Hierarchical Model</a:t>
            </a:r>
            <a:endParaRPr lang="en-US" sz="3800" dirty="0">
              <a:solidFill>
                <a:schemeClr val="dk1"/>
              </a:solidFill>
            </a:endParaRPr>
          </a:p>
          <a:p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4"/>
          </p:nvPr>
        </p:nvSpPr>
        <p:spPr>
          <a:xfrm>
            <a:off x="15220335" y="6832926"/>
            <a:ext cx="13450530" cy="23401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6"/>
          </p:nvPr>
        </p:nvSpPr>
        <p:spPr>
          <a:xfrm>
            <a:off x="29880232" y="6859658"/>
            <a:ext cx="13112442" cy="23286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2">
                <a:extLst>
                  <a:ext uri="{FF2B5EF4-FFF2-40B4-BE49-F238E27FC236}">
                    <a16:creationId xmlns:a16="http://schemas.microsoft.com/office/drawing/2014/main" id="{DD64A777-8221-90AB-7F62-34B53C1013C0}"/>
                  </a:ext>
                </a:extLst>
              </p:cNvPr>
              <p:cNvGraphicFramePr>
                <a:graphicFrameLocks noGrp="1"/>
              </p:cNvGraphicFramePr>
              <p:nvPr userDrawn="1">
                <p:extLst>
                  <p:ext uri="{D42A27DB-BD31-4B8C-83A1-F6EECF244321}">
                    <p14:modId xmlns:p14="http://schemas.microsoft.com/office/powerpoint/2010/main" val="3180680857"/>
                  </p:ext>
                </p:extLst>
              </p:nvPr>
            </p:nvGraphicFramePr>
            <p:xfrm>
              <a:off x="648929" y="14846709"/>
              <a:ext cx="15102348" cy="8190271"/>
            </p:xfrm>
            <a:graphic>
              <a:graphicData uri="http://schemas.openxmlformats.org/drawingml/2006/table">
                <a:tbl>
                  <a:tblPr firstRow="1" bandRow="1">
                    <a:tableStyleId>{FA1151E8-28CC-4D0A-90E6-D913D1850F2D}</a:tableStyleId>
                  </a:tblPr>
                  <a:tblGrid>
                    <a:gridCol w="2856315">
                      <a:extLst>
                        <a:ext uri="{9D8B030D-6E8A-4147-A177-3AD203B41FA5}">
                          <a16:colId xmlns:a16="http://schemas.microsoft.com/office/drawing/2014/main" val="1191074651"/>
                        </a:ext>
                      </a:extLst>
                    </a:gridCol>
                    <a:gridCol w="6631900">
                      <a:extLst>
                        <a:ext uri="{9D8B030D-6E8A-4147-A177-3AD203B41FA5}">
                          <a16:colId xmlns:a16="http://schemas.microsoft.com/office/drawing/2014/main" val="2841301798"/>
                        </a:ext>
                      </a:extLst>
                    </a:gridCol>
                    <a:gridCol w="5614133">
                      <a:extLst>
                        <a:ext uri="{9D8B030D-6E8A-4147-A177-3AD203B41FA5}">
                          <a16:colId xmlns:a16="http://schemas.microsoft.com/office/drawing/2014/main" val="3617628030"/>
                        </a:ext>
                      </a:extLst>
                    </a:gridCol>
                  </a:tblGrid>
                  <a:tr h="1224217">
                    <a:tc>
                      <a:txBody>
                        <a:bodyPr/>
                        <a:lstStyle/>
                        <a:p>
                          <a:pPr marL="0" marR="0" indent="45720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Level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ctr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Model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l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dirty="0">
                              <a:effectLst/>
                            </a:rPr>
                            <a:t>Interpretation</a:t>
                          </a:r>
                          <a:endParaRPr lang="en-US" sz="3200" dirty="0">
                            <a:effectLst/>
                            <a:latin typeface="Times New Roman" panose="020206030504050203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488523086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Cluster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600" b="0" i="0" u="none" strike="noStrike" cap="none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{</m:t>
                                </m:r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𝛀</m:t>
                                    </m:r>
                                  </m:e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𝟎𝐠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}</m:t>
                                    </m:r>
                                  </m:e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𝑔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𝐺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36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lvl="0" indent="457200" algn="l" defTabSz="914400" rtl="0" eaLnBrk="1" fontAlgn="auto" latinLnBrk="0" hangingPunct="1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Set of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u="none" strike="noStrike" cap="none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𝐺</m:t>
                              </m:r>
                            </m:oMath>
                          </a14:m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 cluster-level precision matrices describing group-level FC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739924968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Subject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600" b="0" i="0" u="none" strike="noStrike" cap="non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{</m:t>
                                </m:r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𝛀</m:t>
                                    </m:r>
                                  </m:e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𝐤</m:t>
                                    </m:r>
                                  </m:sub>
                                </m:sSub>
                                <m:limUpp>
                                  <m:limUpp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Upp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∼</m:t>
                                    </m:r>
                                  </m:e>
                                  <m:lim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𝑖𝑖𝑑</m:t>
                                    </m:r>
                                  </m:lim>
                                </m:limUpp>
                                <m:nary>
                                  <m:naryPr>
                                    <m:chr m:val="∑"/>
                                    <m:limLoc m:val="undOvr"/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𝑔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𝐺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𝜋</m:t>
                                        </m:r>
                                      </m:e>
                                      <m:sub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𝑔</m:t>
                                        </m:r>
                                      </m:sub>
                                    </m:sSub>
                                  </m:e>
                                </m:nary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𝑔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𝛀</m:t>
                                        </m:r>
                                      </m:e>
                                      <m:sub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𝐤</m:t>
                                        </m:r>
                                      </m:sub>
                                    </m:s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𝛀</m:t>
                                        </m:r>
                                      </m:e>
                                      <m:sub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𝟎𝐠</m:t>
                                        </m:r>
                                      </m:sub>
                                    </m:sSub>
                                  </m:e>
                                </m:d>
                                <m:limLow>
                                  <m:limLow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LowPr>
                                  <m:e>
                                    <m:limUpp>
                                      <m:limUpp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}</m:t>
                                        </m:r>
                                      </m:e>
                                      <m:lim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𝐾</m:t>
                                        </m:r>
                                      </m:lim>
                                    </m:limUpp>
                                  </m:e>
                                  <m:lim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=1</m:t>
                                    </m:r>
                                  </m:lim>
                                </m:limLow>
                              </m:oMath>
                            </m:oMathPara>
                          </a14:m>
                          <a:endParaRPr lang="en-US" sz="36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lvl="0" indent="457200" algn="l" defTabSz="914400" rtl="0" eaLnBrk="1" fontAlgn="auto" latinLnBrk="0" hangingPunct="1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Set of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u="none" strike="noStrike" cap="none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oMath>
                          </a14:m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 subject-level precision matrices describing unique individual-level FC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68420601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Observation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600" b="0" i="0" u="none" strike="noStrike" cap="non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{{</m:t>
                                </m:r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1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𝐲</m:t>
                                    </m:r>
                                  </m:e>
                                  <m:sub>
                                    <m:r>
                                      <a:rPr lang="en-US" sz="3600" b="1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𝐤𝐭</m:t>
                                    </m:r>
                                  </m:sub>
                                </m:sSub>
                                <m:r>
                                  <a:rPr lang="en-US" sz="3600" b="0" i="0" u="none" strike="noStrike" cap="none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1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𝛀</m:t>
                                    </m:r>
                                  </m:e>
                                  <m:sub>
                                    <m:r>
                                      <a:rPr lang="en-US" sz="3600" b="1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𝐤</m:t>
                                    </m:r>
                                  </m:sub>
                                </m:sSub>
                                <m:limUpp>
                                  <m:limUpp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Upp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∼</m:t>
                                    </m:r>
                                  </m:e>
                                  <m:lim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𝑖𝑛𝑑</m:t>
                                    </m:r>
                                  </m:lim>
                                </m:limUpp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𝒩</m:t>
                                    </m:r>
                                  </m:e>
                                  <m:sub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3600" b="1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1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𝛍</m:t>
                                        </m:r>
                                      </m:e>
                                      <m:sub>
                                        <m:r>
                                          <a:rPr lang="en-US" sz="3600" b="1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𝐤</m:t>
                                        </m:r>
                                      </m:sub>
                                    </m:s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1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𝛀</m:t>
                                        </m:r>
                                      </m:e>
                                      <m:sub>
                                        <m:r>
                                          <a:rPr lang="en-US" sz="3600" b="1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𝐤</m:t>
                                        </m:r>
                                      </m:sub>
                                    </m:sSub>
                                  </m:e>
                                </m:d>
                                <m:limLow>
                                  <m:limLow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LowPr>
                                  <m:e>
                                    <m:limUpp>
                                      <m:limUpp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}</m:t>
                                        </m:r>
                                      </m:e>
                                      <m:lim>
                                        <m:sSub>
                                          <m:sSubPr>
                                            <m:ctrlPr>
                                              <a:rPr lang="en-US" sz="3600" b="0" i="1" u="none" strike="noStrike" cap="none">
                                                <a:solidFill>
                                                  <a:srgbClr val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3600" b="0" i="1" u="none" strike="noStrike" cap="none">
                                                <a:solidFill>
                                                  <a:srgbClr val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𝑛</m:t>
                                            </m:r>
                                          </m:e>
                                          <m:sub>
                                            <m:r>
                                              <a:rPr lang="en-US" sz="3600" b="0" i="1" u="none" strike="noStrike" cap="none">
                                                <a:solidFill>
                                                  <a:srgbClr val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lim>
                                    </m:limUpp>
                                  </m:e>
                                  <m:lim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𝑡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</m:t>
                                    </m:r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1</m:t>
                                    </m:r>
                                  </m:lim>
                                </m:limLow>
                                <m:limLow>
                                  <m:limLow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LowPr>
                                  <m:e>
                                    <m:limUpp>
                                      <m:limUpp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}</m:t>
                                        </m:r>
                                      </m:e>
                                      <m:lim>
                                        <m: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𝐾</m:t>
                                        </m:r>
                                      </m:lim>
                                    </m:limUpp>
                                  </m:e>
                                  <m:lim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</m:t>
                                    </m:r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1</m:t>
                                    </m:r>
                                  </m:lim>
                                </m:limLow>
                              </m:oMath>
                            </m:oMathPara>
                          </a14:m>
                          <a:endParaRPr lang="en-US" sz="36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lvl="0" indent="457200" algn="l" defTabSz="914400" rtl="0" eaLnBrk="1" fontAlgn="auto" latinLnBrk="0" hangingPunct="1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Set of fMRI signals consisting of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00" b="0" i="1" u="none" strike="noStrike" cap="none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0" u="none" strike="noStrike" cap="none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800" b="0" i="0" u="none" strike="noStrike" cap="none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 observations of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u="none" strike="noStrike" cap="none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</m:t>
                              </m:r>
                            </m:oMath>
                          </a14:m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 variables for subject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u="none" strike="noStrike" cap="none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oMath>
                          </a14:m>
                          <a:endParaRPr lang="en-US" sz="28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3544334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2">
                <a:extLst>
                  <a:ext uri="{FF2B5EF4-FFF2-40B4-BE49-F238E27FC236}">
                    <a16:creationId xmlns:a16="http://schemas.microsoft.com/office/drawing/2014/main" id="{DD64A777-8221-90AB-7F62-34B53C1013C0}"/>
                  </a:ext>
                </a:extLst>
              </p:cNvPr>
              <p:cNvGraphicFramePr>
                <a:graphicFrameLocks noGrp="1"/>
              </p:cNvGraphicFramePr>
              <p:nvPr userDrawn="1">
                <p:extLst>
                  <p:ext uri="{D42A27DB-BD31-4B8C-83A1-F6EECF244321}">
                    <p14:modId xmlns:p14="http://schemas.microsoft.com/office/powerpoint/2010/main" val="3180680857"/>
                  </p:ext>
                </p:extLst>
              </p:nvPr>
            </p:nvGraphicFramePr>
            <p:xfrm>
              <a:off x="648929" y="14846709"/>
              <a:ext cx="15102348" cy="8190271"/>
            </p:xfrm>
            <a:graphic>
              <a:graphicData uri="http://schemas.openxmlformats.org/drawingml/2006/table">
                <a:tbl>
                  <a:tblPr firstRow="1" bandRow="1">
                    <a:tableStyleId>{FA1151E8-28CC-4D0A-90E6-D913D1850F2D}</a:tableStyleId>
                  </a:tblPr>
                  <a:tblGrid>
                    <a:gridCol w="2856315">
                      <a:extLst>
                        <a:ext uri="{9D8B030D-6E8A-4147-A177-3AD203B41FA5}">
                          <a16:colId xmlns:a16="http://schemas.microsoft.com/office/drawing/2014/main" val="1191074651"/>
                        </a:ext>
                      </a:extLst>
                    </a:gridCol>
                    <a:gridCol w="6631900">
                      <a:extLst>
                        <a:ext uri="{9D8B030D-6E8A-4147-A177-3AD203B41FA5}">
                          <a16:colId xmlns:a16="http://schemas.microsoft.com/office/drawing/2014/main" val="2841301798"/>
                        </a:ext>
                      </a:extLst>
                    </a:gridCol>
                    <a:gridCol w="5614133">
                      <a:extLst>
                        <a:ext uri="{9D8B030D-6E8A-4147-A177-3AD203B41FA5}">
                          <a16:colId xmlns:a16="http://schemas.microsoft.com/office/drawing/2014/main" val="3617628030"/>
                        </a:ext>
                      </a:extLst>
                    </a:gridCol>
                  </a:tblGrid>
                  <a:tr h="1224217">
                    <a:tc>
                      <a:txBody>
                        <a:bodyPr/>
                        <a:lstStyle/>
                        <a:p>
                          <a:pPr marL="0" marR="0" indent="45720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b="0" i="0" u="none" strike="noStrike" cap="none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Level</a:t>
                          </a:r>
                          <a:endParaRPr lang="en-US" sz="3200" b="0" i="0" u="none" strike="noStrike" cap="none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ctr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b="0" i="0" u="none" strike="noStrike" cap="none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Model</a:t>
                          </a:r>
                          <a:endParaRPr lang="en-US" sz="3200" b="0" i="0" u="none" strike="noStrike" cap="none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l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>
                              <a:effectLst/>
                            </a:rPr>
                            <a:t>Interpretation</a:t>
                          </a:r>
                          <a:endParaRPr lang="en-US" sz="3200">
                            <a:effectLst/>
                            <a:latin typeface="Times New Roman" panose="020206030504050203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488523086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Cluster</a:t>
                          </a:r>
                          <a:endParaRPr lang="en-US" sz="3200" b="0" i="0" u="none" strike="noStrike" cap="none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43199" t="-53018" r="-84835" b="-2007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69164" t="-53018" r="-217" b="-2007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9924968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Subject</a:t>
                          </a:r>
                          <a:endParaRPr lang="en-US" sz="3200" b="0" i="0" u="none" strike="noStrike" cap="none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43199" t="-152618" r="-84835" b="-1002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69164" t="-152618" r="-217" b="-1002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420601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Observation</a:t>
                          </a:r>
                          <a:endParaRPr lang="en-US" sz="3200" b="0" i="0" u="none" strike="noStrike" cap="none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43199" t="-253281" r="-84835" b="-5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69164" t="-253281" r="-217" b="-5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443344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02221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>
          <p15:clr>
            <a:srgbClr val="FBAE40"/>
          </p15:clr>
        </p15:guide>
        <p15:guide id="2" pos="9216" userDrawn="1">
          <p15:clr>
            <a:srgbClr val="FBAE40"/>
          </p15:clr>
        </p15:guide>
        <p15:guide id="3" pos="1843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earch Poster Template" preserve="1" userDrawn="1">
  <p:cSld name="Research Poster Template 3 Column Empt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Google Shape;18;p4"/>
          <p:cNvCxnSpPr/>
          <p:nvPr/>
        </p:nvCxnSpPr>
        <p:spPr>
          <a:xfrm>
            <a:off x="11307763" y="8992295"/>
            <a:ext cx="914400" cy="91440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914398" y="6859659"/>
            <a:ext cx="13716001" cy="23345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64285"/>
              </a:lnSpc>
              <a:spcBef>
                <a:spcPts val="0"/>
              </a:spcBef>
              <a:spcAft>
                <a:spcPts val="1200"/>
              </a:spcAft>
              <a:buClr>
                <a:schemeClr val="dk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4"/>
          </p:nvPr>
        </p:nvSpPr>
        <p:spPr>
          <a:xfrm>
            <a:off x="15220335" y="6832926"/>
            <a:ext cx="13450530" cy="23401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6"/>
          </p:nvPr>
        </p:nvSpPr>
        <p:spPr>
          <a:xfrm>
            <a:off x="29880232" y="6859658"/>
            <a:ext cx="13112442" cy="23286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60449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>
          <p15:clr>
            <a:srgbClr val="FBAE40"/>
          </p15:clr>
        </p15:guide>
        <p15:guide id="2" pos="9216" userDrawn="1">
          <p15:clr>
            <a:srgbClr val="FBAE40"/>
          </p15:clr>
        </p15:guide>
        <p15:guide id="3" pos="18432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 descr="alt=&quot;&quot;"/>
          <p:cNvSpPr/>
          <p:nvPr/>
        </p:nvSpPr>
        <p:spPr>
          <a:xfrm>
            <a:off x="0" y="30409662"/>
            <a:ext cx="43891200" cy="2508738"/>
          </a:xfrm>
          <a:prstGeom prst="rect">
            <a:avLst/>
          </a:prstGeom>
          <a:solidFill>
            <a:srgbClr val="005BB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3" descr="alt=&quot;&quot;"/>
          <p:cNvSpPr/>
          <p:nvPr/>
        </p:nvSpPr>
        <p:spPr>
          <a:xfrm>
            <a:off x="0" y="0"/>
            <a:ext cx="43891200" cy="5486400"/>
          </a:xfrm>
          <a:prstGeom prst="rect">
            <a:avLst/>
          </a:prstGeom>
          <a:solidFill>
            <a:srgbClr val="005BB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3" descr="alt=&quot;&quot;"/>
          <p:cNvSpPr/>
          <p:nvPr/>
        </p:nvSpPr>
        <p:spPr>
          <a:xfrm>
            <a:off x="-1" y="5257800"/>
            <a:ext cx="43891201" cy="2612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7258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" name="Google Shape;13;p3" descr="alt=&quot;&quot;"/>
          <p:cNvCxnSpPr/>
          <p:nvPr/>
        </p:nvCxnSpPr>
        <p:spPr>
          <a:xfrm>
            <a:off x="32696865" y="30837463"/>
            <a:ext cx="0" cy="1588169"/>
          </a:xfrm>
          <a:prstGeom prst="straightConnector1">
            <a:avLst/>
          </a:prstGeom>
          <a:noFill/>
          <a:ln w="254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pic>
        <p:nvPicPr>
          <p:cNvPr id="14" name="Google Shape;14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5554365" y="1216818"/>
            <a:ext cx="5443902" cy="30527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04744" y="30969559"/>
            <a:ext cx="14811531" cy="1305519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www.michigan.gov/egle/maps-data/mpart-pfas-gis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s://www.epa.gov/pfas/pfas-explained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657839-AC5A-CBEC-68BD-5C169C5740B8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14895095" y="5629335"/>
            <a:ext cx="14101012" cy="24812177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Arial"/>
              <a:buNone/>
              <a:tabLst/>
              <a:defRPr/>
            </a:pPr>
            <a:endParaRPr kumimoji="0" lang="en-US" sz="4800" b="1" i="0" u="none" strike="noStrike" kern="0" cap="none" spc="0" normalizeH="0" baseline="0" noProof="0" dirty="0">
              <a:ln>
                <a:noFill/>
              </a:ln>
              <a:solidFill>
                <a:srgbClr val="005BBB"/>
              </a:solidFill>
              <a:effectLst/>
              <a:uLnTx/>
              <a:uFillTx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Arial"/>
              <a:buNone/>
              <a:tabLst/>
              <a:defRPr/>
            </a:pPr>
            <a:endParaRPr kumimoji="0" lang="en-US" sz="3200" b="0" i="0" u="none" strike="noStrike" kern="0" cap="none" spc="0" normalizeH="0" baseline="0" noProof="0" dirty="0">
              <a:ln>
                <a:noFill/>
              </a:ln>
              <a:solidFill>
                <a:srgbClr val="666666">
                  <a:lumMod val="50000"/>
                </a:srgbClr>
              </a:solidFill>
              <a:effectLst/>
              <a:uLnTx/>
              <a:uFillTx/>
              <a:cs typeface="Arial"/>
              <a:sym typeface="Arial"/>
            </a:endParaRPr>
          </a:p>
          <a:p>
            <a:pPr indent="-228600">
              <a:spcBef>
                <a:spcPts val="2200"/>
              </a:spcBef>
              <a:spcAft>
                <a:spcPts val="2200"/>
              </a:spcAft>
              <a:buClr>
                <a:schemeClr val="dk1"/>
              </a:buClr>
              <a:buNone/>
            </a:pPr>
            <a:endParaRPr lang="en-US" sz="1200" i="1" dirty="0">
              <a:solidFill>
                <a:schemeClr val="accent4">
                  <a:lumMod val="50000"/>
                </a:schemeClr>
              </a:solidFill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indent="-228600">
              <a:spcBef>
                <a:spcPts val="2200"/>
              </a:spcBef>
              <a:spcAft>
                <a:spcPts val="2200"/>
              </a:spcAft>
              <a:buClr>
                <a:schemeClr val="dk1"/>
              </a:buClr>
              <a:buNone/>
            </a:pPr>
            <a:endParaRPr lang="en-US" sz="800" i="1" dirty="0">
              <a:solidFill>
                <a:schemeClr val="accent4">
                  <a:lumMod val="50000"/>
                </a:schemeClr>
              </a:solidFill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indent="-228600">
              <a:spcBef>
                <a:spcPts val="2200"/>
              </a:spcBef>
              <a:spcAft>
                <a:spcPts val="2200"/>
              </a:spcAft>
              <a:buClr>
                <a:schemeClr val="dk1"/>
              </a:buClr>
              <a:buNone/>
            </a:pPr>
            <a:endParaRPr lang="en-US" sz="3200" i="1" dirty="0">
              <a:solidFill>
                <a:schemeClr val="accent4">
                  <a:lumMod val="50000"/>
                </a:schemeClr>
              </a:solidFill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1200"/>
              </a:spcBef>
              <a:buClr>
                <a:srgbClr val="7F7F7F"/>
              </a:buClr>
            </a:pPr>
            <a:endParaRPr lang="en-US" sz="3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Google Shape;36;p1">
            <a:extLst>
              <a:ext uri="{FF2B5EF4-FFF2-40B4-BE49-F238E27FC236}">
                <a16:creationId xmlns:a16="http://schemas.microsoft.com/office/drawing/2014/main" id="{BAAC6169-C1CE-EE5A-EDB1-D24E66F4A940}"/>
              </a:ext>
            </a:extLst>
          </p:cNvPr>
          <p:cNvSpPr/>
          <p:nvPr/>
        </p:nvSpPr>
        <p:spPr>
          <a:xfrm>
            <a:off x="999938" y="1095482"/>
            <a:ext cx="41224200" cy="4524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25" tIns="45600" rIns="91225" bIns="456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00" dirty="0">
                <a:solidFill>
                  <a:schemeClr val="lt1"/>
                </a:solidFill>
              </a:rPr>
              <a:t>A Spatial Analysis of PFAS Pollution in Michigan</a:t>
            </a:r>
            <a:endParaRPr dirty="0"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endParaRPr lang="en-US"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Bef>
                <a:spcPts val="1800"/>
              </a:spcBef>
            </a:pPr>
            <a:r>
              <a:rPr lang="en-US" sz="3600" b="0" i="0" u="none" strike="noStrike" cap="none" dirty="0">
                <a:solidFill>
                  <a:schemeClr val="lt1"/>
                </a:solidFill>
                <a:ea typeface="Arial"/>
                <a:cs typeface="Arial"/>
                <a:sym typeface="Arial"/>
              </a:rPr>
              <a:t>Nancy </a:t>
            </a:r>
            <a:r>
              <a:rPr lang="en-US" sz="3600" dirty="0">
                <a:solidFill>
                  <a:schemeClr val="lt1"/>
                </a:solidFill>
              </a:rPr>
              <a:t>Odhiambo, Andrew </a:t>
            </a:r>
            <a:r>
              <a:rPr lang="en-US" sz="3600" dirty="0" err="1">
                <a:solidFill>
                  <a:schemeClr val="lt1"/>
                </a:solidFill>
              </a:rPr>
              <a:t>DiLernia</a:t>
            </a:r>
            <a:endParaRPr lang="en-US" sz="3600" baseline="30000" dirty="0" err="1">
              <a:solidFill>
                <a:schemeClr val="lt1"/>
              </a:solidFill>
            </a:endParaRPr>
          </a:p>
          <a:p>
            <a:pPr lvl="0">
              <a:spcBef>
                <a:spcPts val="1800"/>
              </a:spcBef>
            </a:pPr>
            <a:r>
              <a:rPr lang="en-US" sz="3600" b="0" i="0" u="none" strike="noStrike" cap="none" dirty="0">
                <a:solidFill>
                  <a:schemeClr val="lt1"/>
                </a:solidFill>
                <a:ea typeface="Arial"/>
                <a:cs typeface="Arial"/>
                <a:sym typeface="Arial"/>
              </a:rPr>
              <a:t>Department of Statistics, Grand Valley State University </a:t>
            </a:r>
            <a:endParaRPr dirty="0"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endParaRPr sz="32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74;p1">
            <a:extLst>
              <a:ext uri="{FF2B5EF4-FFF2-40B4-BE49-F238E27FC236}">
                <a16:creationId xmlns:a16="http://schemas.microsoft.com/office/drawing/2014/main" id="{7731369C-25C6-4539-52D3-470DF230526A}"/>
              </a:ext>
            </a:extLst>
          </p:cNvPr>
          <p:cNvSpPr/>
          <p:nvPr/>
        </p:nvSpPr>
        <p:spPr>
          <a:xfrm>
            <a:off x="33196429" y="30840633"/>
            <a:ext cx="9780371" cy="14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of Statistics,</a:t>
            </a:r>
            <a:b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Grand Valley State University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34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gvsu.edu</a:t>
            </a:r>
            <a:endParaRPr dirty="0"/>
          </a:p>
          <a:p>
            <a:pPr marL="0" marR="0" lvl="0" indent="0" algn="l" rtl="0">
              <a:spcBef>
                <a:spcPts val="80"/>
              </a:spcBef>
              <a:spcAft>
                <a:spcPts val="0"/>
              </a:spcAft>
              <a:buNone/>
            </a:pPr>
            <a:endParaRPr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Text Placeholder 48">
            <a:extLst>
              <a:ext uri="{FF2B5EF4-FFF2-40B4-BE49-F238E27FC236}">
                <a16:creationId xmlns:a16="http://schemas.microsoft.com/office/drawing/2014/main" id="{AB71F360-BB8B-D375-3180-E5F2E2514D50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29260800" y="5619555"/>
            <a:ext cx="14630400" cy="24812177"/>
          </a:xfrm>
        </p:spPr>
        <p:txBody>
          <a:bodyPr/>
          <a:lstStyle/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32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r>
              <a:rPr lang="en-US" sz="4800" b="1" dirty="0">
                <a:solidFill>
                  <a:srgbClr val="005BBB"/>
                </a:solidFill>
              </a:rPr>
              <a:t>Conclusion</a:t>
            </a:r>
          </a:p>
          <a:p>
            <a:pPr lvl="1" indent="-457200">
              <a:spcBef>
                <a:spcPts val="1200"/>
              </a:spcBef>
              <a:buSzPts val="3500"/>
            </a:pPr>
            <a:r>
              <a:rPr lang="en-US" sz="3200" dirty="0" err="1">
                <a:solidFill>
                  <a:schemeClr val="accent4">
                    <a:lumMod val="50000"/>
                  </a:schemeClr>
                </a:solidFill>
              </a:rPr>
              <a:t>PFHxS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 dominates as the analyte with the greatest impact on hazard index levels in drinking water samples</a:t>
            </a:r>
          </a:p>
          <a:p>
            <a:pPr lvl="1" indent="-457200">
              <a:spcBef>
                <a:spcPts val="1200"/>
              </a:spcBef>
              <a:buSzPts val="3500"/>
            </a:pP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Many of the sites with the highest hazard index levels were water systems located in school areas.</a:t>
            </a:r>
          </a:p>
          <a:p>
            <a:pPr lvl="1" indent="-457200">
              <a:spcBef>
                <a:spcPts val="1200"/>
              </a:spcBef>
              <a:buClr>
                <a:srgbClr val="005BBB"/>
              </a:buClr>
              <a:buSzPts val="3500"/>
            </a:pP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There are many drinking water sites and systems with hazard index greater than 1 which surpasses the set Maximum Contamination Level</a:t>
            </a:r>
          </a:p>
          <a:p>
            <a:pPr lvl="1" indent="-457200">
              <a:spcBef>
                <a:spcPts val="1200"/>
              </a:spcBef>
              <a:buClr>
                <a:srgbClr val="005BBB"/>
              </a:buClr>
              <a:buSzPts val="3500"/>
            </a:pP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We also developed an interactive dashboard published on GitHub: https://</a:t>
            </a:r>
            <a:r>
              <a:rPr lang="en-US" sz="3200" dirty="0" err="1">
                <a:solidFill>
                  <a:schemeClr val="accent4">
                    <a:lumMod val="50000"/>
                  </a:schemeClr>
                </a:solidFill>
              </a:rPr>
              <a:t>github.com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/Nancy-Odhiambo/Michigan-PFAS-Data</a:t>
            </a:r>
            <a:endParaRPr lang="en-US" sz="3200" b="1" dirty="0">
              <a:solidFill>
                <a:srgbClr val="005BBB"/>
              </a:solidFill>
              <a:ea typeface="Calibri"/>
            </a:endParaRPr>
          </a:p>
          <a:p>
            <a:pPr mar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indent="0">
              <a:lnSpc>
                <a:spcPct val="95833"/>
              </a:lnSpc>
              <a:buNone/>
            </a:pPr>
            <a:r>
              <a:rPr lang="en-US" sz="4800" b="1" dirty="0">
                <a:solidFill>
                  <a:srgbClr val="005BBB"/>
                </a:solidFill>
              </a:rPr>
              <a:t>References</a:t>
            </a:r>
            <a:endParaRPr lang="en-US" dirty="0"/>
          </a:p>
          <a:p>
            <a:pPr marL="514350" lvl="0" indent="-514350">
              <a:lnSpc>
                <a:spcPct val="95833"/>
              </a:lnSpc>
              <a:buClr>
                <a:schemeClr val="dk1"/>
              </a:buClr>
              <a:buFont typeface="+mj-lt"/>
              <a:buAutoNum type="arabicPeriod"/>
            </a:pPr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r>
              <a:rPr lang="en-US" sz="2500" dirty="0">
                <a:solidFill>
                  <a:schemeClr val="accent4">
                    <a:lumMod val="50000"/>
                  </a:schemeClr>
                </a:solidFill>
              </a:rPr>
              <a:t>Environmental Protection Agency. (2025, September 30). PFAS explained. </a:t>
            </a:r>
            <a:r>
              <a:rPr lang="en-US" sz="2500" dirty="0">
                <a:solidFill>
                  <a:schemeClr val="accent4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https://www.epa.gov/pfas/pfas-explained</a:t>
            </a:r>
            <a:endParaRPr lang="en-US" sz="2500" dirty="0">
              <a:solidFill>
                <a:schemeClr val="accent4">
                  <a:lumMod val="50000"/>
                </a:schemeClr>
              </a:solidFill>
              <a:hlinkClick r:id="rId2"/>
            </a:endParaRPr>
          </a:p>
          <a:p>
            <a:pPr marL="51435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AutoNum type="arabicPeriod"/>
            </a:pPr>
            <a:r>
              <a:rPr lang="en-US" sz="2500" dirty="0">
                <a:solidFill>
                  <a:schemeClr val="accent4">
                    <a:lumMod val="50000"/>
                  </a:schemeClr>
                </a:solidFill>
              </a:rPr>
              <a:t>U.S. Environmental Protection Agency. (2024, April 8). Understanding the final PFAS national primary drinking water regulation: Hazard index maximum contaminant level [Fact sheet]. https://www.epa.gov/system/files/documents/2024-04/pfas-npdwr_fact-sheet_hazard-index_4.8.24.pdf</a:t>
            </a:r>
          </a:p>
          <a:p>
            <a:pPr marL="51435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r>
              <a:rPr lang="en-US" sz="2500" dirty="0">
                <a:solidFill>
                  <a:schemeClr val="accent4">
                    <a:lumMod val="50000"/>
                  </a:schemeClr>
                </a:solidFill>
              </a:rPr>
              <a:t>Michigan Department of Environment, Great Lakes, and Energy (EGLE). (2026). MPART PFAS Geographic Information System [Data set]. Michigan PFAS Action Response Team. </a:t>
            </a:r>
            <a:r>
              <a:rPr lang="en-US" sz="2500" dirty="0">
                <a:solidFill>
                  <a:schemeClr val="accent4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https://www.michigan.gov/egle/maps-data/mpart-pfas-gis</a:t>
            </a:r>
            <a:endParaRPr lang="en-US" sz="2500" dirty="0">
              <a:solidFill>
                <a:schemeClr val="accent4">
                  <a:lumMod val="50000"/>
                </a:schemeClr>
              </a:solidFill>
              <a:hlinkClick r:id="rId3"/>
            </a:endParaRPr>
          </a:p>
          <a:p>
            <a:pPr marL="51435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0" lvl="0" indent="0">
              <a:lnSpc>
                <a:spcPct val="95833"/>
              </a:lnSpc>
              <a:buClr>
                <a:schemeClr val="dk1"/>
              </a:buClr>
              <a:buNone/>
            </a:pPr>
            <a:endParaRPr lang="en-US" sz="2500" dirty="0"/>
          </a:p>
          <a:p>
            <a:pPr marL="514350" indent="-514350">
              <a:lnSpc>
                <a:spcPct val="95833"/>
              </a:lnSpc>
              <a:buClr>
                <a:schemeClr val="dk1"/>
              </a:buClr>
              <a:buAutoNum type="arabicPeriod"/>
            </a:pPr>
            <a:endParaRPr lang="en-US" sz="3000" dirty="0">
              <a:solidFill>
                <a:srgbClr val="333333"/>
              </a:solidFill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lvl="0">
              <a:buFont typeface="+mj-lt"/>
              <a:buChar char="•"/>
            </a:pPr>
            <a:endParaRPr lang="en-US" dirty="0">
              <a:ea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61173C06-0403-2A94-6AF8-40D60FE4BD9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99504" y="5607056"/>
                <a:ext cx="14231103" cy="24812176"/>
              </a:xfrm>
            </p:spPr>
            <p:txBody>
              <a:bodyPr/>
              <a:lstStyle/>
              <a:p>
                <a:pPr marL="0" indent="0">
                  <a:lnSpc>
                    <a:spcPct val="95833"/>
                  </a:lnSpc>
                </a:pPr>
                <a:r>
                  <a:rPr lang="en-US" sz="4800" b="1" dirty="0">
                    <a:solidFill>
                      <a:srgbClr val="005BBB"/>
                    </a:solidFill>
                  </a:rPr>
                  <a:t>Introduction</a:t>
                </a:r>
                <a:endParaRPr lang="en-US" sz="4800" dirty="0"/>
              </a:p>
              <a:p>
                <a:pPr marL="742950" lvl="1" indent="-457200">
                  <a:spcBef>
                    <a:spcPts val="1200"/>
                  </a:spcBef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Per- and polyfluoroalkyl substances (PFAS) are synthetic “forever” chemicals that are widely used in everyday products.¹</a:t>
                </a:r>
              </a:p>
              <a:p>
                <a:pPr marL="742950" lvl="1" indent="-457200">
                  <a:spcBef>
                    <a:spcPts val="1200"/>
                  </a:spcBef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PFAS do not break down easily in the environment or the human body.</a:t>
                </a:r>
              </a:p>
              <a:p>
                <a:pPr marL="742950" lvl="1" indent="-457200">
                  <a:spcBef>
                    <a:spcPts val="1200"/>
                  </a:spcBef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Research indicates that PFAS exposure may be linked to harmful health effects², so monitoring PFAS pollution levels is important for public health research and evidence-based policy decisions.</a:t>
                </a:r>
                <a:endParaRPr lang="en-US" dirty="0">
                  <a:solidFill>
                    <a:schemeClr val="accent4">
                      <a:lumMod val="50000"/>
                    </a:schemeClr>
                  </a:solidFill>
                </a:endParaRPr>
              </a:p>
              <a:p>
                <a:pPr marL="742950" lvl="1" indent="-457200">
                  <a:spcBef>
                    <a:spcPts val="1200"/>
                  </a:spcBef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We analyzed data on PFAS pollution from the Michigan Department of Environmental Great Lakes and Energy and the Michigan PFAS Action Response Team³, summarizing patterns in PFAS pollution in Michigan.</a:t>
                </a:r>
                <a:endParaRPr lang="en-US" sz="3200" b="1" dirty="0">
                  <a:solidFill>
                    <a:srgbClr val="005BBB"/>
                  </a:solidFill>
                  <a:ea typeface="Verdana"/>
                </a:endParaRPr>
              </a:p>
              <a:p>
                <a:pPr marL="0" indent="0">
                  <a:lnSpc>
                    <a:spcPct val="95833"/>
                  </a:lnSpc>
                </a:pPr>
                <a:r>
                  <a:rPr lang="en-US" sz="4800" b="1" dirty="0">
                    <a:solidFill>
                      <a:srgbClr val="005BBB"/>
                    </a:solidFill>
                  </a:rPr>
                  <a:t>Hazard Index</a:t>
                </a:r>
                <a:endParaRPr lang="en-US" sz="4800" dirty="0">
                  <a:solidFill>
                    <a:srgbClr val="666666"/>
                  </a:solidFill>
                </a:endParaRPr>
              </a:p>
              <a:p>
                <a:pPr marL="742950" lvl="1" indent="-457200">
                  <a:spcBef>
                    <a:spcPts val="1200"/>
                  </a:spcBef>
                  <a:buClr>
                    <a:srgbClr val="005BBB"/>
                  </a:buClr>
                  <a:buFont typeface="Arial,Sans-Serif"/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The hazard index is a unitless metric from the Environmental Protection Agency (EPA) that summarizes the adverse health effects associated with exposure to mixtures of different PFAS analytes.²</a:t>
                </a:r>
                <a:endParaRPr lang="en-US" dirty="0">
                  <a:solidFill>
                    <a:schemeClr val="accent4">
                      <a:lumMod val="50000"/>
                    </a:schemeClr>
                  </a:solidFill>
                </a:endParaRPr>
              </a:p>
              <a:p>
                <a:pPr marL="285750" lvl="1">
                  <a:spcBef>
                    <a:spcPts val="1200"/>
                  </a:spcBef>
                  <a:buClr>
                    <a:srgbClr val="005BBB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000"/>
                        <m:t>Hazard</m:t>
                      </m:r>
                      <m:r>
                        <m:rPr>
                          <m:nor/>
                        </m:rPr>
                        <a:rPr lang="en-US" sz="3000"/>
                        <m:t> </m:t>
                      </m:r>
                      <m:r>
                        <m:rPr>
                          <m:nor/>
                        </m:rPr>
                        <a:rPr lang="en-US" sz="3000"/>
                        <m:t>Index</m:t>
                      </m:r>
                      <m:r>
                        <a:rPr lang="en-US" sz="3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sz="3000"/>
                                <m:t>HFPODA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num>
                            <m:den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den>
                          </m:f>
                        </m:e>
                      </m:d>
                      <m:r>
                        <a:rPr lang="en-US" sz="3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sz="3000"/>
                                <m:t>PFBS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num>
                            <m:den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2000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den>
                          </m:f>
                        </m:e>
                      </m:d>
                      <m:r>
                        <a:rPr lang="en-US" sz="3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sz="3000"/>
                                <m:t>PFNA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num>
                            <m:den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den>
                          </m:f>
                        </m:e>
                      </m:d>
                      <m:r>
                        <a:rPr lang="en-US" sz="3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sz="3000"/>
                                <m:t>PFHxS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num>
                            <m:den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3000" dirty="0">
                  <a:solidFill>
                    <a:schemeClr val="accent4">
                      <a:lumMod val="50000"/>
                    </a:schemeClr>
                  </a:solidFill>
                </a:endParaRPr>
              </a:p>
              <a:p>
                <a:pPr marL="742950" lvl="1" indent="-457200">
                  <a:spcBef>
                    <a:spcPts val="1200"/>
                  </a:spcBef>
                  <a:buClr>
                    <a:srgbClr val="005BBB"/>
                  </a:buClr>
                  <a:buFont typeface="Arial,Sans-Serif"/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The EPA’s Hazard Index Maximum Contaminant Level (MCL) is set at 1, meaning there are potential elevated health risks for drinking water with hazard index levels exceeding 1.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666666"/>
                  </a:buClr>
                  <a:buSzPts val="2800"/>
                  <a:buFont typeface="Arial"/>
                  <a:buNone/>
                  <a:tabLst/>
                  <a:defRPr/>
                </a:pPr>
                <a:r>
                  <a:rPr lang="en-US" sz="4800" b="1" dirty="0">
                    <a:solidFill>
                      <a:srgbClr val="005BBB"/>
                    </a:solidFill>
                  </a:rPr>
                  <a:t>Results</a:t>
                </a:r>
                <a:endParaRPr kumimoji="0" lang="en-US" sz="4800" b="0" i="0" u="none" strike="noStrike" kern="0" cap="none" spc="0" normalizeH="0" baseline="0" noProof="0" dirty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  <a:p>
                <a:pPr marL="285750" lvl="1">
                  <a:spcBef>
                    <a:spcPts val="1200"/>
                  </a:spcBef>
                  <a:buClr>
                    <a:srgbClr val="005BBB"/>
                  </a:buClr>
                </a:pPr>
                <a:endParaRPr lang="en-US" sz="3200" dirty="0">
                  <a:solidFill>
                    <a:schemeClr val="accent4">
                      <a:lumMod val="50000"/>
                    </a:schemeClr>
                  </a:solidFill>
                </a:endParaRPr>
              </a:p>
              <a:p>
                <a:pPr marL="0" indent="0">
                  <a:lnSpc>
                    <a:spcPct val="95833"/>
                  </a:lnSpc>
                </a:pPr>
                <a:endParaRPr lang="en-US" sz="4800" b="1" dirty="0">
                  <a:solidFill>
                    <a:srgbClr val="005BBB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61173C06-0403-2A94-6AF8-40D60FE4BD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9504" y="5607056"/>
                <a:ext cx="14231103" cy="24812176"/>
              </a:xfrm>
              <a:blipFill>
                <a:blip r:embed="rId4"/>
                <a:stretch>
                  <a:fillRect l="-1963" t="-716" r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QR Code">
            <a:extLst>
              <a:ext uri="{FF2B5EF4-FFF2-40B4-BE49-F238E27FC236}">
                <a16:creationId xmlns:a16="http://schemas.microsoft.com/office/drawing/2014/main" id="{4B74822B-A35F-3E3A-D303-5FA0B3957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52959" y="30653139"/>
            <a:ext cx="1871088" cy="1871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2DEBB8A-F865-609C-0583-2531C5FA20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30526" y="5619555"/>
            <a:ext cx="14460674" cy="1031713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77BF915-846A-249E-4A7F-F27B275360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95094" y="22837911"/>
            <a:ext cx="14231103" cy="759382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3A2D002-4710-DA77-A88B-26210568B5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95095" y="14238514"/>
            <a:ext cx="14231102" cy="871227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4E1BC0B-E930-6642-B516-85F2CB9442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95093" y="5607055"/>
            <a:ext cx="14231101" cy="871227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522BCBD-72DE-AE9D-2729-A808100AB3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1" y="23774400"/>
            <a:ext cx="14895094" cy="6644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402343"/>
      </p:ext>
    </p:extLst>
  </p:cSld>
  <p:clrMapOvr>
    <a:masterClrMapping/>
  </p:clrMapOvr>
</p:sld>
</file>

<file path=ppt/theme/theme1.xml><?xml version="1.0" encoding="utf-8"?>
<a:theme xmlns:a="http://schemas.openxmlformats.org/drawingml/2006/main" name="Research Poster Template">
  <a:themeElements>
    <a:clrScheme name="UB Color Palette">
      <a:dk1>
        <a:srgbClr val="666666"/>
      </a:dk1>
      <a:lt1>
        <a:srgbClr val="FFFFFF"/>
      </a:lt1>
      <a:dk2>
        <a:srgbClr val="005BBB"/>
      </a:dk2>
      <a:lt2>
        <a:srgbClr val="FFFFFF"/>
      </a:lt2>
      <a:accent1>
        <a:srgbClr val="005BBB"/>
      </a:accent1>
      <a:accent2>
        <a:srgbClr val="41B6E6"/>
      </a:accent2>
      <a:accent3>
        <a:srgbClr val="E56D54"/>
      </a:accent3>
      <a:accent4>
        <a:srgbClr val="666666"/>
      </a:accent4>
      <a:accent5>
        <a:srgbClr val="007681"/>
      </a:accent5>
      <a:accent6>
        <a:srgbClr val="003E51"/>
      </a:accent6>
      <a:hlink>
        <a:srgbClr val="186BB7"/>
      </a:hlink>
      <a:folHlink>
        <a:srgbClr val="D86A4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2418</TotalTime>
  <Words>411</Words>
  <Application>Microsoft Macintosh PowerPoint</Application>
  <PresentationFormat>Custom</PresentationFormat>
  <Paragraphs>54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Arial,Sans-Serif</vt:lpstr>
      <vt:lpstr>Calibri</vt:lpstr>
      <vt:lpstr>Cambria</vt:lpstr>
      <vt:lpstr>Cambria Math</vt:lpstr>
      <vt:lpstr>NTR</vt:lpstr>
      <vt:lpstr>Times New Roman</vt:lpstr>
      <vt:lpstr>Verdana</vt:lpstr>
      <vt:lpstr>Research Poster Template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Nancy A. Odhiambo</cp:lastModifiedBy>
  <cp:revision>141</cp:revision>
  <dcterms:created xsi:type="dcterms:W3CDTF">2019-03-28T18:35:19Z</dcterms:created>
  <dcterms:modified xsi:type="dcterms:W3CDTF">2026-04-01T04:36:21Z</dcterms:modified>
</cp:coreProperties>
</file>