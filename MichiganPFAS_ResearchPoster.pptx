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i8fLYElh59t4jHQwYsQUndL0Eu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20A5EC-8840-9940-BC91-4086AF4B13F5}" v="336" dt="2026-03-24T04:33:06.714"/>
  </p1510:revLst>
</p1510:revInfo>
</file>

<file path=ppt/tableStyles.xml><?xml version="1.0" encoding="utf-8"?>
<a:tblStyleLst xmlns:a="http://schemas.openxmlformats.org/drawingml/2006/main" def="{FA1151E8-28CC-4D0A-90E6-D913D1850F2D}">
  <a:tblStyle styleId="{FA1151E8-28CC-4D0A-90E6-D913D1850F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90" autoAdjust="0"/>
    <p:restoredTop sz="94784"/>
  </p:normalViewPr>
  <p:slideViewPr>
    <p:cSldViewPr snapToGrid="0">
      <p:cViewPr varScale="1">
        <p:scale>
          <a:sx n="24" d="100"/>
          <a:sy n="24" d="100"/>
        </p:scale>
        <p:origin x="1952" y="272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9" Type="http://customschemas.google.com/relationships/presentationmetadata" Target="meta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cy A. Odhiambo" userId="9fd03ea9-f642-46ed-82e0-72dc91a725bc" providerId="ADAL" clId="{6B025E33-D5BB-5DD4-954E-4AC3FAD535B9}"/>
    <pc:docChg chg="undo custSel modSld">
      <pc:chgData name="Nancy A. Odhiambo" userId="9fd03ea9-f642-46ed-82e0-72dc91a725bc" providerId="ADAL" clId="{6B025E33-D5BB-5DD4-954E-4AC3FAD535B9}" dt="2026-03-24T04:35:00.185" v="1968" actId="20577"/>
      <pc:docMkLst>
        <pc:docMk/>
      </pc:docMkLst>
      <pc:sldChg chg="addSp delSp modSp mod">
        <pc:chgData name="Nancy A. Odhiambo" userId="9fd03ea9-f642-46ed-82e0-72dc91a725bc" providerId="ADAL" clId="{6B025E33-D5BB-5DD4-954E-4AC3FAD535B9}" dt="2026-03-24T04:35:00.185" v="1968" actId="20577"/>
        <pc:sldMkLst>
          <pc:docMk/>
          <pc:sldMk cId="3865402343" sldId="261"/>
        </pc:sldMkLst>
        <pc:spChg chg="add del mod">
          <ac:chgData name="Nancy A. Odhiambo" userId="9fd03ea9-f642-46ed-82e0-72dc91a725bc" providerId="ADAL" clId="{6B025E33-D5BB-5DD4-954E-4AC3FAD535B9}" dt="2026-03-24T04:27:57.340" v="1938" actId="20577"/>
          <ac:spMkLst>
            <pc:docMk/>
            <pc:sldMk cId="3865402343" sldId="261"/>
            <ac:spMk id="2" creationId="{22F7C748-A7B8-994F-51B5-6A10DF850565}"/>
          </ac:spMkLst>
        </pc:spChg>
        <pc:spChg chg="add del mod">
          <ac:chgData name="Nancy A. Odhiambo" userId="9fd03ea9-f642-46ed-82e0-72dc91a725bc" providerId="ADAL" clId="{6B025E33-D5BB-5DD4-954E-4AC3FAD535B9}" dt="2026-03-24T04:09:39.296" v="1647" actId="478"/>
          <ac:spMkLst>
            <pc:docMk/>
            <pc:sldMk cId="3865402343" sldId="261"/>
            <ac:spMk id="3" creationId="{10DB3307-46A7-C7B7-5379-43CBB6320BF8}"/>
          </ac:spMkLst>
        </pc:spChg>
        <pc:spChg chg="add mod">
          <ac:chgData name="Nancy A. Odhiambo" userId="9fd03ea9-f642-46ed-82e0-72dc91a725bc" providerId="ADAL" clId="{6B025E33-D5BB-5DD4-954E-4AC3FAD535B9}" dt="2026-03-24T03:48:59.710" v="586"/>
          <ac:spMkLst>
            <pc:docMk/>
            <pc:sldMk cId="3865402343" sldId="261"/>
            <ac:spMk id="4" creationId="{E0AF4F27-BF7E-8C35-5EED-00A9A95028F6}"/>
          </ac:spMkLst>
        </pc:spChg>
        <pc:spChg chg="add del mod">
          <ac:chgData name="Nancy A. Odhiambo" userId="9fd03ea9-f642-46ed-82e0-72dc91a725bc" providerId="ADAL" clId="{6B025E33-D5BB-5DD4-954E-4AC3FAD535B9}" dt="2026-03-24T04:31:19.958" v="1939" actId="14100"/>
          <ac:spMkLst>
            <pc:docMk/>
            <pc:sldMk cId="3865402343" sldId="261"/>
            <ac:spMk id="5" creationId="{0F657839-AC5A-CBEC-68BD-5C169C5740B8}"/>
          </ac:spMkLst>
        </pc:spChg>
        <pc:spChg chg="add mod">
          <ac:chgData name="Nancy A. Odhiambo" userId="9fd03ea9-f642-46ed-82e0-72dc91a725bc" providerId="ADAL" clId="{6B025E33-D5BB-5DD4-954E-4AC3FAD535B9}" dt="2026-03-24T03:50:03.263" v="1053"/>
          <ac:spMkLst>
            <pc:docMk/>
            <pc:sldMk cId="3865402343" sldId="261"/>
            <ac:spMk id="6" creationId="{462E4BBD-A9E2-7A33-44CA-705C704EE9C3}"/>
          </ac:spMkLst>
        </pc:spChg>
        <pc:spChg chg="add mod">
          <ac:chgData name="Nancy A. Odhiambo" userId="9fd03ea9-f642-46ed-82e0-72dc91a725bc" providerId="ADAL" clId="{6B025E33-D5BB-5DD4-954E-4AC3FAD535B9}" dt="2026-03-24T04:08:42.917" v="1643" actId="478"/>
          <ac:spMkLst>
            <pc:docMk/>
            <pc:sldMk cId="3865402343" sldId="261"/>
            <ac:spMk id="7" creationId="{1375D565-B110-F90F-A070-10671DFEEB23}"/>
          </ac:spMkLst>
        </pc:spChg>
        <pc:spChg chg="add del mod">
          <ac:chgData name="Nancy A. Odhiambo" userId="9fd03ea9-f642-46ed-82e0-72dc91a725bc" providerId="ADAL" clId="{6B025E33-D5BB-5DD4-954E-4AC3FAD535B9}" dt="2026-03-24T04:08:44.616" v="1644" actId="478"/>
          <ac:spMkLst>
            <pc:docMk/>
            <pc:sldMk cId="3865402343" sldId="261"/>
            <ac:spMk id="8" creationId="{BAAC6169-C1CE-EE5A-EDB1-D24E66F4A940}"/>
          </ac:spMkLst>
        </pc:spChg>
        <pc:spChg chg="add del mod">
          <ac:chgData name="Nancy A. Odhiambo" userId="9fd03ea9-f642-46ed-82e0-72dc91a725bc" providerId="ADAL" clId="{6B025E33-D5BB-5DD4-954E-4AC3FAD535B9}" dt="2026-03-24T04:08:44.616" v="1644" actId="478"/>
          <ac:spMkLst>
            <pc:docMk/>
            <pc:sldMk cId="3865402343" sldId="261"/>
            <ac:spMk id="9" creationId="{7731369C-25C6-4539-52D3-470DF230526A}"/>
          </ac:spMkLst>
        </pc:spChg>
        <pc:spChg chg="add mod">
          <ac:chgData name="Nancy A. Odhiambo" userId="9fd03ea9-f642-46ed-82e0-72dc91a725bc" providerId="ADAL" clId="{6B025E33-D5BB-5DD4-954E-4AC3FAD535B9}" dt="2026-03-24T04:08:42.917" v="1643" actId="478"/>
          <ac:spMkLst>
            <pc:docMk/>
            <pc:sldMk cId="3865402343" sldId="261"/>
            <ac:spMk id="10" creationId="{9AFE843B-0EC6-7C80-72F9-2DA8A4E58788}"/>
          </ac:spMkLst>
        </pc:spChg>
        <pc:spChg chg="add mod">
          <ac:chgData name="Nancy A. Odhiambo" userId="9fd03ea9-f642-46ed-82e0-72dc91a725bc" providerId="ADAL" clId="{6B025E33-D5BB-5DD4-954E-4AC3FAD535B9}" dt="2026-03-24T04:08:42.917" v="1643" actId="478"/>
          <ac:spMkLst>
            <pc:docMk/>
            <pc:sldMk cId="3865402343" sldId="261"/>
            <ac:spMk id="12" creationId="{2FDC1D21-0ACE-1342-0B95-871DFDFBAA6C}"/>
          </ac:spMkLst>
        </pc:spChg>
        <pc:spChg chg="add del mod">
          <ac:chgData name="Nancy A. Odhiambo" userId="9fd03ea9-f642-46ed-82e0-72dc91a725bc" providerId="ADAL" clId="{6B025E33-D5BB-5DD4-954E-4AC3FAD535B9}" dt="2026-03-24T04:35:00.185" v="1968" actId="20577"/>
          <ac:spMkLst>
            <pc:docMk/>
            <pc:sldMk cId="3865402343" sldId="261"/>
            <ac:spMk id="50" creationId="{AB71F360-BB8B-D375-3180-E5F2E2514D50}"/>
          </ac:spMkLst>
        </pc:spChg>
        <pc:picChg chg="add del mod">
          <ac:chgData name="Nancy A. Odhiambo" userId="9fd03ea9-f642-46ed-82e0-72dc91a725bc" providerId="ADAL" clId="{6B025E33-D5BB-5DD4-954E-4AC3FAD535B9}" dt="2026-03-24T04:08:44.616" v="1644" actId="478"/>
          <ac:picMkLst>
            <pc:docMk/>
            <pc:sldMk cId="3865402343" sldId="261"/>
            <ac:picMk id="11" creationId="{BB728658-9F61-908A-3DCE-2DBBF3565C0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Poster Template" preserve="1" userDrawn="1">
  <p:cSld name="Research Poster Template 3 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4"/>
          <p:cNvCxnSpPr/>
          <p:nvPr/>
        </p:nvCxnSpPr>
        <p:spPr>
          <a:xfrm>
            <a:off x="11307763" y="899229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1" name="Google Shape;21;p4"/>
          <p:cNvSpPr txBox="1">
            <a:spLocks noGrp="1"/>
          </p:cNvSpPr>
          <p:nvPr>
            <p:ph type="body" idx="1" hasCustomPrompt="1"/>
          </p:nvPr>
        </p:nvSpPr>
        <p:spPr>
          <a:xfrm>
            <a:off x="914398" y="6859659"/>
            <a:ext cx="13716001" cy="2334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64285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lang="en-US" dirty="0"/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Functional connectivity (FC) is important for understanding neurodegenerative diseases and psychiatric disorders.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FC-based clustering of multi-subject fMRI data can inform physicians about patient diagnoses.</a:t>
            </a:r>
          </a:p>
          <a:p>
            <a:pPr marL="914400" lvl="1" indent="-457200">
              <a:lnSpc>
                <a:spcPct val="164285"/>
              </a:lnSpc>
              <a:spcBef>
                <a:spcPts val="1200"/>
              </a:spcBef>
              <a:buClr>
                <a:schemeClr val="dk2"/>
              </a:buClr>
              <a:buSzPts val="3500"/>
              <a:buFont typeface="Arial"/>
              <a:buChar char="•"/>
            </a:pPr>
            <a:r>
              <a:rPr lang="en-US" sz="3000" dirty="0">
                <a:solidFill>
                  <a:schemeClr val="accent4">
                    <a:lumMod val="50000"/>
                  </a:schemeClr>
                </a:solidFill>
              </a:rPr>
              <a:t>We propose a random covariance clustering model (RCCM) to cluster individuals based on FC, estimate individual FC networks, and to infer shared network features.</a:t>
            </a:r>
          </a:p>
          <a:p>
            <a:pPr marL="0" marR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BBB"/>
                </a:solidFill>
                <a:latin typeface="Arial"/>
                <a:ea typeface="Arial"/>
                <a:cs typeface="Arial"/>
                <a:sym typeface="Arial"/>
              </a:rPr>
              <a:t>Hierarchical Model</a:t>
            </a:r>
            <a:endParaRPr lang="en-US" sz="3800" dirty="0">
              <a:solidFill>
                <a:schemeClr val="dk1"/>
              </a:solidFill>
            </a:endParaRPr>
          </a:p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4"/>
          </p:nvPr>
        </p:nvSpPr>
        <p:spPr>
          <a:xfrm>
            <a:off x="15220335" y="6832926"/>
            <a:ext cx="13450530" cy="2340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6"/>
          </p:nvPr>
        </p:nvSpPr>
        <p:spPr>
          <a:xfrm>
            <a:off x="29880232" y="6859658"/>
            <a:ext cx="13112442" cy="2328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D64A777-8221-90AB-7F62-34B53C1013C0}"/>
                  </a:ext>
                </a:extLst>
              </p:cNvPr>
              <p:cNvGraphicFramePr>
                <a:graphicFrameLocks noGrp="1"/>
              </p:cNvGraphicFramePr>
              <p:nvPr userDrawn="1">
                <p:extLst>
                  <p:ext uri="{D42A27DB-BD31-4B8C-83A1-F6EECF244321}">
                    <p14:modId xmlns:p14="http://schemas.microsoft.com/office/powerpoint/2010/main" val="3180680857"/>
                  </p:ext>
                </p:extLst>
              </p:nvPr>
            </p:nvGraphicFramePr>
            <p:xfrm>
              <a:off x="648929" y="14846709"/>
              <a:ext cx="15102348" cy="8190271"/>
            </p:xfrm>
            <a:graphic>
              <a:graphicData uri="http://schemas.openxmlformats.org/drawingml/2006/table">
                <a:tbl>
                  <a:tblPr firstRow="1" bandRow="1">
                    <a:tableStyleId>{FA1151E8-28CC-4D0A-90E6-D913D1850F2D}</a:tableStyleId>
                  </a:tblPr>
                  <a:tblGrid>
                    <a:gridCol w="2856315">
                      <a:extLst>
                        <a:ext uri="{9D8B030D-6E8A-4147-A177-3AD203B41FA5}">
                          <a16:colId xmlns:a16="http://schemas.microsoft.com/office/drawing/2014/main" val="1191074651"/>
                        </a:ext>
                      </a:extLst>
                    </a:gridCol>
                    <a:gridCol w="6631900">
                      <a:extLst>
                        <a:ext uri="{9D8B030D-6E8A-4147-A177-3AD203B41FA5}">
                          <a16:colId xmlns:a16="http://schemas.microsoft.com/office/drawing/2014/main" val="2841301798"/>
                        </a:ext>
                      </a:extLst>
                    </a:gridCol>
                    <a:gridCol w="5614133">
                      <a:extLst>
                        <a:ext uri="{9D8B030D-6E8A-4147-A177-3AD203B41FA5}">
                          <a16:colId xmlns:a16="http://schemas.microsoft.com/office/drawing/2014/main" val="3617628030"/>
                        </a:ext>
                      </a:extLst>
                    </a:gridCol>
                  </a:tblGrid>
                  <a:tr h="1224217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dirty="0">
                              <a:effectLst/>
                            </a:rPr>
                            <a:t>Interpretation</a:t>
                          </a:r>
                          <a:endParaRPr lang="en-US" sz="3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8523086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𝟎𝐠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}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𝐺</m:t>
                              </m:r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cluster-level precision matrices describing group-level FC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39924968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𝑖𝑖𝑑</m:t>
                                    </m:r>
                                  </m:lim>
                                </m:limUpp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𝐺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𝑔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𝟎𝐠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subject-level precision matrices describing unique individual-level FC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68420601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0" u="none" strike="noStrike" cap="non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{{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𝐤𝐭</m:t>
                                    </m:r>
                                  </m:sub>
                                </m:sSub>
                                <m:r>
                                  <a:rPr lang="en-US" sz="3600" b="0" i="0" u="none" strike="noStrike" cap="none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  <a:sym typeface="Arial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𝛀</m:t>
                                    </m:r>
                                  </m:e>
                                  <m:sub>
                                    <m:r>
                                      <a:rPr lang="en-US" sz="3600" b="1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𝐤</m:t>
                                    </m:r>
                                  </m:sub>
                                </m:sSub>
                                <m:limUpp>
                                  <m:limUpp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∼</m:t>
                                    </m:r>
                                  </m:e>
                                  <m:lim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𝑖𝑛𝑑</m:t>
                                    </m:r>
                                  </m:lim>
                                </m:limUpp>
                                <m:sSub>
                                  <m:sSub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𝒩</m:t>
                                    </m:r>
                                  </m:e>
                                  <m:sub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𝑝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36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𝛍</m:t>
                                        </m:r>
                                      </m:e>
                                      <m:sub>
                                        <m:r>
                                          <a:rPr lang="en-US" sz="3600" b="1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𝛀</m:t>
                                        </m:r>
                                      </m:e>
                                      <m:sub>
                                        <m:r>
                                          <a:rPr lang="en-US" sz="3600" b="1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𝐤</m:t>
                                        </m:r>
                                      </m:sub>
                                    </m:sSub>
                                  </m:e>
                                </m:d>
                                <m:limLow>
                                  <m:limLow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sSub>
                                          <m:sSubPr>
                                            <m:ctrlPr>
                                              <a:rPr lang="en-US" sz="36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6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3600" b="0" i="1" u="none" strike="noStrike" cap="none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Arial"/>
                                                <a:cs typeface="Arial"/>
                                                <a:sym typeface="Arial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𝑡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  <m:limLow>
                                  <m:limLowPr>
                                    <m:ctrlP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</m:ctrlPr>
                                  </m:limLowPr>
                                  <m:e>
                                    <m:limUpp>
                                      <m:limUppPr>
                                        <m:ctrlP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3600" b="0" i="0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}</m:t>
                                        </m:r>
                                      </m:e>
                                      <m:lim>
                                        <m:r>
                                          <a:rPr lang="en-US" sz="3600" b="0" i="1" u="none" strike="noStrike" cap="none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Arial"/>
                                            <a:cs typeface="Arial"/>
                                            <a:sym typeface="Arial"/>
                                          </a:rPr>
                                          <m:t>𝐾</m:t>
                                        </m:r>
                                      </m:lim>
                                    </m:limUpp>
                                  </m:e>
                                  <m:lim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𝑘</m:t>
                                    </m:r>
                                    <m:r>
                                      <a:rPr lang="en-US" sz="3600" b="0" i="0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=</m:t>
                                    </m:r>
                                    <m:r>
                                      <a:rPr lang="en-US" sz="3600" b="0" i="1" u="none" strike="noStrike" cap="none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  <a:sym typeface="Arial"/>
                                      </a:rPr>
                                      <m:t>1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6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457200" algn="l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Set of fMRI signals consisting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0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b="0" i="0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observations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8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variables for subject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𝑘</m:t>
                              </m:r>
                            </m:oMath>
                          </a14:m>
                          <a:endParaRPr lang="en-US" sz="28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4433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D64A777-8221-90AB-7F62-34B53C1013C0}"/>
                  </a:ext>
                </a:extLst>
              </p:cNvPr>
              <p:cNvGraphicFramePr>
                <a:graphicFrameLocks noGrp="1"/>
              </p:cNvGraphicFramePr>
              <p:nvPr userDrawn="1">
                <p:extLst>
                  <p:ext uri="{D42A27DB-BD31-4B8C-83A1-F6EECF244321}">
                    <p14:modId xmlns:p14="http://schemas.microsoft.com/office/powerpoint/2010/main" val="3180680857"/>
                  </p:ext>
                </p:extLst>
              </p:nvPr>
            </p:nvGraphicFramePr>
            <p:xfrm>
              <a:off x="648929" y="14846709"/>
              <a:ext cx="15102348" cy="8190271"/>
            </p:xfrm>
            <a:graphic>
              <a:graphicData uri="http://schemas.openxmlformats.org/drawingml/2006/table">
                <a:tbl>
                  <a:tblPr firstRow="1" bandRow="1">
                    <a:tableStyleId>{FA1151E8-28CC-4D0A-90E6-D913D1850F2D}</a:tableStyleId>
                  </a:tblPr>
                  <a:tblGrid>
                    <a:gridCol w="2856315">
                      <a:extLst>
                        <a:ext uri="{9D8B030D-6E8A-4147-A177-3AD203B41FA5}">
                          <a16:colId xmlns:a16="http://schemas.microsoft.com/office/drawing/2014/main" val="1191074651"/>
                        </a:ext>
                      </a:extLst>
                    </a:gridCol>
                    <a:gridCol w="6631900">
                      <a:extLst>
                        <a:ext uri="{9D8B030D-6E8A-4147-A177-3AD203B41FA5}">
                          <a16:colId xmlns:a16="http://schemas.microsoft.com/office/drawing/2014/main" val="2841301798"/>
                        </a:ext>
                      </a:extLst>
                    </a:gridCol>
                    <a:gridCol w="5614133">
                      <a:extLst>
                        <a:ext uri="{9D8B030D-6E8A-4147-A177-3AD203B41FA5}">
                          <a16:colId xmlns:a16="http://schemas.microsoft.com/office/drawing/2014/main" val="3617628030"/>
                        </a:ext>
                      </a:extLst>
                    </a:gridCol>
                  </a:tblGrid>
                  <a:tr h="1224217">
                    <a:tc>
                      <a:txBody>
                        <a:bodyPr/>
                        <a:lstStyle/>
                        <a:p>
                          <a:pPr marL="0" marR="0" indent="45720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Level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Model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l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3200" dirty="0">
                              <a:effectLst/>
                            </a:rPr>
                            <a:t>Interpretation</a:t>
                          </a:r>
                          <a:endParaRPr lang="en-US" sz="3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8523086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Cluster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199" t="-53018" r="-84835" b="-200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9164" t="-53018" r="-217" b="-200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924968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Subject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199" t="-152618" r="-84835" b="-100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9164" t="-152618" r="-217" b="-1002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420601"/>
                      </a:ext>
                    </a:extLst>
                  </a:tr>
                  <a:tr h="2322018">
                    <a:tc>
                      <a:txBody>
                        <a:bodyPr/>
                        <a:lstStyle/>
                        <a:p>
                          <a:pPr marL="0" marR="0" indent="457200" algn="l" rtl="0">
                            <a:lnSpc>
                              <a:spcPct val="150000"/>
                            </a:lnSpc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3200" b="0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cs typeface="Arial"/>
                              <a:sym typeface="Arial"/>
                            </a:rPr>
                            <a:t>Observation</a:t>
                          </a:r>
                          <a:endParaRPr lang="en-US" sz="32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Cambria" panose="02040503050406030204" pitchFamily="18" charset="0"/>
                            <a:cs typeface="Arial"/>
                            <a:sym typeface="Arial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3199" t="-253281" r="-84835" b="-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69164" t="-253281" r="-217" b="-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433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0222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>
          <p15:clr>
            <a:srgbClr val="FBAE40"/>
          </p15:clr>
        </p15:guide>
        <p15:guide id="2" pos="9216" userDrawn="1">
          <p15:clr>
            <a:srgbClr val="FBAE40"/>
          </p15:clr>
        </p15:guide>
        <p15:guide id="3" pos="184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Poster Template" preserve="1" userDrawn="1">
  <p:cSld name="Research Poster Template 3 Column Empt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4"/>
          <p:cNvCxnSpPr/>
          <p:nvPr/>
        </p:nvCxnSpPr>
        <p:spPr>
          <a:xfrm>
            <a:off x="11307763" y="899229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914398" y="6859659"/>
            <a:ext cx="13716001" cy="2334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64285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4"/>
          </p:nvPr>
        </p:nvSpPr>
        <p:spPr>
          <a:xfrm>
            <a:off x="15220335" y="6832926"/>
            <a:ext cx="13450530" cy="2340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6"/>
          </p:nvPr>
        </p:nvSpPr>
        <p:spPr>
          <a:xfrm>
            <a:off x="29880232" y="6859658"/>
            <a:ext cx="13112442" cy="23286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4196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TR"/>
              <a:buChar char="-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0449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>
          <p15:clr>
            <a:srgbClr val="FBAE40"/>
          </p15:clr>
        </p15:guide>
        <p15:guide id="2" pos="9216" userDrawn="1">
          <p15:clr>
            <a:srgbClr val="FBAE40"/>
          </p15:clr>
        </p15:guide>
        <p15:guide id="3" pos="1843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 descr="alt=&quot;&quot;"/>
          <p:cNvSpPr/>
          <p:nvPr/>
        </p:nvSpPr>
        <p:spPr>
          <a:xfrm>
            <a:off x="0" y="30409662"/>
            <a:ext cx="43891200" cy="2508738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" descr="alt=&quot;&quot;"/>
          <p:cNvSpPr/>
          <p:nvPr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" descr="alt=&quot;&quot;"/>
          <p:cNvSpPr/>
          <p:nvPr/>
        </p:nvSpPr>
        <p:spPr>
          <a:xfrm>
            <a:off x="-1" y="5257800"/>
            <a:ext cx="43891201" cy="2612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25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3" descr="alt=&quot;&quot;"/>
          <p:cNvCxnSpPr/>
          <p:nvPr/>
        </p:nvCxnSpPr>
        <p:spPr>
          <a:xfrm>
            <a:off x="32696865" y="30837463"/>
            <a:ext cx="0" cy="1588169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4" name="Google Shape;14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554365" y="1216818"/>
            <a:ext cx="5443902" cy="3052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744" y="30969559"/>
            <a:ext cx="14811531" cy="130551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chigan.gov/pfasresponse/investigations/sites-aoi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gis-egle.hub.arcgis.com/search?q=pfasgi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s-egle.hub.arcgis.com/datasets/egle::pfas-surface-water-sampling/about" TargetMode="External"/><Relationship Id="rId5" Type="http://schemas.openxmlformats.org/officeDocument/2006/relationships/hyperlink" Target="https://www.epa.gov/system/files/documents/2024-04/pfas-npdwr_fact-sheet_hazard-index_4.8.24.pdf" TargetMode="External"/><Relationship Id="rId4" Type="http://schemas.openxmlformats.org/officeDocument/2006/relationships/hyperlink" Target="https://github.com/Nancy-Odhiambo/Michigan-PFAS-Data" TargetMode="External"/><Relationship Id="rId9" Type="http://schemas.openxmlformats.org/officeDocument/2006/relationships/hyperlink" Target="https://www.michigan.gov/pfasresponse/-/media/Project/Websites/PFAS-Response/Sampling-Guidance/Minimum-Laboratory-Analyte-List.pdf?rev=a35aba56ec5a4922b986f01e25c1a19d&amp;hash=04E6F164AA5F5CD29B83B3998334134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2F7C748-A7B8-994F-51B5-6A10DF85056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0" y="5619555"/>
                <a:ext cx="14630399" cy="24821957"/>
              </a:xfrm>
            </p:spPr>
            <p:txBody>
              <a:bodyPr/>
              <a:lstStyle/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 i="0" u="none" strike="noStrike" cap="none" dirty="0">
                    <a:solidFill>
                      <a:srgbClr val="005BBB"/>
                    </a:solidFill>
                    <a:latin typeface="Arial"/>
                    <a:ea typeface="Arial"/>
                    <a:cs typeface="Arial"/>
                    <a:sym typeface="Arial"/>
                  </a:rPr>
                  <a:t>Introduction</a:t>
                </a:r>
                <a:endParaRPr lang="en-US" dirty="0"/>
              </a:p>
              <a:p>
                <a:pPr marL="914400" lvl="1" indent="-457200">
                  <a:lnSpc>
                    <a:spcPct val="164285"/>
                  </a:lnSpc>
                  <a:spcBef>
                    <a:spcPts val="1200"/>
                  </a:spcBef>
                  <a:buClr>
                    <a:schemeClr val="dk2"/>
                  </a:buClr>
                  <a:buSzPts val="3500"/>
                  <a:buFont typeface="Arial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PFAS are persistent environmental contaminants with adverse health effects.</a:t>
                </a:r>
              </a:p>
              <a:p>
                <a:pPr marL="914400" lvl="1" indent="-457200">
                  <a:spcBef>
                    <a:spcPts val="1200"/>
                  </a:spcBef>
                  <a:buSzPts val="3500"/>
                  <a:buFont typeface="Arial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Analysis of monitoring data provides key insights into contamination patterns and cumulative health risks, supporting research and evidence-based policy decisions.</a:t>
                </a:r>
              </a:p>
              <a:p>
                <a:pPr marL="914400" lvl="1" indent="-457200">
                  <a:spcBef>
                    <a:spcPts val="1200"/>
                  </a:spcBef>
                  <a:buSzPts val="3500"/>
                  <a:buFont typeface="Arial"/>
                  <a:buChar char="•"/>
                </a:pPr>
                <a:r>
                  <a:rPr lang="en-US" sz="3200" dirty="0">
                    <a:solidFill>
                      <a:schemeClr val="accent4">
                        <a:lumMod val="50000"/>
                      </a:schemeClr>
                    </a:solidFill>
                  </a:rPr>
                  <a:t>As part of this work, an interactive dashboard was also developed to visualize and summarize the findings across Michigan.</a:t>
                </a: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marR="0" lvl="0" indent="0" algn="l" rtl="0">
                  <a:lnSpc>
                    <a:spcPct val="95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 b="1" dirty="0">
                    <a:solidFill>
                      <a:srgbClr val="005BBB"/>
                    </a:solidFill>
                  </a:rPr>
                  <a:t>Data Source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05BBB"/>
                  </a:buClr>
                  <a:buSzPts val="3500"/>
                  <a:buFont typeface="Arial"/>
                  <a:buNone/>
                  <a:tabLst/>
                  <a:defRPr/>
                </a:pPr>
                <a:r>
                  <a:rPr lang="en-US" sz="3200" dirty="0">
                    <a:solidFill>
                      <a:srgbClr val="666666">
                        <a:lumMod val="50000"/>
                      </a:srgbClr>
                    </a:solidFill>
                  </a:rPr>
                  <a:t>T</a:t>
                </a:r>
                <a:r>
                  <a:rPr kumimoji="0" lang="en-US" sz="3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he Michigan Department of Environment, Great Lakes, and Energy (EGLE) and the Michigan PFAS Action Response Team (MPART). Datasets used;</a:t>
                </a:r>
              </a:p>
              <a:p>
                <a:pPr marL="971550" marR="0" lvl="1" indent="-514350" algn="l" defTabSz="914400" rtl="0" eaLnBrk="1" fontAlgn="auto" latinLnBrk="0" hangingPunct="1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05BBB"/>
                  </a:buClr>
                  <a:buSzPts val="35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Surface Water Sampling Data</a:t>
                </a:r>
              </a:p>
              <a:p>
                <a:pPr marL="971550" marR="0" lvl="1" indent="-514350" algn="l" defTabSz="914400" rtl="0" eaLnBrk="1" fontAlgn="auto" latinLnBrk="0" hangingPunct="1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05BBB"/>
                  </a:buClr>
                  <a:buSzPts val="35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Public Water Supply Sampling Data</a:t>
                </a:r>
              </a:p>
              <a:p>
                <a:pPr marL="971550" marR="0" lvl="1" indent="-514350" algn="l" defTabSz="914400" rtl="0" eaLnBrk="1" fontAlgn="auto" latinLnBrk="0" hangingPunct="1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05BBB"/>
                  </a:buClr>
                  <a:buSzPts val="35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Michigan PFAS Sites Data</a:t>
                </a:r>
              </a:p>
              <a:p>
                <a:pPr marL="971550" marR="0" lvl="1" indent="-514350" algn="l" defTabSz="914400" rtl="0" eaLnBrk="1" fontAlgn="auto" latinLnBrk="0" hangingPunct="1">
                  <a:lnSpc>
                    <a:spcPct val="164285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05BBB"/>
                  </a:buClr>
                  <a:buSzPts val="35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PFAS Laboratory Analyte List (PDF)</a:t>
                </a:r>
              </a:p>
              <a:p>
                <a:pPr marL="0" lvl="0" indent="0">
                  <a:lnSpc>
                    <a:spcPct val="95833"/>
                  </a:lnSpc>
                </a:pPr>
                <a:endParaRPr lang="en-US" sz="4800" b="1" dirty="0">
                  <a:solidFill>
                    <a:srgbClr val="005BBB"/>
                  </a:solidFill>
                </a:endParaRPr>
              </a:p>
              <a:p>
                <a:pPr marL="0" lvl="0" indent="0">
                  <a:lnSpc>
                    <a:spcPct val="95833"/>
                  </a:lnSpc>
                </a:pPr>
                <a:r>
                  <a:rPr lang="en-US" sz="4800" b="1" dirty="0">
                    <a:solidFill>
                      <a:srgbClr val="005BBB"/>
                    </a:solidFill>
                  </a:rPr>
                  <a:t>Hazard Index EPA Definition</a:t>
                </a:r>
              </a:p>
              <a:p>
                <a:pPr marL="0" lvl="0" indent="0">
                  <a:lnSpc>
                    <a:spcPct val="95833"/>
                  </a:lnSpc>
                </a:pPr>
                <a:endParaRPr lang="en-US" sz="3200" dirty="0">
                  <a:solidFill>
                    <a:srgbClr val="666666">
                      <a:lumMod val="50000"/>
                    </a:srgb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𝑯𝑰</m:t>
                    </m:r>
                    <m:r>
                      <a:rPr lang="en-US" sz="32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32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𝒖𝒏𝒊𝒕𝒍𝒆𝒔𝒔</m:t>
                        </m:r>
                      </m:e>
                    </m:d>
                    <m:r>
                      <a:rPr lang="en-US" sz="32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2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𝑯𝑭𝑷𝑶</m:t>
                    </m:r>
                    <m:r>
                      <a:rPr lang="en-US" sz="32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𝑫𝑨</m:t>
                    </m:r>
                    <m:d>
                      <m:dPr>
                        <m:ctrlPr>
                          <a:rPr lang="en-US" sz="32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𝒑𝒑𝒕</m:t>
                        </m:r>
                      </m:e>
                    </m:d>
                    <m:r>
                      <a:rPr lang="en-US" sz="32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32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</a:rPr>
                  <a:t> (ppt) ) +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𝑷𝑭𝑩𝑺</m:t>
                    </m:r>
                    <m:d>
                      <m:dPr>
                        <m:ctrlPr>
                          <a:rPr lang="en-US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𝒑𝒑𝒕</m:t>
                        </m:r>
                      </m:e>
                    </m:d>
                    <m:r>
                      <a:rPr lang="en-US" sz="32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32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𝟐𝟎𝟎</m:t>
                    </m:r>
                    <m:r>
                      <a:rPr lang="en-US" sz="32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</a:rPr>
                  <a:t> (ppt) ) +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𝑷𝑭𝑵𝑨</m:t>
                    </m:r>
                    <m:d>
                      <m:dPr>
                        <m:ctrlPr>
                          <a:rPr lang="en-US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𝒑𝒑𝒕</m:t>
                        </m:r>
                      </m:e>
                    </m:d>
                    <m:r>
                      <a:rPr lang="en-US" sz="32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32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</a:rPr>
                  <a:t> (ppt) ) +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𝑷𝑭𝑯𝒙𝑺</m:t>
                    </m:r>
                    <m:r>
                      <a:rPr lang="en-US" sz="32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32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</a:rPr>
                  <a:t> (ppt ) ) </a:t>
                </a:r>
              </a:p>
              <a:p>
                <a:endParaRPr lang="en-US" sz="3200" b="1" dirty="0"/>
              </a:p>
              <a:p>
                <a:pPr marL="0" indent="0">
                  <a:lnSpc>
                    <a:spcPct val="95833"/>
                  </a:lnSpc>
                </a:pPr>
                <a:r>
                  <a:rPr lang="en-US" sz="4800" b="1" dirty="0">
                    <a:solidFill>
                      <a:srgbClr val="005BBB"/>
                    </a:solidFill>
                  </a:rPr>
                  <a:t>Analytical Framework</a:t>
                </a:r>
              </a:p>
              <a:p>
                <a:pPr lvl="1">
                  <a:spcBef>
                    <a:spcPts val="1200"/>
                  </a:spcBef>
                  <a:buSzPts val="3500"/>
                </a:pPr>
                <a:r>
                  <a:rPr lang="en-US" sz="3200" dirty="0"/>
                  <a:t>This analysis integrates PFAS datasets into a unified framework for geospatial harmonization, data transformation, and construction of a weighted Hazard Index from key analytes, enabling hierarchical aggregation and decomposition of risk across sites, systems, and counties. It emphasizes multi-scale analytical exploration to identify dominant contributors, quantify cumulative exposure, and reveal spatial patterns of PFAS risk in Michigan</a:t>
                </a:r>
                <a:endParaRPr lang="en-US" sz="3200" dirty="0">
                  <a:solidFill>
                    <a:srgbClr val="666666">
                      <a:lumMod val="50000"/>
                    </a:srgbClr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2F7C748-A7B8-994F-51B5-6A10DF850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5619555"/>
                <a:ext cx="14630399" cy="24821957"/>
              </a:xfrm>
              <a:blipFill>
                <a:blip r:embed="rId2"/>
                <a:stretch>
                  <a:fillRect l="-1997" t="-716" r="-1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57839-AC5A-CBEC-68BD-5C169C5740B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4895095" y="5629335"/>
            <a:ext cx="14101012" cy="2481217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5BBB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Results and Findings</a:t>
            </a:r>
          </a:p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rial"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666666">
                  <a:lumMod val="50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indent="-228600">
              <a:spcBef>
                <a:spcPts val="2200"/>
              </a:spcBef>
              <a:spcAft>
                <a:spcPts val="2200"/>
              </a:spcAft>
              <a:buClr>
                <a:schemeClr val="dk1"/>
              </a:buClr>
              <a:buNone/>
            </a:pPr>
            <a:endParaRPr lang="en-US" sz="1200" i="1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-228600">
              <a:spcBef>
                <a:spcPts val="2200"/>
              </a:spcBef>
              <a:spcAft>
                <a:spcPts val="2200"/>
              </a:spcAft>
              <a:buClr>
                <a:schemeClr val="dk1"/>
              </a:buClr>
              <a:buNone/>
            </a:pPr>
            <a:endParaRPr lang="en-US" sz="800" i="1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-228600">
              <a:spcBef>
                <a:spcPts val="2200"/>
              </a:spcBef>
              <a:spcAft>
                <a:spcPts val="2200"/>
              </a:spcAft>
              <a:buClr>
                <a:schemeClr val="dk1"/>
              </a:buClr>
              <a:buNone/>
            </a:pPr>
            <a:endParaRPr lang="en-US" sz="3200" i="1" dirty="0">
              <a:solidFill>
                <a:schemeClr val="accent4">
                  <a:lumMod val="50000"/>
                </a:schemeClr>
              </a:solidFill>
              <a:latin typeface="+mn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Clr>
                <a:srgbClr val="7F7F7F"/>
              </a:buClr>
            </a:pPr>
            <a:endParaRPr lang="en-US" sz="3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Google Shape;36;p1">
            <a:extLst>
              <a:ext uri="{FF2B5EF4-FFF2-40B4-BE49-F238E27FC236}">
                <a16:creationId xmlns:a16="http://schemas.microsoft.com/office/drawing/2014/main" id="{BAAC6169-C1CE-EE5A-EDB1-D24E66F4A940}"/>
              </a:ext>
            </a:extLst>
          </p:cNvPr>
          <p:cNvSpPr/>
          <p:nvPr/>
        </p:nvSpPr>
        <p:spPr>
          <a:xfrm>
            <a:off x="999938" y="1095482"/>
            <a:ext cx="41224200" cy="4524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25" tIns="45600" rIns="91225" bIns="456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>
                <a:solidFill>
                  <a:schemeClr val="lt1"/>
                </a:solidFill>
              </a:rPr>
              <a:t>A Spatial Analysis of PFAS Pollution in Michigan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lang="en-US" sz="2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Bef>
                <a:spcPts val="1800"/>
              </a:spcBef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Nancy Odhiambo</a:t>
            </a:r>
            <a:r>
              <a:rPr lang="en-US" sz="3600" baseline="30000" dirty="0">
                <a:solidFill>
                  <a:schemeClr val="lt1"/>
                </a:solidFill>
              </a:rPr>
              <a:t>, </a:t>
            </a:r>
            <a:r>
              <a:rPr lang="en-US" sz="3600" dirty="0">
                <a:solidFill>
                  <a:schemeClr val="lt1"/>
                </a:solidFill>
              </a:rPr>
              <a:t>Andrew DiLernia</a:t>
            </a:r>
            <a:endParaRPr lang="en-US" sz="3600" baseline="30000" dirty="0">
              <a:solidFill>
                <a:schemeClr val="lt1"/>
              </a:solidFill>
            </a:endParaRPr>
          </a:p>
          <a:p>
            <a:pPr lvl="0">
              <a:spcBef>
                <a:spcPts val="1800"/>
              </a:spcBef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Statistics, Grand Valley State University </a:t>
            </a:r>
            <a:endParaRPr dirty="0"/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74;p1">
            <a:extLst>
              <a:ext uri="{FF2B5EF4-FFF2-40B4-BE49-F238E27FC236}">
                <a16:creationId xmlns:a16="http://schemas.microsoft.com/office/drawing/2014/main" id="{7731369C-25C6-4539-52D3-470DF230526A}"/>
              </a:ext>
            </a:extLst>
          </p:cNvPr>
          <p:cNvSpPr/>
          <p:nvPr/>
        </p:nvSpPr>
        <p:spPr>
          <a:xfrm>
            <a:off x="33196429" y="30840633"/>
            <a:ext cx="9780371" cy="1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Statistics</a:t>
            </a:r>
            <a:b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Grand Valley State University</a:t>
            </a:r>
            <a:endParaRPr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gvsu.edu</a:t>
            </a:r>
            <a:endParaRPr dirty="0"/>
          </a:p>
          <a:p>
            <a:pPr marL="0" marR="0" lvl="0" indent="0" algn="l" rtl="0">
              <a:spcBef>
                <a:spcPts val="8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76;p1">
            <a:extLst>
              <a:ext uri="{FF2B5EF4-FFF2-40B4-BE49-F238E27FC236}">
                <a16:creationId xmlns:a16="http://schemas.microsoft.com/office/drawing/2014/main" id="{BB728658-9F61-908A-3DCE-2DBBF3565C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05108" y="30752684"/>
            <a:ext cx="1905000" cy="1905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AB71F360-BB8B-D375-3180-E5F2E2514D50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28996106" y="5619555"/>
            <a:ext cx="14895094" cy="24812177"/>
          </a:xfrm>
        </p:spPr>
        <p:txBody>
          <a:bodyPr/>
          <a:lstStyle/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endParaRPr lang="en-US" sz="4800" b="1" dirty="0">
              <a:solidFill>
                <a:srgbClr val="005BBB"/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r>
              <a:rPr lang="en-US" sz="4800" b="1" dirty="0">
                <a:solidFill>
                  <a:srgbClr val="005BBB"/>
                </a:solidFill>
              </a:rPr>
              <a:t>Conclusion</a:t>
            </a:r>
          </a:p>
          <a:p>
            <a:pPr lvl="1" indent="-457200">
              <a:spcBef>
                <a:spcPts val="1200"/>
              </a:spcBef>
              <a:buSzPts val="3500"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PFAS data analysis enhances accessibility to the cumulative risk </a:t>
            </a:r>
          </a:p>
          <a:p>
            <a:pPr lvl="1" indent="-457200">
              <a:spcBef>
                <a:spcPts val="1200"/>
              </a:spcBef>
              <a:buSzPts val="3500"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The hazard Index consolidates multiple chemicals into an intuitive scale for public awareness and policy improvement</a:t>
            </a:r>
          </a:p>
          <a:p>
            <a:pPr lvl="1" indent="-457200">
              <a:spcBef>
                <a:spcPts val="1200"/>
              </a:spcBef>
              <a:buSzPts val="3500"/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The insights that have been discovered from this analysis enables evidence-based decisions, improve transparency, and guide environmental management</a:t>
            </a:r>
          </a:p>
          <a:p>
            <a:pPr marL="0" indent="0">
              <a:lnSpc>
                <a:spcPct val="95833"/>
              </a:lnSpc>
              <a:buNone/>
            </a:pPr>
            <a:r>
              <a:rPr lang="en-US" sz="4800" b="1" dirty="0">
                <a:solidFill>
                  <a:srgbClr val="005BBB"/>
                </a:solidFill>
              </a:rPr>
              <a:t>Software &amp; Tools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Frontend: Leaflet, Plotly – Backend: R, Quarto, Markdown, JavaScript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</a:pPr>
            <a:r>
              <a:rPr lang="en-US" sz="3200" dirty="0">
                <a:solidFill>
                  <a:schemeClr val="accent4">
                    <a:lumMod val="50000"/>
                  </a:schemeClr>
                </a:solidFill>
              </a:rPr>
              <a:t>Hosting: GitHub: 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hlinkClick r:id="rId4"/>
              </a:rPr>
              <a:t>https://github.com/Nancy-Odhiambo/Michigan-PFAS-Data</a:t>
            </a:r>
            <a:endParaRPr lang="en-US" sz="1600" dirty="0">
              <a:solidFill>
                <a:schemeClr val="accent4">
                  <a:lumMod val="50000"/>
                </a:schemeClr>
              </a:solidFill>
            </a:endParaRPr>
          </a:p>
          <a:p>
            <a:pPr marL="0" lvl="0" indent="0">
              <a:lnSpc>
                <a:spcPct val="95833"/>
              </a:lnSpc>
              <a:buNone/>
            </a:pPr>
            <a:r>
              <a:rPr lang="en-US" sz="4800" b="1" dirty="0">
                <a:solidFill>
                  <a:srgbClr val="005BBB"/>
                </a:solidFill>
              </a:rPr>
              <a:t>References</a:t>
            </a:r>
          </a:p>
          <a:p>
            <a:pPr marL="514350" lvl="0" indent="-514350">
              <a:lnSpc>
                <a:spcPct val="95833"/>
              </a:lnSpc>
              <a:buClr>
                <a:schemeClr val="dk1"/>
              </a:buClr>
              <a:buFont typeface="+mj-lt"/>
              <a:buAutoNum type="arabicPeriod"/>
            </a:pPr>
            <a:endParaRPr lang="en-US" sz="12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r>
              <a:rPr lang="en-US" sz="2500" dirty="0">
                <a:solidFill>
                  <a:schemeClr val="accent4">
                    <a:lumMod val="50000"/>
                  </a:schemeClr>
                </a:solidFill>
                <a:hlinkClick r:id="rId5"/>
              </a:rPr>
              <a:t>https://www.epa.gov/system/files/documents/2024-04/pfas-npdwr_fact-sheet_hazard-index_4.8.24.pdf</a:t>
            </a: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r>
              <a:rPr lang="en-US" sz="2500" dirty="0">
                <a:solidFill>
                  <a:schemeClr val="accent4">
                    <a:lumMod val="50000"/>
                  </a:schemeClr>
                </a:solidFill>
                <a:hlinkClick r:id="rId6"/>
              </a:rPr>
              <a:t>https://gis-egle.hub.arcgis.com/datasets/egle::pfas-surface-water-sampling/about</a:t>
            </a: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r>
              <a:rPr lang="en-US" sz="2500" dirty="0">
                <a:solidFill>
                  <a:schemeClr val="accent4">
                    <a:lumMod val="50000"/>
                  </a:schemeClr>
                </a:solidFill>
                <a:hlinkClick r:id="rId7"/>
              </a:rPr>
              <a:t>https://gis-egle.hub.arcgis.com/search?q=pfasgis</a:t>
            </a: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r>
              <a:rPr lang="en-US" sz="2500" dirty="0">
                <a:solidFill>
                  <a:schemeClr val="accent4">
                    <a:lumMod val="50000"/>
                  </a:schemeClr>
                </a:solidFill>
                <a:hlinkClick r:id="rId8"/>
              </a:rPr>
              <a:t>https://www.michigan.gov/pfasresponse/investigations/sites-aoi</a:t>
            </a: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r>
              <a:rPr lang="en-US" sz="2500" dirty="0">
                <a:solidFill>
                  <a:schemeClr val="accent4">
                    <a:lumMod val="50000"/>
                  </a:schemeClr>
                </a:solidFill>
                <a:hlinkClick r:id="rId9"/>
              </a:rPr>
              <a:t>https://www.michigan.gov/pfasresponse/-/media/Project/Websites/PFAS-Response/Sampling-Guidance/Minimum-Laboratory-Analyte-List.pdf?rev=a35aba56ec5a4922b986f01e25c1a19d&amp;hash=04E6F164AA5F5CD29B83B39983341345</a:t>
            </a: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lvl="0" indent="-514350">
              <a:lnSpc>
                <a:spcPct val="9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+mj-lt"/>
              <a:buAutoNum type="arabicPeriod"/>
            </a:pPr>
            <a:endParaRPr lang="en-US" sz="2500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>
              <a:lnSpc>
                <a:spcPct val="95833"/>
              </a:lnSpc>
              <a:buClr>
                <a:schemeClr val="dk1"/>
              </a:buClr>
              <a:buNone/>
            </a:pPr>
            <a:endParaRPr lang="en-US" sz="2500" dirty="0"/>
          </a:p>
          <a:p>
            <a:pPr marL="514350" lvl="0" indent="-514350">
              <a:lnSpc>
                <a:spcPct val="95833"/>
              </a:lnSpc>
              <a:buClr>
                <a:schemeClr val="dk1"/>
              </a:buClr>
              <a:buFont typeface="+mj-lt"/>
              <a:buAutoNum type="arabicPeriod"/>
            </a:pPr>
            <a:endParaRPr lang="en-US" sz="3000" dirty="0">
              <a:solidFill>
                <a:schemeClr val="accent4">
                  <a:lumMod val="50000"/>
                </a:schemeClr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402343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430</Words>
  <Application>Microsoft Macintosh PowerPoint</Application>
  <PresentationFormat>Custom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Cambria</vt:lpstr>
      <vt:lpstr>Cambria Math</vt:lpstr>
      <vt:lpstr>NTR</vt:lpstr>
      <vt:lpstr>Times New Roman</vt:lpstr>
      <vt:lpstr>Research Poster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Nancy A. Odhiambo</cp:lastModifiedBy>
  <cp:revision>86</cp:revision>
  <dcterms:created xsi:type="dcterms:W3CDTF">2019-03-28T18:35:19Z</dcterms:created>
  <dcterms:modified xsi:type="dcterms:W3CDTF">2026-03-24T04:35:09Z</dcterms:modified>
</cp:coreProperties>
</file>