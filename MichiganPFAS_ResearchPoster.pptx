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1" r:id="rId2"/>
  </p:sldIdLst>
  <p:sldSz cx="43891200" cy="329184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9" roundtripDataSignature="AMtx7mi8fLYElh59t4jHQwYsQUndL0Eu8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30288F-FEDA-6646-84E1-AC52C188561A}" v="273" dt="2026-03-18T12:57:36.893"/>
  </p1510:revLst>
</p1510:revInfo>
</file>

<file path=ppt/tableStyles.xml><?xml version="1.0" encoding="utf-8"?>
<a:tblStyleLst xmlns:a="http://schemas.openxmlformats.org/drawingml/2006/main" def="{FA1151E8-28CC-4D0A-90E6-D913D1850F2D}">
  <a:tblStyle styleId="{FA1151E8-28CC-4D0A-90E6-D913D1850F2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65" autoAdjust="0"/>
    <p:restoredTop sz="94715"/>
  </p:normalViewPr>
  <p:slideViewPr>
    <p:cSldViewPr snapToGrid="0">
      <p:cViewPr varScale="1">
        <p:scale>
          <a:sx n="24" d="100"/>
          <a:sy n="24" d="100"/>
        </p:scale>
        <p:origin x="1928" y="272"/>
      </p:cViewPr>
      <p:guideLst>
        <p:guide orient="horz" pos="10368"/>
        <p:guide pos="13824"/>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tableStyles" Target="tableStyles.xml"/><Relationship Id="rId3"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viewProps" Target="viewProps.xml"/><Relationship Id="rId10" Type="http://schemas.openxmlformats.org/officeDocument/2006/relationships/presProps" Target="presProps.xml"/><Relationship Id="rId9" Type="http://customschemas.google.com/relationships/presentationmetadata" Target="metadata"/><Relationship Id="rId1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esearch Poster Template" preserve="1" userDrawn="1">
  <p:cSld name="Research Poster Template 3 Columns">
    <p:spTree>
      <p:nvGrpSpPr>
        <p:cNvPr id="1" name="Shape 16"/>
        <p:cNvGrpSpPr/>
        <p:nvPr/>
      </p:nvGrpSpPr>
      <p:grpSpPr>
        <a:xfrm>
          <a:off x="0" y="0"/>
          <a:ext cx="0" cy="0"/>
          <a:chOff x="0" y="0"/>
          <a:chExt cx="0" cy="0"/>
        </a:xfrm>
      </p:grpSpPr>
      <p:cxnSp>
        <p:nvCxnSpPr>
          <p:cNvPr id="18" name="Google Shape;18;p4"/>
          <p:cNvCxnSpPr/>
          <p:nvPr/>
        </p:nvCxnSpPr>
        <p:spPr>
          <a:xfrm>
            <a:off x="11307763" y="8992295"/>
            <a:ext cx="914400" cy="914400"/>
          </a:xfrm>
          <a:prstGeom prst="straightConnector1">
            <a:avLst/>
          </a:prstGeom>
          <a:noFill/>
          <a:ln>
            <a:noFill/>
          </a:ln>
        </p:spPr>
      </p:cxnSp>
      <p:sp>
        <p:nvSpPr>
          <p:cNvPr id="21" name="Google Shape;21;p4"/>
          <p:cNvSpPr txBox="1">
            <a:spLocks noGrp="1"/>
          </p:cNvSpPr>
          <p:nvPr>
            <p:ph type="body" idx="1" hasCustomPrompt="1"/>
          </p:nvPr>
        </p:nvSpPr>
        <p:spPr>
          <a:xfrm>
            <a:off x="914398" y="6859659"/>
            <a:ext cx="13716001" cy="233450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64285"/>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L="457200" marR="0" lvl="1" indent="0" algn="l" rtl="0">
              <a:lnSpc>
                <a:spcPct val="164285"/>
              </a:lnSpc>
              <a:spcBef>
                <a:spcPts val="0"/>
              </a:spcBef>
              <a:spcAft>
                <a:spcPts val="1200"/>
              </a:spcAft>
              <a:buClr>
                <a:schemeClr val="dk2"/>
              </a:buClr>
              <a:buSzPts val="2800"/>
              <a:buFont typeface="Arial"/>
              <a:buNone/>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marR="0" lvl="0" indent="0" algn="l" rtl="0">
              <a:lnSpc>
                <a:spcPct val="95833"/>
              </a:lnSpc>
              <a:spcBef>
                <a:spcPts val="0"/>
              </a:spcBef>
              <a:spcAft>
                <a:spcPts val="0"/>
              </a:spcAft>
              <a:buNone/>
            </a:pPr>
            <a:r>
              <a:rPr lang="en-US" sz="4800" b="1" i="0" u="none" strike="noStrike" cap="none" dirty="0">
                <a:solidFill>
                  <a:srgbClr val="005BBB"/>
                </a:solidFill>
                <a:latin typeface="Arial"/>
                <a:ea typeface="Arial"/>
                <a:cs typeface="Arial"/>
                <a:sym typeface="Arial"/>
              </a:rPr>
              <a:t>Introduction</a:t>
            </a:r>
            <a:endParaRPr lang="en-US" dirty="0"/>
          </a:p>
          <a:p>
            <a:pPr marL="914400" lvl="1" indent="-457200">
              <a:lnSpc>
                <a:spcPct val="164285"/>
              </a:lnSpc>
              <a:spcBef>
                <a:spcPts val="1200"/>
              </a:spcBef>
              <a:buClr>
                <a:schemeClr val="dk2"/>
              </a:buClr>
              <a:buSzPts val="3500"/>
              <a:buFont typeface="Arial"/>
              <a:buChar char="•"/>
            </a:pPr>
            <a:r>
              <a:rPr lang="en-US" sz="3000" dirty="0">
                <a:solidFill>
                  <a:schemeClr val="accent4">
                    <a:lumMod val="50000"/>
                  </a:schemeClr>
                </a:solidFill>
              </a:rPr>
              <a:t>Functional connectivity (FC) is important for understanding neurodegenerative diseases and psychiatric disorders.</a:t>
            </a:r>
          </a:p>
          <a:p>
            <a:pPr marL="914400" lvl="1" indent="-457200">
              <a:lnSpc>
                <a:spcPct val="164285"/>
              </a:lnSpc>
              <a:spcBef>
                <a:spcPts val="1200"/>
              </a:spcBef>
              <a:buClr>
                <a:schemeClr val="dk2"/>
              </a:buClr>
              <a:buSzPts val="3500"/>
              <a:buFont typeface="Arial"/>
              <a:buChar char="•"/>
            </a:pPr>
            <a:r>
              <a:rPr lang="en-US" sz="3000" dirty="0">
                <a:solidFill>
                  <a:schemeClr val="accent4">
                    <a:lumMod val="50000"/>
                  </a:schemeClr>
                </a:solidFill>
              </a:rPr>
              <a:t>FC-based clustering of multi-subject fMRI data can inform physicians about patient diagnoses.</a:t>
            </a:r>
          </a:p>
          <a:p>
            <a:pPr marL="914400" lvl="1" indent="-457200">
              <a:lnSpc>
                <a:spcPct val="164285"/>
              </a:lnSpc>
              <a:spcBef>
                <a:spcPts val="1200"/>
              </a:spcBef>
              <a:buClr>
                <a:schemeClr val="dk2"/>
              </a:buClr>
              <a:buSzPts val="3500"/>
              <a:buFont typeface="Arial"/>
              <a:buChar char="•"/>
            </a:pPr>
            <a:r>
              <a:rPr lang="en-US" sz="3000" dirty="0">
                <a:solidFill>
                  <a:schemeClr val="accent4">
                    <a:lumMod val="50000"/>
                  </a:schemeClr>
                </a:solidFill>
              </a:rPr>
              <a:t>We propose a random covariance clustering model (RCCM) to cluster individuals based on FC, estimate individual FC networks, and to infer shared network features.</a:t>
            </a:r>
          </a:p>
          <a:p>
            <a:pPr marL="0" marR="0" lvl="0" indent="0" algn="l" rtl="0">
              <a:lnSpc>
                <a:spcPct val="95833"/>
              </a:lnSpc>
              <a:spcBef>
                <a:spcPts val="0"/>
              </a:spcBef>
              <a:spcAft>
                <a:spcPts val="0"/>
              </a:spcAft>
              <a:buNone/>
            </a:pPr>
            <a:r>
              <a:rPr lang="en-US" sz="4800" b="1" i="0" u="none" strike="noStrike" cap="none" dirty="0">
                <a:solidFill>
                  <a:srgbClr val="005BBB"/>
                </a:solidFill>
                <a:latin typeface="Arial"/>
                <a:ea typeface="Arial"/>
                <a:cs typeface="Arial"/>
                <a:sym typeface="Arial"/>
              </a:rPr>
              <a:t>Hierarchical Model</a:t>
            </a:r>
            <a:endParaRPr lang="en-US" sz="3800" dirty="0">
              <a:solidFill>
                <a:schemeClr val="dk1"/>
              </a:solidFill>
            </a:endParaRPr>
          </a:p>
          <a:p>
            <a:endParaRPr dirty="0"/>
          </a:p>
        </p:txBody>
      </p:sp>
      <p:sp>
        <p:nvSpPr>
          <p:cNvPr id="24" name="Google Shape;24;p4"/>
          <p:cNvSpPr txBox="1">
            <a:spLocks noGrp="1"/>
          </p:cNvSpPr>
          <p:nvPr>
            <p:ph type="body" idx="4"/>
          </p:nvPr>
        </p:nvSpPr>
        <p:spPr>
          <a:xfrm>
            <a:off x="15220335" y="6832926"/>
            <a:ext cx="13450530" cy="2340126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64285"/>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L="914400" marR="0" lvl="1" indent="-406400" algn="l" rtl="0">
              <a:lnSpc>
                <a:spcPct val="164285"/>
              </a:lnSpc>
              <a:spcBef>
                <a:spcPts val="0"/>
              </a:spcBef>
              <a:spcAft>
                <a:spcPts val="0"/>
              </a:spcAft>
              <a:buClr>
                <a:schemeClr val="dk2"/>
              </a:buClr>
              <a:buSzPts val="2800"/>
              <a:buFont typeface="Arial"/>
              <a:buChar char="•"/>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
        <p:nvSpPr>
          <p:cNvPr id="26" name="Google Shape;26;p4"/>
          <p:cNvSpPr txBox="1">
            <a:spLocks noGrp="1"/>
          </p:cNvSpPr>
          <p:nvPr>
            <p:ph type="body" idx="6"/>
          </p:nvPr>
        </p:nvSpPr>
        <p:spPr>
          <a:xfrm>
            <a:off x="29880232" y="6859658"/>
            <a:ext cx="13112442" cy="23286045"/>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64285"/>
              </a:lnSpc>
              <a:spcBef>
                <a:spcPts val="0"/>
              </a:spcBef>
              <a:spcAft>
                <a:spcPts val="0"/>
              </a:spcAft>
              <a:buClr>
                <a:srgbClr val="7F7F7F"/>
              </a:buClr>
              <a:buSzPts val="2800"/>
              <a:buFont typeface="Arial"/>
              <a:buChar char="•"/>
              <a:defRPr sz="2800" b="0" i="0" u="none" strike="noStrike" cap="none">
                <a:solidFill>
                  <a:srgbClr val="7F7F7F"/>
                </a:solidFill>
                <a:latin typeface="Arial"/>
                <a:ea typeface="Arial"/>
                <a:cs typeface="Arial"/>
                <a:sym typeface="Arial"/>
              </a:defRPr>
            </a:lvl1pPr>
            <a:lvl2pPr marL="914400" marR="0" lvl="1" indent="-406400" algn="l" rtl="0">
              <a:lnSpc>
                <a:spcPct val="164285"/>
              </a:lnSpc>
              <a:spcBef>
                <a:spcPts val="0"/>
              </a:spcBef>
              <a:spcAft>
                <a:spcPts val="0"/>
              </a:spcAft>
              <a:buClr>
                <a:schemeClr val="dk2"/>
              </a:buClr>
              <a:buSzPts val="2800"/>
              <a:buFont typeface="Arial"/>
              <a:buChar char="•"/>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mc:AlternateContent xmlns:mc="http://schemas.openxmlformats.org/markup-compatibility/2006" xmlns:a14="http://schemas.microsoft.com/office/drawing/2010/main">
        <mc:Choice Requires="a14">
          <p:graphicFrame>
            <p:nvGraphicFramePr>
              <p:cNvPr id="2" name="Table 2">
                <a:extLst>
                  <a:ext uri="{FF2B5EF4-FFF2-40B4-BE49-F238E27FC236}">
                    <a16:creationId xmlns:a16="http://schemas.microsoft.com/office/drawing/2014/main" id="{DD64A777-8221-90AB-7F62-34B53C1013C0}"/>
                  </a:ext>
                </a:extLst>
              </p:cNvPr>
              <p:cNvGraphicFramePr>
                <a:graphicFrameLocks noGrp="1"/>
              </p:cNvGraphicFramePr>
              <p:nvPr userDrawn="1">
                <p:extLst>
                  <p:ext uri="{D42A27DB-BD31-4B8C-83A1-F6EECF244321}">
                    <p14:modId xmlns:p14="http://schemas.microsoft.com/office/powerpoint/2010/main" val="3180680857"/>
                  </p:ext>
                </p:extLst>
              </p:nvPr>
            </p:nvGraphicFramePr>
            <p:xfrm>
              <a:off x="648929" y="14846709"/>
              <a:ext cx="15102348" cy="8190271"/>
            </p:xfrm>
            <a:graphic>
              <a:graphicData uri="http://schemas.openxmlformats.org/drawingml/2006/table">
                <a:tbl>
                  <a:tblPr firstRow="1" bandRow="1">
                    <a:tableStyleId>{FA1151E8-28CC-4D0A-90E6-D913D1850F2D}</a:tableStyleId>
                  </a:tblPr>
                  <a:tblGrid>
                    <a:gridCol w="2856315">
                      <a:extLst>
                        <a:ext uri="{9D8B030D-6E8A-4147-A177-3AD203B41FA5}">
                          <a16:colId xmlns:a16="http://schemas.microsoft.com/office/drawing/2014/main" val="1191074651"/>
                        </a:ext>
                      </a:extLst>
                    </a:gridCol>
                    <a:gridCol w="6631900">
                      <a:extLst>
                        <a:ext uri="{9D8B030D-6E8A-4147-A177-3AD203B41FA5}">
                          <a16:colId xmlns:a16="http://schemas.microsoft.com/office/drawing/2014/main" val="2841301798"/>
                        </a:ext>
                      </a:extLst>
                    </a:gridCol>
                    <a:gridCol w="5614133">
                      <a:extLst>
                        <a:ext uri="{9D8B030D-6E8A-4147-A177-3AD203B41FA5}">
                          <a16:colId xmlns:a16="http://schemas.microsoft.com/office/drawing/2014/main" val="3617628030"/>
                        </a:ext>
                      </a:extLst>
                    </a:gridCol>
                  </a:tblGrid>
                  <a:tr h="1224217">
                    <a:tc>
                      <a:txBody>
                        <a:bodyPr/>
                        <a:lstStyle/>
                        <a:p>
                          <a:pPr marL="0" marR="0" indent="457200">
                            <a:lnSpc>
                              <a:spcPct val="150000"/>
                            </a:lnSpc>
                            <a:spcBef>
                              <a:spcPts val="180"/>
                            </a:spcBef>
                            <a:spcAft>
                              <a:spcPts val="180"/>
                            </a:spcAft>
                          </a:pPr>
                          <a:r>
                            <a:rPr lang="en-US" sz="3200" b="0" i="0" u="none" strike="noStrike" cap="none" dirty="0">
                              <a:solidFill>
                                <a:srgbClr val="000000"/>
                              </a:solidFill>
                              <a:effectLst/>
                              <a:latin typeface="Arial"/>
                              <a:cs typeface="Arial"/>
                              <a:sym typeface="Arial"/>
                            </a:rPr>
                            <a:t>Level</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marL="0" marR="0" indent="457200" algn="ctr">
                            <a:lnSpc>
                              <a:spcPct val="150000"/>
                            </a:lnSpc>
                            <a:spcBef>
                              <a:spcPts val="180"/>
                            </a:spcBef>
                            <a:spcAft>
                              <a:spcPts val="180"/>
                            </a:spcAft>
                          </a:pPr>
                          <a:r>
                            <a:rPr lang="en-US" sz="3200" b="0" i="0" u="none" strike="noStrike" cap="none" dirty="0">
                              <a:solidFill>
                                <a:srgbClr val="000000"/>
                              </a:solidFill>
                              <a:effectLst/>
                              <a:latin typeface="Arial"/>
                              <a:cs typeface="Arial"/>
                              <a:sym typeface="Arial"/>
                            </a:rPr>
                            <a:t>Model</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marL="0" marR="0" indent="457200" algn="l">
                            <a:lnSpc>
                              <a:spcPct val="150000"/>
                            </a:lnSpc>
                            <a:spcBef>
                              <a:spcPts val="180"/>
                            </a:spcBef>
                            <a:spcAft>
                              <a:spcPts val="180"/>
                            </a:spcAft>
                          </a:pPr>
                          <a:r>
                            <a:rPr lang="en-US" sz="3200" dirty="0">
                              <a:effectLst/>
                            </a:rPr>
                            <a:t>Interpretation</a:t>
                          </a:r>
                          <a:endParaRPr lang="en-US" sz="3200" dirty="0">
                            <a:effectLst/>
                            <a:latin typeface="Times New Roman" panose="02020603050405020304" pitchFamily="18" charset="0"/>
                            <a:ea typeface="Cambria" panose="020405030504060302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488523086"/>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Cluster</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marL="0" marR="0" indent="457200" algn="l" rtl="0">
                            <a:lnSpc>
                              <a:spcPct val="100000"/>
                            </a:lnSpc>
                            <a:spcBef>
                              <a:spcPts val="0"/>
                            </a:spcBef>
                            <a:spcAft>
                              <a:spcPts val="0"/>
                            </a:spcAft>
                            <a:buClr>
                              <a:srgbClr val="000000"/>
                            </a:buClr>
                            <a:buFont typeface="Arial"/>
                          </a:pPr>
                          <a14:m>
                            <m:oMathPara xmlns:m="http://schemas.openxmlformats.org/officeDocument/2006/math">
                              <m:oMathParaPr>
                                <m:jc m:val="centerGroup"/>
                              </m:oMathParaPr>
                              <m:oMath xmlns:m="http://schemas.openxmlformats.org/officeDocument/2006/math">
                                <m:r>
                                  <a:rPr lang="en-US" sz="3600" b="0" i="0" u="none" strike="noStrike" cap="none">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𝛀</m:t>
                                    </m:r>
                                  </m:e>
                                  <m:sub>
                                    <m:r>
                                      <a:rPr lang="en-US" sz="3600" b="0" i="0" u="none" strike="noStrike" cap="none">
                                        <a:solidFill>
                                          <a:srgbClr val="000000"/>
                                        </a:solidFill>
                                        <a:effectLst/>
                                        <a:latin typeface="Cambria Math" panose="02040503050406030204" pitchFamily="18" charset="0"/>
                                        <a:ea typeface="Arial"/>
                                        <a:cs typeface="Arial"/>
                                        <a:sym typeface="Arial"/>
                                      </a:rPr>
                                      <m:t>𝟎𝐠</m:t>
                                    </m:r>
                                  </m:sub>
                                </m:sSub>
                                <m:sSubSup>
                                  <m:sSubSupPr>
                                    <m:ctrlPr>
                                      <a:rPr lang="en-US" sz="3600" b="0" i="1" u="none" strike="noStrike" cap="none">
                                        <a:solidFill>
                                          <a:srgbClr val="000000"/>
                                        </a:solidFill>
                                        <a:effectLst/>
                                        <a:latin typeface="Cambria Math" panose="02040503050406030204" pitchFamily="18" charset="0"/>
                                        <a:ea typeface="Arial"/>
                                        <a:cs typeface="Arial"/>
                                        <a:sym typeface="Arial"/>
                                      </a:rPr>
                                    </m:ctrlPr>
                                  </m:sSubSupPr>
                                  <m:e>
                                    <m:r>
                                      <a:rPr lang="en-US" sz="3600" b="0" i="0" u="none" strike="noStrike" cap="none">
                                        <a:solidFill>
                                          <a:srgbClr val="000000"/>
                                        </a:solidFill>
                                        <a:effectLst/>
                                        <a:latin typeface="Cambria Math" panose="02040503050406030204" pitchFamily="18" charset="0"/>
                                        <a:ea typeface="Arial"/>
                                        <a:cs typeface="Arial"/>
                                        <a:sym typeface="Arial"/>
                                      </a:rPr>
                                      <m:t>}</m:t>
                                    </m:r>
                                  </m:e>
                                  <m:sub>
                                    <m:r>
                                      <a:rPr lang="en-US" sz="3600" b="0" i="0" u="none" strike="noStrike" cap="none">
                                        <a:solidFill>
                                          <a:srgbClr val="000000"/>
                                        </a:solidFill>
                                        <a:effectLst/>
                                        <a:latin typeface="Cambria Math" panose="02040503050406030204" pitchFamily="18" charset="0"/>
                                        <a:ea typeface="Arial"/>
                                        <a:cs typeface="Arial"/>
                                        <a:sym typeface="Arial"/>
                                      </a:rPr>
                                      <m:t>𝑔</m:t>
                                    </m:r>
                                    <m:r>
                                      <a:rPr lang="en-US" sz="3600" b="0" i="0" u="none" strike="noStrike" cap="none">
                                        <a:solidFill>
                                          <a:srgbClr val="000000"/>
                                        </a:solidFill>
                                        <a:effectLst/>
                                        <a:latin typeface="Cambria Math" panose="02040503050406030204" pitchFamily="18" charset="0"/>
                                        <a:ea typeface="Arial"/>
                                        <a:cs typeface="Arial"/>
                                        <a:sym typeface="Arial"/>
                                      </a:rPr>
                                      <m:t>=1</m:t>
                                    </m:r>
                                  </m:sub>
                                  <m:sup>
                                    <m:r>
                                      <a:rPr lang="en-US" sz="3600" b="0" i="0" u="none" strike="noStrike" cap="none">
                                        <a:solidFill>
                                          <a:srgbClr val="000000"/>
                                        </a:solidFill>
                                        <a:effectLst/>
                                        <a:latin typeface="Cambria Math" panose="02040503050406030204" pitchFamily="18" charset="0"/>
                                        <a:ea typeface="Arial"/>
                                        <a:cs typeface="Arial"/>
                                        <a:sym typeface="Arial"/>
                                      </a:rPr>
                                      <m:t>𝐺</m:t>
                                    </m:r>
                                  </m:sup>
                                </m:sSubSup>
                              </m:oMath>
                            </m:oMathPara>
                          </a14:m>
                          <a:endParaRPr lang="en-US" sz="3600" b="0" i="0" u="none" strike="noStrike" cap="none" dirty="0">
                            <a:solidFill>
                              <a:srgbClr val="000000"/>
                            </a:solidFill>
                            <a:effectLst/>
                            <a:latin typeface="Arial"/>
                            <a:ea typeface="Arial"/>
                            <a:cs typeface="Arial"/>
                            <a:sym typeface="Arial"/>
                          </a:endParaRPr>
                        </a:p>
                      </a:txBody>
                      <a:tcPr marL="68580" marR="68580" marT="0" marB="0" anchor="ctr"/>
                    </a:tc>
                    <a:tc>
                      <a:txBody>
                        <a:bodyPr/>
                        <a:lstStyle/>
                        <a:p>
                          <a:pPr marL="0" marR="0" lvl="0" indent="457200" algn="l" defTabSz="914400" rtl="0" eaLnBrk="1" fontAlgn="auto" latinLnBrk="0" hangingPunct="1">
                            <a:lnSpc>
                              <a:spcPct val="150000"/>
                            </a:lnSpc>
                            <a:spcBef>
                              <a:spcPts val="180"/>
                            </a:spcBef>
                            <a:spcAft>
                              <a:spcPts val="180"/>
                            </a:spcAft>
                            <a:buClr>
                              <a:srgbClr val="000000"/>
                            </a:buClr>
                            <a:buSzTx/>
                            <a:buFont typeface="Arial"/>
                            <a:buNone/>
                            <a:tabLst/>
                            <a:defRPr/>
                          </a:pPr>
                          <a:r>
                            <a:rPr lang="en-US" sz="2800" b="0" i="0" u="none" strike="noStrike" cap="none" dirty="0">
                              <a:solidFill>
                                <a:srgbClr val="000000"/>
                              </a:solidFill>
                              <a:effectLst/>
                              <a:latin typeface="Arial"/>
                              <a:ea typeface="Arial"/>
                              <a:cs typeface="Arial"/>
                              <a:sym typeface="Arial"/>
                            </a:rPr>
                            <a:t>Set of </a:t>
                          </a:r>
                          <a14:m>
                            <m:oMath xmlns:m="http://schemas.openxmlformats.org/officeDocument/2006/math">
                              <m:r>
                                <a:rPr lang="en-US" sz="2800" b="0" i="0" u="none" strike="noStrike" cap="none">
                                  <a:solidFill>
                                    <a:srgbClr val="000000"/>
                                  </a:solidFill>
                                  <a:effectLst/>
                                  <a:latin typeface="Cambria Math" panose="02040503050406030204" pitchFamily="18" charset="0"/>
                                  <a:ea typeface="Arial"/>
                                  <a:cs typeface="Arial"/>
                                  <a:sym typeface="Arial"/>
                                </a:rPr>
                                <m:t>𝐺</m:t>
                              </m:r>
                            </m:oMath>
                          </a14:m>
                          <a:r>
                            <a:rPr lang="en-US" sz="2800" b="0" i="0" u="none" strike="noStrike" cap="none" dirty="0">
                              <a:solidFill>
                                <a:srgbClr val="000000"/>
                              </a:solidFill>
                              <a:effectLst/>
                              <a:latin typeface="Arial"/>
                              <a:ea typeface="Arial"/>
                              <a:cs typeface="Arial"/>
                              <a:sym typeface="Arial"/>
                            </a:rPr>
                            <a:t> cluster-level precision matrices describing group-level FC</a:t>
                          </a:r>
                        </a:p>
                      </a:txBody>
                      <a:tcPr marL="68580" marR="68580" marT="0" marB="0" anchor="ctr"/>
                    </a:tc>
                    <a:extLst>
                      <a:ext uri="{0D108BD9-81ED-4DB2-BD59-A6C34878D82A}">
                        <a16:rowId xmlns:a16="http://schemas.microsoft.com/office/drawing/2014/main" val="739924968"/>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Subject</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a14:m>
                            <m:oMathPara xmlns:m="http://schemas.openxmlformats.org/officeDocument/2006/math">
                              <m:oMathParaPr>
                                <m:jc m:val="centerGroup"/>
                              </m:oMathParaPr>
                              <m:oMath xmlns:m="http://schemas.openxmlformats.org/officeDocument/2006/math">
                                <m:r>
                                  <a:rPr lang="en-US" sz="3600" b="0" i="0" u="none" strike="noStrike" cap="none" smtClean="0">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𝛀</m:t>
                                    </m:r>
                                  </m:e>
                                  <m:sub>
                                    <m:r>
                                      <a:rPr lang="en-US" sz="3600" b="0" i="0" u="none" strike="noStrike" cap="none">
                                        <a:solidFill>
                                          <a:srgbClr val="000000"/>
                                        </a:solidFill>
                                        <a:effectLst/>
                                        <a:latin typeface="Cambria Math" panose="02040503050406030204" pitchFamily="18" charset="0"/>
                                        <a:ea typeface="Arial"/>
                                        <a:cs typeface="Arial"/>
                                        <a:sym typeface="Arial"/>
                                      </a:rPr>
                                      <m:t>𝐤</m:t>
                                    </m:r>
                                  </m:sub>
                                </m:sSub>
                                <m:limUpp>
                                  <m:limUppPr>
                                    <m:ctrlPr>
                                      <a:rPr lang="en-US" sz="3600" b="0" i="1" u="none" strike="noStrike" cap="none">
                                        <a:solidFill>
                                          <a:srgbClr val="000000"/>
                                        </a:solidFill>
                                        <a:effectLst/>
                                        <a:latin typeface="Cambria Math" panose="02040503050406030204" pitchFamily="18" charset="0"/>
                                        <a:ea typeface="Arial"/>
                                        <a:cs typeface="Arial"/>
                                        <a:sym typeface="Arial"/>
                                      </a:rPr>
                                    </m:ctrlPr>
                                  </m:limUppPr>
                                  <m:e>
                                    <m:r>
                                      <a:rPr lang="en-US" sz="3600" b="0" i="0" u="none" strike="noStrike" cap="none">
                                        <a:solidFill>
                                          <a:srgbClr val="000000"/>
                                        </a:solidFill>
                                        <a:effectLst/>
                                        <a:latin typeface="Cambria Math" panose="02040503050406030204" pitchFamily="18" charset="0"/>
                                        <a:ea typeface="Arial"/>
                                        <a:cs typeface="Arial"/>
                                        <a:sym typeface="Arial"/>
                                      </a:rPr>
                                      <m:t>∼</m:t>
                                    </m:r>
                                  </m:e>
                                  <m:lim>
                                    <m:r>
                                      <a:rPr lang="en-US" sz="3600" b="0" i="0" u="none" strike="noStrike" cap="none">
                                        <a:solidFill>
                                          <a:srgbClr val="000000"/>
                                        </a:solidFill>
                                        <a:effectLst/>
                                        <a:latin typeface="Cambria Math" panose="02040503050406030204" pitchFamily="18" charset="0"/>
                                        <a:ea typeface="Arial"/>
                                        <a:cs typeface="Arial"/>
                                        <a:sym typeface="Arial"/>
                                      </a:rPr>
                                      <m:t>𝑖𝑖𝑑</m:t>
                                    </m:r>
                                  </m:lim>
                                </m:limUpp>
                                <m:nary>
                                  <m:naryPr>
                                    <m:chr m:val="∑"/>
                                    <m:limLoc m:val="undOvr"/>
                                    <m:ctrlPr>
                                      <a:rPr lang="en-US" sz="3600" b="0" i="1" u="none" strike="noStrike" cap="none">
                                        <a:solidFill>
                                          <a:srgbClr val="000000"/>
                                        </a:solidFill>
                                        <a:effectLst/>
                                        <a:latin typeface="Cambria Math" panose="02040503050406030204" pitchFamily="18" charset="0"/>
                                        <a:ea typeface="Arial"/>
                                        <a:cs typeface="Arial"/>
                                        <a:sym typeface="Arial"/>
                                      </a:rPr>
                                    </m:ctrlPr>
                                  </m:naryPr>
                                  <m:sub>
                                    <m:r>
                                      <a:rPr lang="en-US" sz="3600" b="0" i="0" u="none" strike="noStrike" cap="none">
                                        <a:solidFill>
                                          <a:srgbClr val="000000"/>
                                        </a:solidFill>
                                        <a:effectLst/>
                                        <a:latin typeface="Cambria Math" panose="02040503050406030204" pitchFamily="18" charset="0"/>
                                        <a:ea typeface="Arial"/>
                                        <a:cs typeface="Arial"/>
                                        <a:sym typeface="Arial"/>
                                      </a:rPr>
                                      <m:t>𝑔</m:t>
                                    </m:r>
                                    <m:r>
                                      <a:rPr lang="en-US" sz="3600" b="0" i="0" u="none" strike="noStrike" cap="none">
                                        <a:solidFill>
                                          <a:srgbClr val="000000"/>
                                        </a:solidFill>
                                        <a:effectLst/>
                                        <a:latin typeface="Cambria Math" panose="02040503050406030204" pitchFamily="18" charset="0"/>
                                        <a:ea typeface="Arial"/>
                                        <a:cs typeface="Arial"/>
                                        <a:sym typeface="Arial"/>
                                      </a:rPr>
                                      <m:t>=1</m:t>
                                    </m:r>
                                  </m:sub>
                                  <m:sup>
                                    <m:r>
                                      <a:rPr lang="en-US" sz="3600" b="0" i="0" u="none" strike="noStrike" cap="none">
                                        <a:solidFill>
                                          <a:srgbClr val="000000"/>
                                        </a:solidFill>
                                        <a:effectLst/>
                                        <a:latin typeface="Cambria Math" panose="02040503050406030204" pitchFamily="18" charset="0"/>
                                        <a:ea typeface="Arial"/>
                                        <a:cs typeface="Arial"/>
                                        <a:sym typeface="Arial"/>
                                      </a:rPr>
                                      <m:t>𝐺</m:t>
                                    </m:r>
                                  </m:sup>
                                  <m:e>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𝜋</m:t>
                                        </m:r>
                                      </m:e>
                                      <m:sub>
                                        <m:r>
                                          <a:rPr lang="en-US" sz="3600" b="0" i="0" u="none" strike="noStrike" cap="none">
                                            <a:solidFill>
                                              <a:srgbClr val="000000"/>
                                            </a:solidFill>
                                            <a:effectLst/>
                                            <a:latin typeface="Cambria Math" panose="02040503050406030204" pitchFamily="18" charset="0"/>
                                            <a:ea typeface="Arial"/>
                                            <a:cs typeface="Arial"/>
                                            <a:sym typeface="Arial"/>
                                          </a:rPr>
                                          <m:t>𝑔</m:t>
                                        </m:r>
                                      </m:sub>
                                    </m:sSub>
                                  </m:e>
                                </m:nary>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𝑝</m:t>
                                    </m:r>
                                  </m:e>
                                  <m:sub>
                                    <m:r>
                                      <a:rPr lang="en-US" sz="3600" b="0" i="0" u="none" strike="noStrike" cap="none">
                                        <a:solidFill>
                                          <a:srgbClr val="000000"/>
                                        </a:solidFill>
                                        <a:effectLst/>
                                        <a:latin typeface="Cambria Math" panose="02040503050406030204" pitchFamily="18" charset="0"/>
                                        <a:ea typeface="Arial"/>
                                        <a:cs typeface="Arial"/>
                                        <a:sym typeface="Arial"/>
                                      </a:rPr>
                                      <m:t>𝑔</m:t>
                                    </m:r>
                                  </m:sub>
                                </m:sSub>
                                <m:d>
                                  <m:dPr>
                                    <m:ctrlPr>
                                      <a:rPr lang="en-US" sz="3600" b="0" i="1" u="none" strike="noStrike" cap="none">
                                        <a:solidFill>
                                          <a:srgbClr val="000000"/>
                                        </a:solidFill>
                                        <a:effectLst/>
                                        <a:latin typeface="Cambria Math" panose="02040503050406030204" pitchFamily="18" charset="0"/>
                                        <a:ea typeface="Arial"/>
                                        <a:cs typeface="Arial"/>
                                        <a:sym typeface="Arial"/>
                                      </a:rPr>
                                    </m:ctrlPr>
                                  </m:dPr>
                                  <m:e>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𝛀</m:t>
                                        </m:r>
                                      </m:e>
                                      <m:sub>
                                        <m:r>
                                          <a:rPr lang="en-US" sz="3600" b="0" i="0" u="none" strike="noStrike" cap="none">
                                            <a:solidFill>
                                              <a:srgbClr val="000000"/>
                                            </a:solidFill>
                                            <a:effectLst/>
                                            <a:latin typeface="Cambria Math" panose="02040503050406030204" pitchFamily="18" charset="0"/>
                                            <a:ea typeface="Arial"/>
                                            <a:cs typeface="Arial"/>
                                            <a:sym typeface="Arial"/>
                                          </a:rPr>
                                          <m:t>𝐤</m:t>
                                        </m:r>
                                      </m:sub>
                                    </m:sSub>
                                    <m:r>
                                      <a:rPr lang="en-US" sz="3600" b="0" i="0" u="none" strike="noStrike" cap="none">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𝜆</m:t>
                                        </m:r>
                                      </m:e>
                                      <m:sub>
                                        <m:r>
                                          <a:rPr lang="en-US" sz="3600" b="0" i="0" u="none" strike="noStrike" cap="none">
                                            <a:solidFill>
                                              <a:srgbClr val="000000"/>
                                            </a:solidFill>
                                            <a:effectLst/>
                                            <a:latin typeface="Cambria Math" panose="02040503050406030204" pitchFamily="18" charset="0"/>
                                            <a:ea typeface="Arial"/>
                                            <a:cs typeface="Arial"/>
                                            <a:sym typeface="Arial"/>
                                          </a:rPr>
                                          <m:t>2</m:t>
                                        </m:r>
                                      </m:sub>
                                    </m:sSub>
                                    <m:r>
                                      <a:rPr lang="en-US" sz="3600" b="0" i="0" u="none" strike="noStrike" cap="none">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0" u="none" strike="noStrike" cap="none">
                                            <a:solidFill>
                                              <a:srgbClr val="000000"/>
                                            </a:solidFill>
                                            <a:effectLst/>
                                            <a:latin typeface="Cambria Math" panose="02040503050406030204" pitchFamily="18" charset="0"/>
                                            <a:ea typeface="Arial"/>
                                            <a:cs typeface="Arial"/>
                                            <a:sym typeface="Arial"/>
                                          </a:rPr>
                                          <m:t>𝛀</m:t>
                                        </m:r>
                                      </m:e>
                                      <m:sub>
                                        <m:r>
                                          <a:rPr lang="en-US" sz="3600" b="0" i="0" u="none" strike="noStrike" cap="none">
                                            <a:solidFill>
                                              <a:srgbClr val="000000"/>
                                            </a:solidFill>
                                            <a:effectLst/>
                                            <a:latin typeface="Cambria Math" panose="02040503050406030204" pitchFamily="18" charset="0"/>
                                            <a:ea typeface="Arial"/>
                                            <a:cs typeface="Arial"/>
                                            <a:sym typeface="Arial"/>
                                          </a:rPr>
                                          <m:t>𝟎𝐠</m:t>
                                        </m:r>
                                      </m:sub>
                                    </m:sSub>
                                  </m:e>
                                </m:d>
                                <m:limLow>
                                  <m:limLowPr>
                                    <m:ctrlPr>
                                      <a:rPr lang="en-US" sz="3600" b="0" i="1" u="none" strike="noStrike" cap="none">
                                        <a:solidFill>
                                          <a:srgbClr val="000000"/>
                                        </a:solidFill>
                                        <a:effectLst/>
                                        <a:latin typeface="Cambria Math" panose="02040503050406030204" pitchFamily="18" charset="0"/>
                                        <a:ea typeface="Arial"/>
                                        <a:cs typeface="Arial"/>
                                        <a:sym typeface="Arial"/>
                                      </a:rPr>
                                    </m:ctrlPr>
                                  </m:limLowPr>
                                  <m:e>
                                    <m:limUpp>
                                      <m:limUppPr>
                                        <m:ctrlPr>
                                          <a:rPr lang="en-US" sz="3600" b="0" i="1" u="none" strike="noStrike" cap="none">
                                            <a:solidFill>
                                              <a:srgbClr val="000000"/>
                                            </a:solidFill>
                                            <a:effectLst/>
                                            <a:latin typeface="Cambria Math" panose="02040503050406030204" pitchFamily="18" charset="0"/>
                                            <a:ea typeface="Arial"/>
                                            <a:cs typeface="Arial"/>
                                            <a:sym typeface="Arial"/>
                                          </a:rPr>
                                        </m:ctrlPr>
                                      </m:limUppPr>
                                      <m:e>
                                        <m:r>
                                          <a:rPr lang="en-US" sz="3600" b="0" i="0" u="none" strike="noStrike" cap="none">
                                            <a:solidFill>
                                              <a:srgbClr val="000000"/>
                                            </a:solidFill>
                                            <a:effectLst/>
                                            <a:latin typeface="Cambria Math" panose="02040503050406030204" pitchFamily="18" charset="0"/>
                                            <a:ea typeface="Arial"/>
                                            <a:cs typeface="Arial"/>
                                            <a:sym typeface="Arial"/>
                                          </a:rPr>
                                          <m:t>}</m:t>
                                        </m:r>
                                      </m:e>
                                      <m:lim>
                                        <m:r>
                                          <a:rPr lang="en-US" sz="3600" b="0" i="0" u="none" strike="noStrike" cap="none">
                                            <a:solidFill>
                                              <a:srgbClr val="000000"/>
                                            </a:solidFill>
                                            <a:effectLst/>
                                            <a:latin typeface="Cambria Math" panose="02040503050406030204" pitchFamily="18" charset="0"/>
                                            <a:ea typeface="Arial"/>
                                            <a:cs typeface="Arial"/>
                                            <a:sym typeface="Arial"/>
                                          </a:rPr>
                                          <m:t>𝐾</m:t>
                                        </m:r>
                                      </m:lim>
                                    </m:limUpp>
                                  </m:e>
                                  <m:lim>
                                    <m:r>
                                      <a:rPr lang="en-US" sz="3600" b="0" i="0" u="none" strike="noStrike" cap="none">
                                        <a:solidFill>
                                          <a:srgbClr val="000000"/>
                                        </a:solidFill>
                                        <a:effectLst/>
                                        <a:latin typeface="Cambria Math" panose="02040503050406030204" pitchFamily="18" charset="0"/>
                                        <a:ea typeface="Arial"/>
                                        <a:cs typeface="Arial"/>
                                        <a:sym typeface="Arial"/>
                                      </a:rPr>
                                      <m:t>𝑘</m:t>
                                    </m:r>
                                    <m:r>
                                      <a:rPr lang="en-US" sz="3600" b="0" i="0" u="none" strike="noStrike" cap="none">
                                        <a:solidFill>
                                          <a:srgbClr val="000000"/>
                                        </a:solidFill>
                                        <a:effectLst/>
                                        <a:latin typeface="Cambria Math" panose="02040503050406030204" pitchFamily="18" charset="0"/>
                                        <a:ea typeface="Arial"/>
                                        <a:cs typeface="Arial"/>
                                        <a:sym typeface="Arial"/>
                                      </a:rPr>
                                      <m:t>=1</m:t>
                                    </m:r>
                                  </m:lim>
                                </m:limLow>
                              </m:oMath>
                            </m:oMathPara>
                          </a14:m>
                          <a:endParaRPr lang="en-US" sz="3600" b="0" i="0" u="none" strike="noStrike" cap="none" dirty="0">
                            <a:solidFill>
                              <a:srgbClr val="000000"/>
                            </a:solidFill>
                            <a:effectLst/>
                            <a:latin typeface="Arial"/>
                            <a:ea typeface="Arial"/>
                            <a:cs typeface="Arial"/>
                            <a:sym typeface="Arial"/>
                          </a:endParaRPr>
                        </a:p>
                      </a:txBody>
                      <a:tcPr marL="68580" marR="68580" marT="0" marB="0" anchor="ctr"/>
                    </a:tc>
                    <a:tc>
                      <a:txBody>
                        <a:bodyPr/>
                        <a:lstStyle/>
                        <a:p>
                          <a:pPr marL="0" marR="0" lvl="0" indent="457200" algn="l" defTabSz="914400" rtl="0" eaLnBrk="1" fontAlgn="auto" latinLnBrk="0" hangingPunct="1">
                            <a:lnSpc>
                              <a:spcPct val="150000"/>
                            </a:lnSpc>
                            <a:spcBef>
                              <a:spcPts val="180"/>
                            </a:spcBef>
                            <a:spcAft>
                              <a:spcPts val="180"/>
                            </a:spcAft>
                            <a:buClr>
                              <a:srgbClr val="000000"/>
                            </a:buClr>
                            <a:buSzTx/>
                            <a:buFont typeface="Arial"/>
                            <a:buNone/>
                            <a:tabLst/>
                            <a:defRPr/>
                          </a:pPr>
                          <a:r>
                            <a:rPr lang="en-US" sz="2800" b="0" i="0" u="none" strike="noStrike" cap="none" dirty="0">
                              <a:solidFill>
                                <a:srgbClr val="000000"/>
                              </a:solidFill>
                              <a:effectLst/>
                              <a:latin typeface="Arial"/>
                              <a:ea typeface="Arial"/>
                              <a:cs typeface="Arial"/>
                              <a:sym typeface="Arial"/>
                            </a:rPr>
                            <a:t>Set of </a:t>
                          </a:r>
                          <a14:m>
                            <m:oMath xmlns:m="http://schemas.openxmlformats.org/officeDocument/2006/math">
                              <m:r>
                                <a:rPr lang="en-US" sz="2800" b="0" i="0" u="none" strike="noStrike" cap="none">
                                  <a:solidFill>
                                    <a:srgbClr val="000000"/>
                                  </a:solidFill>
                                  <a:effectLst/>
                                  <a:latin typeface="Cambria Math" panose="02040503050406030204" pitchFamily="18" charset="0"/>
                                  <a:ea typeface="Arial"/>
                                  <a:cs typeface="Arial"/>
                                  <a:sym typeface="Arial"/>
                                </a:rPr>
                                <m:t>𝐾</m:t>
                              </m:r>
                            </m:oMath>
                          </a14:m>
                          <a:r>
                            <a:rPr lang="en-US" sz="2800" b="0" i="0" u="none" strike="noStrike" cap="none" dirty="0">
                              <a:solidFill>
                                <a:srgbClr val="000000"/>
                              </a:solidFill>
                              <a:effectLst/>
                              <a:latin typeface="Arial"/>
                              <a:ea typeface="Arial"/>
                              <a:cs typeface="Arial"/>
                              <a:sym typeface="Arial"/>
                            </a:rPr>
                            <a:t> subject-level precision matrices describing unique individual-level FC</a:t>
                          </a:r>
                        </a:p>
                      </a:txBody>
                      <a:tcPr marL="68580" marR="68580" marT="0" marB="0" anchor="ctr"/>
                    </a:tc>
                    <a:extLst>
                      <a:ext uri="{0D108BD9-81ED-4DB2-BD59-A6C34878D82A}">
                        <a16:rowId xmlns:a16="http://schemas.microsoft.com/office/drawing/2014/main" val="468420601"/>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Observation</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a14:m>
                            <m:oMathPara xmlns:m="http://schemas.openxmlformats.org/officeDocument/2006/math">
                              <m:oMathParaPr>
                                <m:jc m:val="centerGroup"/>
                              </m:oMathParaPr>
                              <m:oMath xmlns:m="http://schemas.openxmlformats.org/officeDocument/2006/math">
                                <m:r>
                                  <a:rPr lang="en-US" sz="3600" b="0" i="0" u="none" strike="noStrike" cap="none" smtClean="0">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1" i="1" u="none" strike="noStrike" cap="none">
                                        <a:solidFill>
                                          <a:srgbClr val="000000"/>
                                        </a:solidFill>
                                        <a:effectLst/>
                                        <a:latin typeface="Cambria Math" panose="02040503050406030204" pitchFamily="18" charset="0"/>
                                        <a:ea typeface="Arial"/>
                                        <a:cs typeface="Arial"/>
                                        <a:sym typeface="Arial"/>
                                      </a:rPr>
                                      <m:t>𝐲</m:t>
                                    </m:r>
                                  </m:e>
                                  <m:sub>
                                    <m:r>
                                      <a:rPr lang="en-US" sz="3600" b="1" i="1" u="none" strike="noStrike" cap="none">
                                        <a:solidFill>
                                          <a:srgbClr val="000000"/>
                                        </a:solidFill>
                                        <a:effectLst/>
                                        <a:latin typeface="Cambria Math" panose="02040503050406030204" pitchFamily="18" charset="0"/>
                                        <a:ea typeface="Arial"/>
                                        <a:cs typeface="Arial"/>
                                        <a:sym typeface="Arial"/>
                                      </a:rPr>
                                      <m:t>𝐤𝐭</m:t>
                                    </m:r>
                                  </m:sub>
                                </m:sSub>
                                <m:r>
                                  <a:rPr lang="en-US" sz="3600" b="0" i="0" u="none" strike="noStrike" cap="none">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1" i="1" u="none" strike="noStrike" cap="none">
                                        <a:solidFill>
                                          <a:srgbClr val="000000"/>
                                        </a:solidFill>
                                        <a:effectLst/>
                                        <a:latin typeface="Cambria Math" panose="02040503050406030204" pitchFamily="18" charset="0"/>
                                        <a:ea typeface="Arial"/>
                                        <a:cs typeface="Arial"/>
                                        <a:sym typeface="Arial"/>
                                      </a:rPr>
                                      <m:t>𝛀</m:t>
                                    </m:r>
                                  </m:e>
                                  <m:sub>
                                    <m:r>
                                      <a:rPr lang="en-US" sz="3600" b="1" i="1" u="none" strike="noStrike" cap="none">
                                        <a:solidFill>
                                          <a:srgbClr val="000000"/>
                                        </a:solidFill>
                                        <a:effectLst/>
                                        <a:latin typeface="Cambria Math" panose="02040503050406030204" pitchFamily="18" charset="0"/>
                                        <a:ea typeface="Arial"/>
                                        <a:cs typeface="Arial"/>
                                        <a:sym typeface="Arial"/>
                                      </a:rPr>
                                      <m:t>𝐤</m:t>
                                    </m:r>
                                  </m:sub>
                                </m:sSub>
                                <m:limUpp>
                                  <m:limUppPr>
                                    <m:ctrlPr>
                                      <a:rPr lang="en-US" sz="3600" b="0" i="1" u="none" strike="noStrike" cap="none">
                                        <a:solidFill>
                                          <a:srgbClr val="000000"/>
                                        </a:solidFill>
                                        <a:effectLst/>
                                        <a:latin typeface="Cambria Math" panose="02040503050406030204" pitchFamily="18" charset="0"/>
                                        <a:ea typeface="Arial"/>
                                        <a:cs typeface="Arial"/>
                                        <a:sym typeface="Arial"/>
                                      </a:rPr>
                                    </m:ctrlPr>
                                  </m:limUppPr>
                                  <m:e>
                                    <m:r>
                                      <a:rPr lang="en-US" sz="3600" b="0" i="0" u="none" strike="noStrike" cap="none">
                                        <a:solidFill>
                                          <a:srgbClr val="000000"/>
                                        </a:solidFill>
                                        <a:effectLst/>
                                        <a:latin typeface="Cambria Math" panose="02040503050406030204" pitchFamily="18" charset="0"/>
                                        <a:ea typeface="Arial"/>
                                        <a:cs typeface="Arial"/>
                                        <a:sym typeface="Arial"/>
                                      </a:rPr>
                                      <m:t>∼</m:t>
                                    </m:r>
                                  </m:e>
                                  <m:lim>
                                    <m:r>
                                      <a:rPr lang="en-US" sz="3600" b="0" i="1" u="none" strike="noStrike" cap="none">
                                        <a:solidFill>
                                          <a:srgbClr val="000000"/>
                                        </a:solidFill>
                                        <a:effectLst/>
                                        <a:latin typeface="Cambria Math" panose="02040503050406030204" pitchFamily="18" charset="0"/>
                                        <a:ea typeface="Arial"/>
                                        <a:cs typeface="Arial"/>
                                        <a:sym typeface="Arial"/>
                                      </a:rPr>
                                      <m:t>𝑖𝑛𝑑</m:t>
                                    </m:r>
                                  </m:lim>
                                </m:limUpp>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1" u="none" strike="noStrike" cap="none">
                                        <a:solidFill>
                                          <a:srgbClr val="000000"/>
                                        </a:solidFill>
                                        <a:effectLst/>
                                        <a:latin typeface="Cambria Math" panose="02040503050406030204" pitchFamily="18" charset="0"/>
                                        <a:ea typeface="Arial"/>
                                        <a:cs typeface="Arial"/>
                                        <a:sym typeface="Arial"/>
                                      </a:rPr>
                                      <m:t>𝒩</m:t>
                                    </m:r>
                                  </m:e>
                                  <m:sub>
                                    <m:r>
                                      <a:rPr lang="en-US" sz="3600" b="0" i="1" u="none" strike="noStrike" cap="none">
                                        <a:solidFill>
                                          <a:srgbClr val="000000"/>
                                        </a:solidFill>
                                        <a:effectLst/>
                                        <a:latin typeface="Cambria Math" panose="02040503050406030204" pitchFamily="18" charset="0"/>
                                        <a:ea typeface="Arial"/>
                                        <a:cs typeface="Arial"/>
                                        <a:sym typeface="Arial"/>
                                      </a:rPr>
                                      <m:t>𝑝</m:t>
                                    </m:r>
                                  </m:sub>
                                </m:sSub>
                                <m:d>
                                  <m:dPr>
                                    <m:ctrlPr>
                                      <a:rPr lang="en-US" sz="3600" b="0" i="1" u="none" strike="noStrike" cap="none">
                                        <a:solidFill>
                                          <a:srgbClr val="000000"/>
                                        </a:solidFill>
                                        <a:effectLst/>
                                        <a:latin typeface="Cambria Math" panose="02040503050406030204" pitchFamily="18" charset="0"/>
                                        <a:ea typeface="Arial"/>
                                        <a:cs typeface="Arial"/>
                                        <a:sym typeface="Arial"/>
                                      </a:rPr>
                                    </m:ctrlPr>
                                  </m:dPr>
                                  <m:e>
                                    <m:sSub>
                                      <m:sSubPr>
                                        <m:ctrlPr>
                                          <a:rPr lang="en-US" sz="3600" b="1" i="1" u="none" strike="noStrike" cap="none">
                                            <a:solidFill>
                                              <a:srgbClr val="000000"/>
                                            </a:solidFill>
                                            <a:effectLst/>
                                            <a:latin typeface="Cambria Math" panose="02040503050406030204" pitchFamily="18" charset="0"/>
                                            <a:ea typeface="Arial"/>
                                            <a:cs typeface="Arial"/>
                                            <a:sym typeface="Arial"/>
                                          </a:rPr>
                                        </m:ctrlPr>
                                      </m:sSubPr>
                                      <m:e>
                                        <m:r>
                                          <a:rPr lang="en-US" sz="3600" b="1" i="0" u="none" strike="noStrike" cap="none">
                                            <a:solidFill>
                                              <a:srgbClr val="000000"/>
                                            </a:solidFill>
                                            <a:effectLst/>
                                            <a:latin typeface="Cambria Math" panose="02040503050406030204" pitchFamily="18" charset="0"/>
                                            <a:ea typeface="Arial"/>
                                            <a:cs typeface="Arial"/>
                                            <a:sym typeface="Arial"/>
                                          </a:rPr>
                                          <m:t>𝛍</m:t>
                                        </m:r>
                                      </m:e>
                                      <m:sub>
                                        <m:r>
                                          <a:rPr lang="en-US" sz="3600" b="1" i="0" u="none" strike="noStrike" cap="none">
                                            <a:solidFill>
                                              <a:srgbClr val="000000"/>
                                            </a:solidFill>
                                            <a:effectLst/>
                                            <a:latin typeface="Cambria Math" panose="02040503050406030204" pitchFamily="18" charset="0"/>
                                            <a:ea typeface="Arial"/>
                                            <a:cs typeface="Arial"/>
                                            <a:sym typeface="Arial"/>
                                          </a:rPr>
                                          <m:t>𝐤</m:t>
                                        </m:r>
                                      </m:sub>
                                    </m:sSub>
                                    <m:r>
                                      <a:rPr lang="en-US" sz="3600" b="0" i="0" u="none" strike="noStrike" cap="none">
                                        <a:solidFill>
                                          <a:srgbClr val="000000"/>
                                        </a:solidFill>
                                        <a:effectLst/>
                                        <a:latin typeface="Cambria Math" panose="02040503050406030204" pitchFamily="18" charset="0"/>
                                        <a:ea typeface="Arial"/>
                                        <a:cs typeface="Arial"/>
                                        <a:sym typeface="Arial"/>
                                      </a:rPr>
                                      <m:t>,</m:t>
                                    </m:r>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1" i="1" u="none" strike="noStrike" cap="none">
                                            <a:solidFill>
                                              <a:srgbClr val="000000"/>
                                            </a:solidFill>
                                            <a:effectLst/>
                                            <a:latin typeface="Cambria Math" panose="02040503050406030204" pitchFamily="18" charset="0"/>
                                            <a:ea typeface="Arial"/>
                                            <a:cs typeface="Arial"/>
                                            <a:sym typeface="Arial"/>
                                          </a:rPr>
                                          <m:t>𝛀</m:t>
                                        </m:r>
                                      </m:e>
                                      <m:sub>
                                        <m:r>
                                          <a:rPr lang="en-US" sz="3600" b="1" i="1" u="none" strike="noStrike" cap="none">
                                            <a:solidFill>
                                              <a:srgbClr val="000000"/>
                                            </a:solidFill>
                                            <a:effectLst/>
                                            <a:latin typeface="Cambria Math" panose="02040503050406030204" pitchFamily="18" charset="0"/>
                                            <a:ea typeface="Arial"/>
                                            <a:cs typeface="Arial"/>
                                            <a:sym typeface="Arial"/>
                                          </a:rPr>
                                          <m:t>𝐤</m:t>
                                        </m:r>
                                      </m:sub>
                                    </m:sSub>
                                  </m:e>
                                </m:d>
                                <m:limLow>
                                  <m:limLowPr>
                                    <m:ctrlPr>
                                      <a:rPr lang="en-US" sz="3600" b="0" i="1" u="none" strike="noStrike" cap="none">
                                        <a:solidFill>
                                          <a:srgbClr val="000000"/>
                                        </a:solidFill>
                                        <a:effectLst/>
                                        <a:latin typeface="Cambria Math" panose="02040503050406030204" pitchFamily="18" charset="0"/>
                                        <a:ea typeface="Arial"/>
                                        <a:cs typeface="Arial"/>
                                        <a:sym typeface="Arial"/>
                                      </a:rPr>
                                    </m:ctrlPr>
                                  </m:limLowPr>
                                  <m:e>
                                    <m:limUpp>
                                      <m:limUppPr>
                                        <m:ctrlPr>
                                          <a:rPr lang="en-US" sz="3600" b="0" i="1" u="none" strike="noStrike" cap="none">
                                            <a:solidFill>
                                              <a:srgbClr val="000000"/>
                                            </a:solidFill>
                                            <a:effectLst/>
                                            <a:latin typeface="Cambria Math" panose="02040503050406030204" pitchFamily="18" charset="0"/>
                                            <a:ea typeface="Arial"/>
                                            <a:cs typeface="Arial"/>
                                            <a:sym typeface="Arial"/>
                                          </a:rPr>
                                        </m:ctrlPr>
                                      </m:limUppPr>
                                      <m:e>
                                        <m:r>
                                          <a:rPr lang="en-US" sz="3600" b="0" i="0" u="none" strike="noStrike" cap="none">
                                            <a:solidFill>
                                              <a:srgbClr val="000000"/>
                                            </a:solidFill>
                                            <a:effectLst/>
                                            <a:latin typeface="Cambria Math" panose="02040503050406030204" pitchFamily="18" charset="0"/>
                                            <a:ea typeface="Arial"/>
                                            <a:cs typeface="Arial"/>
                                            <a:sym typeface="Arial"/>
                                          </a:rPr>
                                          <m:t>}</m:t>
                                        </m:r>
                                      </m:e>
                                      <m:lim>
                                        <m:sSub>
                                          <m:sSubPr>
                                            <m:ctrlPr>
                                              <a:rPr lang="en-US" sz="3600" b="0" i="1" u="none" strike="noStrike" cap="none">
                                                <a:solidFill>
                                                  <a:srgbClr val="000000"/>
                                                </a:solidFill>
                                                <a:effectLst/>
                                                <a:latin typeface="Cambria Math" panose="02040503050406030204" pitchFamily="18" charset="0"/>
                                                <a:ea typeface="Arial"/>
                                                <a:cs typeface="Arial"/>
                                                <a:sym typeface="Arial"/>
                                              </a:rPr>
                                            </m:ctrlPr>
                                          </m:sSubPr>
                                          <m:e>
                                            <m:r>
                                              <a:rPr lang="en-US" sz="3600" b="0" i="1" u="none" strike="noStrike" cap="none">
                                                <a:solidFill>
                                                  <a:srgbClr val="000000"/>
                                                </a:solidFill>
                                                <a:effectLst/>
                                                <a:latin typeface="Cambria Math" panose="02040503050406030204" pitchFamily="18" charset="0"/>
                                                <a:ea typeface="Arial"/>
                                                <a:cs typeface="Arial"/>
                                                <a:sym typeface="Arial"/>
                                              </a:rPr>
                                              <m:t>𝑛</m:t>
                                            </m:r>
                                          </m:e>
                                          <m:sub>
                                            <m:r>
                                              <a:rPr lang="en-US" sz="3600" b="0" i="1" u="none" strike="noStrike" cap="none">
                                                <a:solidFill>
                                                  <a:srgbClr val="000000"/>
                                                </a:solidFill>
                                                <a:effectLst/>
                                                <a:latin typeface="Cambria Math" panose="02040503050406030204" pitchFamily="18" charset="0"/>
                                                <a:ea typeface="Arial"/>
                                                <a:cs typeface="Arial"/>
                                                <a:sym typeface="Arial"/>
                                              </a:rPr>
                                              <m:t>𝑘</m:t>
                                            </m:r>
                                          </m:sub>
                                        </m:sSub>
                                      </m:lim>
                                    </m:limUpp>
                                  </m:e>
                                  <m:lim>
                                    <m:r>
                                      <a:rPr lang="en-US" sz="3600" b="0" i="1" u="none" strike="noStrike" cap="none">
                                        <a:solidFill>
                                          <a:srgbClr val="000000"/>
                                        </a:solidFill>
                                        <a:effectLst/>
                                        <a:latin typeface="Cambria Math" panose="02040503050406030204" pitchFamily="18" charset="0"/>
                                        <a:ea typeface="Arial"/>
                                        <a:cs typeface="Arial"/>
                                        <a:sym typeface="Arial"/>
                                      </a:rPr>
                                      <m:t>𝑡</m:t>
                                    </m:r>
                                    <m:r>
                                      <a:rPr lang="en-US" sz="3600" b="0" i="0" u="none" strike="noStrike" cap="none">
                                        <a:solidFill>
                                          <a:srgbClr val="000000"/>
                                        </a:solidFill>
                                        <a:effectLst/>
                                        <a:latin typeface="Cambria Math" panose="02040503050406030204" pitchFamily="18" charset="0"/>
                                        <a:ea typeface="Arial"/>
                                        <a:cs typeface="Arial"/>
                                        <a:sym typeface="Arial"/>
                                      </a:rPr>
                                      <m:t>=</m:t>
                                    </m:r>
                                    <m:r>
                                      <a:rPr lang="en-US" sz="3600" b="0" i="1" u="none" strike="noStrike" cap="none">
                                        <a:solidFill>
                                          <a:srgbClr val="000000"/>
                                        </a:solidFill>
                                        <a:effectLst/>
                                        <a:latin typeface="Cambria Math" panose="02040503050406030204" pitchFamily="18" charset="0"/>
                                        <a:ea typeface="Arial"/>
                                        <a:cs typeface="Arial"/>
                                        <a:sym typeface="Arial"/>
                                      </a:rPr>
                                      <m:t>1</m:t>
                                    </m:r>
                                  </m:lim>
                                </m:limLow>
                                <m:limLow>
                                  <m:limLowPr>
                                    <m:ctrlPr>
                                      <a:rPr lang="en-US" sz="3600" b="0" i="1" u="none" strike="noStrike" cap="none">
                                        <a:solidFill>
                                          <a:srgbClr val="000000"/>
                                        </a:solidFill>
                                        <a:effectLst/>
                                        <a:latin typeface="Cambria Math" panose="02040503050406030204" pitchFamily="18" charset="0"/>
                                        <a:ea typeface="Arial"/>
                                        <a:cs typeface="Arial"/>
                                        <a:sym typeface="Arial"/>
                                      </a:rPr>
                                    </m:ctrlPr>
                                  </m:limLowPr>
                                  <m:e>
                                    <m:limUpp>
                                      <m:limUppPr>
                                        <m:ctrlPr>
                                          <a:rPr lang="en-US" sz="3600" b="0" i="1" u="none" strike="noStrike" cap="none">
                                            <a:solidFill>
                                              <a:srgbClr val="000000"/>
                                            </a:solidFill>
                                            <a:effectLst/>
                                            <a:latin typeface="Cambria Math" panose="02040503050406030204" pitchFamily="18" charset="0"/>
                                            <a:ea typeface="Arial"/>
                                            <a:cs typeface="Arial"/>
                                            <a:sym typeface="Arial"/>
                                          </a:rPr>
                                        </m:ctrlPr>
                                      </m:limUppPr>
                                      <m:e>
                                        <m:r>
                                          <a:rPr lang="en-US" sz="3600" b="0" i="0" u="none" strike="noStrike" cap="none">
                                            <a:solidFill>
                                              <a:srgbClr val="000000"/>
                                            </a:solidFill>
                                            <a:effectLst/>
                                            <a:latin typeface="Cambria Math" panose="02040503050406030204" pitchFamily="18" charset="0"/>
                                            <a:ea typeface="Arial"/>
                                            <a:cs typeface="Arial"/>
                                            <a:sym typeface="Arial"/>
                                          </a:rPr>
                                          <m:t>}</m:t>
                                        </m:r>
                                      </m:e>
                                      <m:lim>
                                        <m:r>
                                          <a:rPr lang="en-US" sz="3600" b="0" i="1" u="none" strike="noStrike" cap="none">
                                            <a:solidFill>
                                              <a:srgbClr val="000000"/>
                                            </a:solidFill>
                                            <a:effectLst/>
                                            <a:latin typeface="Cambria Math" panose="02040503050406030204" pitchFamily="18" charset="0"/>
                                            <a:ea typeface="Arial"/>
                                            <a:cs typeface="Arial"/>
                                            <a:sym typeface="Arial"/>
                                          </a:rPr>
                                          <m:t>𝐾</m:t>
                                        </m:r>
                                      </m:lim>
                                    </m:limUpp>
                                  </m:e>
                                  <m:lim>
                                    <m:r>
                                      <a:rPr lang="en-US" sz="3600" b="0" i="1" u="none" strike="noStrike" cap="none">
                                        <a:solidFill>
                                          <a:srgbClr val="000000"/>
                                        </a:solidFill>
                                        <a:effectLst/>
                                        <a:latin typeface="Cambria Math" panose="02040503050406030204" pitchFamily="18" charset="0"/>
                                        <a:ea typeface="Arial"/>
                                        <a:cs typeface="Arial"/>
                                        <a:sym typeface="Arial"/>
                                      </a:rPr>
                                      <m:t>𝑘</m:t>
                                    </m:r>
                                    <m:r>
                                      <a:rPr lang="en-US" sz="3600" b="0" i="0" u="none" strike="noStrike" cap="none">
                                        <a:solidFill>
                                          <a:srgbClr val="000000"/>
                                        </a:solidFill>
                                        <a:effectLst/>
                                        <a:latin typeface="Cambria Math" panose="02040503050406030204" pitchFamily="18" charset="0"/>
                                        <a:ea typeface="Arial"/>
                                        <a:cs typeface="Arial"/>
                                        <a:sym typeface="Arial"/>
                                      </a:rPr>
                                      <m:t>=</m:t>
                                    </m:r>
                                    <m:r>
                                      <a:rPr lang="en-US" sz="3600" b="0" i="1" u="none" strike="noStrike" cap="none">
                                        <a:solidFill>
                                          <a:srgbClr val="000000"/>
                                        </a:solidFill>
                                        <a:effectLst/>
                                        <a:latin typeface="Cambria Math" panose="02040503050406030204" pitchFamily="18" charset="0"/>
                                        <a:ea typeface="Arial"/>
                                        <a:cs typeface="Arial"/>
                                        <a:sym typeface="Arial"/>
                                      </a:rPr>
                                      <m:t>1</m:t>
                                    </m:r>
                                  </m:lim>
                                </m:limLow>
                              </m:oMath>
                            </m:oMathPara>
                          </a14:m>
                          <a:endParaRPr lang="en-US" sz="3600" b="0" i="0" u="none" strike="noStrike" cap="none" dirty="0">
                            <a:solidFill>
                              <a:srgbClr val="000000"/>
                            </a:solidFill>
                            <a:effectLst/>
                            <a:latin typeface="Arial"/>
                            <a:ea typeface="Arial"/>
                            <a:cs typeface="Arial"/>
                            <a:sym typeface="Arial"/>
                          </a:endParaRPr>
                        </a:p>
                      </a:txBody>
                      <a:tcPr marL="68580" marR="68580" marT="0" marB="0" anchor="ctr"/>
                    </a:tc>
                    <a:tc>
                      <a:txBody>
                        <a:bodyPr/>
                        <a:lstStyle/>
                        <a:p>
                          <a:pPr marL="0" marR="0" lvl="0" indent="457200" algn="l" defTabSz="914400" rtl="0" eaLnBrk="1" fontAlgn="auto" latinLnBrk="0" hangingPunct="1">
                            <a:lnSpc>
                              <a:spcPct val="150000"/>
                            </a:lnSpc>
                            <a:spcBef>
                              <a:spcPts val="180"/>
                            </a:spcBef>
                            <a:spcAft>
                              <a:spcPts val="180"/>
                            </a:spcAft>
                            <a:buClr>
                              <a:srgbClr val="000000"/>
                            </a:buClr>
                            <a:buSzTx/>
                            <a:buFont typeface="Arial"/>
                            <a:buNone/>
                            <a:tabLst/>
                            <a:defRPr/>
                          </a:pPr>
                          <a:r>
                            <a:rPr lang="en-US" sz="2800" b="0" i="0" u="none" strike="noStrike" cap="none" dirty="0">
                              <a:solidFill>
                                <a:srgbClr val="000000"/>
                              </a:solidFill>
                              <a:effectLst/>
                              <a:latin typeface="Arial"/>
                              <a:ea typeface="Arial"/>
                              <a:cs typeface="Arial"/>
                              <a:sym typeface="Arial"/>
                            </a:rPr>
                            <a:t>Set of fMRI signals consisting of </a:t>
                          </a:r>
                          <a14:m>
                            <m:oMath xmlns:m="http://schemas.openxmlformats.org/officeDocument/2006/math">
                              <m:sSub>
                                <m:sSubPr>
                                  <m:ctrlPr>
                                    <a:rPr lang="en-US" sz="2800" b="0" i="1" u="none" strike="noStrike" cap="none">
                                      <a:solidFill>
                                        <a:srgbClr val="000000"/>
                                      </a:solidFill>
                                      <a:effectLst/>
                                      <a:latin typeface="Cambria Math" panose="02040503050406030204" pitchFamily="18" charset="0"/>
                                      <a:ea typeface="Arial"/>
                                      <a:cs typeface="Arial"/>
                                      <a:sym typeface="Arial"/>
                                    </a:rPr>
                                  </m:ctrlPr>
                                </m:sSubPr>
                                <m:e>
                                  <m:r>
                                    <a:rPr lang="en-US" sz="2800" b="0" i="0" u="none" strike="noStrike" cap="none">
                                      <a:solidFill>
                                        <a:srgbClr val="000000"/>
                                      </a:solidFill>
                                      <a:effectLst/>
                                      <a:latin typeface="Cambria Math" panose="02040503050406030204" pitchFamily="18" charset="0"/>
                                      <a:ea typeface="Arial"/>
                                      <a:cs typeface="Arial"/>
                                      <a:sym typeface="Arial"/>
                                    </a:rPr>
                                    <m:t>𝑛</m:t>
                                  </m:r>
                                </m:e>
                                <m:sub>
                                  <m:r>
                                    <a:rPr lang="en-US" sz="2800" b="0" i="0" u="none" strike="noStrike" cap="none">
                                      <a:solidFill>
                                        <a:srgbClr val="000000"/>
                                      </a:solidFill>
                                      <a:effectLst/>
                                      <a:latin typeface="Cambria Math" panose="02040503050406030204" pitchFamily="18" charset="0"/>
                                      <a:ea typeface="Arial"/>
                                      <a:cs typeface="Arial"/>
                                      <a:sym typeface="Arial"/>
                                    </a:rPr>
                                    <m:t>𝑘</m:t>
                                  </m:r>
                                </m:sub>
                              </m:sSub>
                            </m:oMath>
                          </a14:m>
                          <a:r>
                            <a:rPr lang="en-US" sz="2800" b="0" i="0" u="none" strike="noStrike" cap="none" dirty="0">
                              <a:solidFill>
                                <a:srgbClr val="000000"/>
                              </a:solidFill>
                              <a:effectLst/>
                              <a:latin typeface="Arial"/>
                              <a:ea typeface="Arial"/>
                              <a:cs typeface="Arial"/>
                              <a:sym typeface="Arial"/>
                            </a:rPr>
                            <a:t> observations of </a:t>
                          </a:r>
                          <a14:m>
                            <m:oMath xmlns:m="http://schemas.openxmlformats.org/officeDocument/2006/math">
                              <m:r>
                                <a:rPr lang="en-US" sz="2800" b="0" i="0" u="none" strike="noStrike" cap="none">
                                  <a:solidFill>
                                    <a:srgbClr val="000000"/>
                                  </a:solidFill>
                                  <a:effectLst/>
                                  <a:latin typeface="Cambria Math" panose="02040503050406030204" pitchFamily="18" charset="0"/>
                                  <a:ea typeface="Arial"/>
                                  <a:cs typeface="Arial"/>
                                  <a:sym typeface="Arial"/>
                                </a:rPr>
                                <m:t>𝑝</m:t>
                              </m:r>
                            </m:oMath>
                          </a14:m>
                          <a:r>
                            <a:rPr lang="en-US" sz="2800" b="0" i="0" u="none" strike="noStrike" cap="none" dirty="0">
                              <a:solidFill>
                                <a:srgbClr val="000000"/>
                              </a:solidFill>
                              <a:effectLst/>
                              <a:latin typeface="Arial"/>
                              <a:ea typeface="Arial"/>
                              <a:cs typeface="Arial"/>
                              <a:sym typeface="Arial"/>
                            </a:rPr>
                            <a:t> variables for subject </a:t>
                          </a:r>
                          <a14:m>
                            <m:oMath xmlns:m="http://schemas.openxmlformats.org/officeDocument/2006/math">
                              <m:r>
                                <a:rPr lang="en-US" sz="2800" b="0" i="0" u="none" strike="noStrike" cap="none">
                                  <a:solidFill>
                                    <a:srgbClr val="000000"/>
                                  </a:solidFill>
                                  <a:effectLst/>
                                  <a:latin typeface="Cambria Math" panose="02040503050406030204" pitchFamily="18" charset="0"/>
                                  <a:ea typeface="Arial"/>
                                  <a:cs typeface="Arial"/>
                                  <a:sym typeface="Arial"/>
                                </a:rPr>
                                <m:t>𝑘</m:t>
                              </m:r>
                            </m:oMath>
                          </a14:m>
                          <a:endParaRPr lang="en-US" sz="2800" b="0" i="0" u="none" strike="noStrike" cap="none" dirty="0">
                            <a:solidFill>
                              <a:srgbClr val="000000"/>
                            </a:solidFill>
                            <a:effectLst/>
                            <a:latin typeface="Arial"/>
                            <a:ea typeface="Arial"/>
                            <a:cs typeface="Arial"/>
                            <a:sym typeface="Arial"/>
                          </a:endParaRPr>
                        </a:p>
                      </a:txBody>
                      <a:tcPr marL="68580" marR="68580" marT="0" marB="0" anchor="ctr"/>
                    </a:tc>
                    <a:extLst>
                      <a:ext uri="{0D108BD9-81ED-4DB2-BD59-A6C34878D82A}">
                        <a16:rowId xmlns:a16="http://schemas.microsoft.com/office/drawing/2014/main" val="3354433440"/>
                      </a:ext>
                    </a:extLst>
                  </a:tr>
                </a:tbl>
              </a:graphicData>
            </a:graphic>
          </p:graphicFrame>
        </mc:Choice>
        <mc:Fallback xmlns="">
          <p:graphicFrame>
            <p:nvGraphicFramePr>
              <p:cNvPr id="2" name="Table 2">
                <a:extLst>
                  <a:ext uri="{FF2B5EF4-FFF2-40B4-BE49-F238E27FC236}">
                    <a16:creationId xmlns:a16="http://schemas.microsoft.com/office/drawing/2014/main" id="{DD64A777-8221-90AB-7F62-34B53C1013C0}"/>
                  </a:ext>
                </a:extLst>
              </p:cNvPr>
              <p:cNvGraphicFramePr>
                <a:graphicFrameLocks noGrp="1"/>
              </p:cNvGraphicFramePr>
              <p:nvPr userDrawn="1">
                <p:extLst>
                  <p:ext uri="{D42A27DB-BD31-4B8C-83A1-F6EECF244321}">
                    <p14:modId xmlns:p14="http://schemas.microsoft.com/office/powerpoint/2010/main" val="3180680857"/>
                  </p:ext>
                </p:extLst>
              </p:nvPr>
            </p:nvGraphicFramePr>
            <p:xfrm>
              <a:off x="648929" y="14846709"/>
              <a:ext cx="15102348" cy="8190271"/>
            </p:xfrm>
            <a:graphic>
              <a:graphicData uri="http://schemas.openxmlformats.org/drawingml/2006/table">
                <a:tbl>
                  <a:tblPr firstRow="1" bandRow="1">
                    <a:tableStyleId>{FA1151E8-28CC-4D0A-90E6-D913D1850F2D}</a:tableStyleId>
                  </a:tblPr>
                  <a:tblGrid>
                    <a:gridCol w="2856315">
                      <a:extLst>
                        <a:ext uri="{9D8B030D-6E8A-4147-A177-3AD203B41FA5}">
                          <a16:colId xmlns:a16="http://schemas.microsoft.com/office/drawing/2014/main" val="1191074651"/>
                        </a:ext>
                      </a:extLst>
                    </a:gridCol>
                    <a:gridCol w="6631900">
                      <a:extLst>
                        <a:ext uri="{9D8B030D-6E8A-4147-A177-3AD203B41FA5}">
                          <a16:colId xmlns:a16="http://schemas.microsoft.com/office/drawing/2014/main" val="2841301798"/>
                        </a:ext>
                      </a:extLst>
                    </a:gridCol>
                    <a:gridCol w="5614133">
                      <a:extLst>
                        <a:ext uri="{9D8B030D-6E8A-4147-A177-3AD203B41FA5}">
                          <a16:colId xmlns:a16="http://schemas.microsoft.com/office/drawing/2014/main" val="3617628030"/>
                        </a:ext>
                      </a:extLst>
                    </a:gridCol>
                  </a:tblGrid>
                  <a:tr h="1224217">
                    <a:tc>
                      <a:txBody>
                        <a:bodyPr/>
                        <a:lstStyle/>
                        <a:p>
                          <a:pPr marL="0" marR="0" indent="457200">
                            <a:lnSpc>
                              <a:spcPct val="150000"/>
                            </a:lnSpc>
                            <a:spcBef>
                              <a:spcPts val="180"/>
                            </a:spcBef>
                            <a:spcAft>
                              <a:spcPts val="180"/>
                            </a:spcAft>
                          </a:pPr>
                          <a:r>
                            <a:rPr lang="en-US" sz="3200" b="0" i="0" u="none" strike="noStrike" cap="none" dirty="0">
                              <a:solidFill>
                                <a:srgbClr val="000000"/>
                              </a:solidFill>
                              <a:effectLst/>
                              <a:latin typeface="Arial"/>
                              <a:cs typeface="Arial"/>
                              <a:sym typeface="Arial"/>
                            </a:rPr>
                            <a:t>Level</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marL="0" marR="0" indent="457200" algn="ctr">
                            <a:lnSpc>
                              <a:spcPct val="150000"/>
                            </a:lnSpc>
                            <a:spcBef>
                              <a:spcPts val="180"/>
                            </a:spcBef>
                            <a:spcAft>
                              <a:spcPts val="180"/>
                            </a:spcAft>
                          </a:pPr>
                          <a:r>
                            <a:rPr lang="en-US" sz="3200" b="0" i="0" u="none" strike="noStrike" cap="none" dirty="0">
                              <a:solidFill>
                                <a:srgbClr val="000000"/>
                              </a:solidFill>
                              <a:effectLst/>
                              <a:latin typeface="Arial"/>
                              <a:cs typeface="Arial"/>
                              <a:sym typeface="Arial"/>
                            </a:rPr>
                            <a:t>Model</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pPr marL="0" marR="0" indent="457200" algn="l">
                            <a:lnSpc>
                              <a:spcPct val="150000"/>
                            </a:lnSpc>
                            <a:spcBef>
                              <a:spcPts val="180"/>
                            </a:spcBef>
                            <a:spcAft>
                              <a:spcPts val="180"/>
                            </a:spcAft>
                          </a:pPr>
                          <a:r>
                            <a:rPr lang="en-US" sz="3200" dirty="0">
                              <a:effectLst/>
                            </a:rPr>
                            <a:t>Interpretation</a:t>
                          </a:r>
                          <a:endParaRPr lang="en-US" sz="3200" dirty="0">
                            <a:effectLst/>
                            <a:latin typeface="Times New Roman" panose="02020603050405020304" pitchFamily="18" charset="0"/>
                            <a:ea typeface="Cambria" panose="020405030504060302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488523086"/>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Cluster</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endParaRPr lang="en-US"/>
                        </a:p>
                      </a:txBody>
                      <a:tcPr marL="68580" marR="68580" marT="0" marB="0" anchor="ctr">
                        <a:blipFill>
                          <a:blip r:embed="rId2"/>
                          <a:stretch>
                            <a:fillRect l="-43199" t="-53018" r="-84835" b="-200787"/>
                          </a:stretch>
                        </a:blipFill>
                      </a:tcPr>
                    </a:tc>
                    <a:tc>
                      <a:txBody>
                        <a:bodyPr/>
                        <a:lstStyle/>
                        <a:p>
                          <a:endParaRPr lang="en-US"/>
                        </a:p>
                      </a:txBody>
                      <a:tcPr marL="68580" marR="68580" marT="0" marB="0" anchor="ctr">
                        <a:blipFill>
                          <a:blip r:embed="rId2"/>
                          <a:stretch>
                            <a:fillRect l="-169164" t="-53018" r="-217" b="-200787"/>
                          </a:stretch>
                        </a:blipFill>
                      </a:tcPr>
                    </a:tc>
                    <a:extLst>
                      <a:ext uri="{0D108BD9-81ED-4DB2-BD59-A6C34878D82A}">
                        <a16:rowId xmlns:a16="http://schemas.microsoft.com/office/drawing/2014/main" val="739924968"/>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Subject</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endParaRPr lang="en-US"/>
                        </a:p>
                      </a:txBody>
                      <a:tcPr marL="68580" marR="68580" marT="0" marB="0" anchor="ctr">
                        <a:blipFill>
                          <a:blip r:embed="rId2"/>
                          <a:stretch>
                            <a:fillRect l="-43199" t="-152618" r="-84835" b="-100262"/>
                          </a:stretch>
                        </a:blipFill>
                      </a:tcPr>
                    </a:tc>
                    <a:tc>
                      <a:txBody>
                        <a:bodyPr/>
                        <a:lstStyle/>
                        <a:p>
                          <a:endParaRPr lang="en-US"/>
                        </a:p>
                      </a:txBody>
                      <a:tcPr marL="68580" marR="68580" marT="0" marB="0" anchor="ctr">
                        <a:blipFill>
                          <a:blip r:embed="rId2"/>
                          <a:stretch>
                            <a:fillRect l="-169164" t="-152618" r="-217" b="-100262"/>
                          </a:stretch>
                        </a:blipFill>
                      </a:tcPr>
                    </a:tc>
                    <a:extLst>
                      <a:ext uri="{0D108BD9-81ED-4DB2-BD59-A6C34878D82A}">
                        <a16:rowId xmlns:a16="http://schemas.microsoft.com/office/drawing/2014/main" val="468420601"/>
                      </a:ext>
                    </a:extLst>
                  </a:tr>
                  <a:tr h="2322018">
                    <a:tc>
                      <a:txBody>
                        <a:bodyPr/>
                        <a:lstStyle/>
                        <a:p>
                          <a:pPr marL="0" marR="0" indent="457200" algn="l" rtl="0">
                            <a:lnSpc>
                              <a:spcPct val="150000"/>
                            </a:lnSpc>
                            <a:spcBef>
                              <a:spcPts val="180"/>
                            </a:spcBef>
                            <a:spcAft>
                              <a:spcPts val="180"/>
                            </a:spcAft>
                            <a:buClr>
                              <a:srgbClr val="000000"/>
                            </a:buClr>
                            <a:buFont typeface="Arial"/>
                          </a:pPr>
                          <a:r>
                            <a:rPr lang="en-US" sz="3200" b="0" i="0" u="none" strike="noStrike" cap="none" dirty="0">
                              <a:solidFill>
                                <a:srgbClr val="000000"/>
                              </a:solidFill>
                              <a:effectLst/>
                              <a:latin typeface="Arial"/>
                              <a:cs typeface="Arial"/>
                              <a:sym typeface="Arial"/>
                            </a:rPr>
                            <a:t>Observation</a:t>
                          </a:r>
                          <a:endParaRPr lang="en-US" sz="3200" b="0" i="0" u="none" strike="noStrike" cap="none" dirty="0">
                            <a:solidFill>
                              <a:srgbClr val="000000"/>
                            </a:solidFill>
                            <a:effectLst/>
                            <a:latin typeface="Arial"/>
                            <a:ea typeface="Cambria" panose="02040503050406030204" pitchFamily="18" charset="0"/>
                            <a:cs typeface="Arial"/>
                            <a:sym typeface="Arial"/>
                          </a:endParaRPr>
                        </a:p>
                      </a:txBody>
                      <a:tcPr marL="68580" marR="68580" marT="0" marB="0" anchor="ctr"/>
                    </a:tc>
                    <a:tc>
                      <a:txBody>
                        <a:bodyPr/>
                        <a:lstStyle/>
                        <a:p>
                          <a:endParaRPr lang="en-US"/>
                        </a:p>
                      </a:txBody>
                      <a:tcPr marL="68580" marR="68580" marT="0" marB="0" anchor="ctr">
                        <a:blipFill>
                          <a:blip r:embed="rId2"/>
                          <a:stretch>
                            <a:fillRect l="-43199" t="-253281" r="-84835" b="-525"/>
                          </a:stretch>
                        </a:blipFill>
                      </a:tcPr>
                    </a:tc>
                    <a:tc>
                      <a:txBody>
                        <a:bodyPr/>
                        <a:lstStyle/>
                        <a:p>
                          <a:endParaRPr lang="en-US"/>
                        </a:p>
                      </a:txBody>
                      <a:tcPr marL="68580" marR="68580" marT="0" marB="0" anchor="ctr">
                        <a:blipFill>
                          <a:blip r:embed="rId2"/>
                          <a:stretch>
                            <a:fillRect l="-169164" t="-253281" r="-217" b="-525"/>
                          </a:stretch>
                        </a:blipFill>
                      </a:tcPr>
                    </a:tc>
                    <a:extLst>
                      <a:ext uri="{0D108BD9-81ED-4DB2-BD59-A6C34878D82A}">
                        <a16:rowId xmlns:a16="http://schemas.microsoft.com/office/drawing/2014/main" val="3354433440"/>
                      </a:ext>
                    </a:extLst>
                  </a:tr>
                </a:tbl>
              </a:graphicData>
            </a:graphic>
          </p:graphicFrame>
        </mc:Fallback>
      </mc:AlternateContent>
    </p:spTree>
    <p:extLst>
      <p:ext uri="{BB962C8B-B14F-4D97-AF65-F5344CB8AC3E}">
        <p14:creationId xmlns:p14="http://schemas.microsoft.com/office/powerpoint/2010/main" val="2802221383"/>
      </p:ext>
    </p:extLst>
  </p:cSld>
  <p:clrMapOvr>
    <a:masterClrMapping/>
  </p:clrMapOvr>
  <p:extLst>
    <p:ext uri="{DCECCB84-F9BA-43D5-87BE-67443E8EF086}">
      <p15:sldGuideLst xmlns:p15="http://schemas.microsoft.com/office/powerpoint/2012/main">
        <p15:guide id="1" orient="horz" pos="10368">
          <p15:clr>
            <a:srgbClr val="FBAE40"/>
          </p15:clr>
        </p15:guide>
        <p15:guide id="2" pos="9216" userDrawn="1">
          <p15:clr>
            <a:srgbClr val="FBAE40"/>
          </p15:clr>
        </p15:guide>
        <p15:guide id="3" pos="184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esearch Poster Template" preserve="1" userDrawn="1">
  <p:cSld name="Research Poster Template 3 Column Empty">
    <p:spTree>
      <p:nvGrpSpPr>
        <p:cNvPr id="1" name="Shape 16"/>
        <p:cNvGrpSpPr/>
        <p:nvPr/>
      </p:nvGrpSpPr>
      <p:grpSpPr>
        <a:xfrm>
          <a:off x="0" y="0"/>
          <a:ext cx="0" cy="0"/>
          <a:chOff x="0" y="0"/>
          <a:chExt cx="0" cy="0"/>
        </a:xfrm>
      </p:grpSpPr>
      <p:cxnSp>
        <p:nvCxnSpPr>
          <p:cNvPr id="18" name="Google Shape;18;p4"/>
          <p:cNvCxnSpPr/>
          <p:nvPr/>
        </p:nvCxnSpPr>
        <p:spPr>
          <a:xfrm>
            <a:off x="11307763" y="8992295"/>
            <a:ext cx="914400" cy="914400"/>
          </a:xfrm>
          <a:prstGeom prst="straightConnector1">
            <a:avLst/>
          </a:prstGeom>
          <a:noFill/>
          <a:ln>
            <a:noFill/>
          </a:ln>
        </p:spPr>
      </p:cxnSp>
      <p:sp>
        <p:nvSpPr>
          <p:cNvPr id="21" name="Google Shape;21;p4"/>
          <p:cNvSpPr txBox="1">
            <a:spLocks noGrp="1"/>
          </p:cNvSpPr>
          <p:nvPr>
            <p:ph type="body" idx="1"/>
          </p:nvPr>
        </p:nvSpPr>
        <p:spPr>
          <a:xfrm>
            <a:off x="914398" y="6859659"/>
            <a:ext cx="13716001" cy="233450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64285"/>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L="457200" marR="0" lvl="1" indent="0" algn="l" rtl="0">
              <a:lnSpc>
                <a:spcPct val="164285"/>
              </a:lnSpc>
              <a:spcBef>
                <a:spcPts val="0"/>
              </a:spcBef>
              <a:spcAft>
                <a:spcPts val="1200"/>
              </a:spcAft>
              <a:buClr>
                <a:schemeClr val="dk2"/>
              </a:buClr>
              <a:buSzPts val="2800"/>
              <a:buFont typeface="Arial"/>
              <a:buNone/>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
        <p:nvSpPr>
          <p:cNvPr id="24" name="Google Shape;24;p4"/>
          <p:cNvSpPr txBox="1">
            <a:spLocks noGrp="1"/>
          </p:cNvSpPr>
          <p:nvPr>
            <p:ph type="body" idx="4"/>
          </p:nvPr>
        </p:nvSpPr>
        <p:spPr>
          <a:xfrm>
            <a:off x="15220335" y="6832926"/>
            <a:ext cx="13450530" cy="2340126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64285"/>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L="914400" marR="0" lvl="1" indent="-406400" algn="l" rtl="0">
              <a:lnSpc>
                <a:spcPct val="164285"/>
              </a:lnSpc>
              <a:spcBef>
                <a:spcPts val="0"/>
              </a:spcBef>
              <a:spcAft>
                <a:spcPts val="0"/>
              </a:spcAft>
              <a:buClr>
                <a:schemeClr val="dk2"/>
              </a:buClr>
              <a:buSzPts val="2800"/>
              <a:buFont typeface="Arial"/>
              <a:buChar char="•"/>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
        <p:nvSpPr>
          <p:cNvPr id="26" name="Google Shape;26;p4"/>
          <p:cNvSpPr txBox="1">
            <a:spLocks noGrp="1"/>
          </p:cNvSpPr>
          <p:nvPr>
            <p:ph type="body" idx="6"/>
          </p:nvPr>
        </p:nvSpPr>
        <p:spPr>
          <a:xfrm>
            <a:off x="29880232" y="6859658"/>
            <a:ext cx="13112442" cy="23286045"/>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64285"/>
              </a:lnSpc>
              <a:spcBef>
                <a:spcPts val="0"/>
              </a:spcBef>
              <a:spcAft>
                <a:spcPts val="0"/>
              </a:spcAft>
              <a:buClr>
                <a:srgbClr val="7F7F7F"/>
              </a:buClr>
              <a:buSzPts val="2800"/>
              <a:buFont typeface="Arial"/>
              <a:buChar char="•"/>
              <a:defRPr sz="2800" b="0" i="0" u="none" strike="noStrike" cap="none">
                <a:solidFill>
                  <a:srgbClr val="7F7F7F"/>
                </a:solidFill>
                <a:latin typeface="Arial"/>
                <a:ea typeface="Arial"/>
                <a:cs typeface="Arial"/>
                <a:sym typeface="Arial"/>
              </a:defRPr>
            </a:lvl1pPr>
            <a:lvl2pPr marL="914400" marR="0" lvl="1" indent="-406400" algn="l" rtl="0">
              <a:lnSpc>
                <a:spcPct val="164285"/>
              </a:lnSpc>
              <a:spcBef>
                <a:spcPts val="0"/>
              </a:spcBef>
              <a:spcAft>
                <a:spcPts val="0"/>
              </a:spcAft>
              <a:buClr>
                <a:schemeClr val="dk2"/>
              </a:buClr>
              <a:buSzPts val="2800"/>
              <a:buFont typeface="Arial"/>
              <a:buChar char="•"/>
              <a:defRPr sz="2800" b="0" i="0" u="none" strike="noStrike" cap="none">
                <a:solidFill>
                  <a:schemeClr val="dk1"/>
                </a:solidFill>
                <a:latin typeface="Arial"/>
                <a:ea typeface="Arial"/>
                <a:cs typeface="Arial"/>
                <a:sym typeface="Arial"/>
              </a:defRPr>
            </a:lvl2pPr>
            <a:lvl3pPr marL="1371600" marR="0" lvl="2"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3pPr>
            <a:lvl4pPr marL="1828800" marR="0" lvl="3"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4pPr>
            <a:lvl5pPr marL="2286000" marR="0" lvl="4" indent="-441960" algn="l" rtl="0">
              <a:lnSpc>
                <a:spcPct val="164285"/>
              </a:lnSpc>
              <a:spcBef>
                <a:spcPts val="0"/>
              </a:spcBef>
              <a:spcAft>
                <a:spcPts val="0"/>
              </a:spcAft>
              <a:buClr>
                <a:schemeClr val="dk1"/>
              </a:buClr>
              <a:buSzPts val="3360"/>
              <a:buFont typeface="NTR"/>
              <a:buChar char="-"/>
              <a:defRPr sz="2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extLst>
      <p:ext uri="{BB962C8B-B14F-4D97-AF65-F5344CB8AC3E}">
        <p14:creationId xmlns:p14="http://schemas.microsoft.com/office/powerpoint/2010/main" val="1060449366"/>
      </p:ext>
    </p:extLst>
  </p:cSld>
  <p:clrMapOvr>
    <a:masterClrMapping/>
  </p:clrMapOvr>
  <p:extLst>
    <p:ext uri="{DCECCB84-F9BA-43D5-87BE-67443E8EF086}">
      <p15:sldGuideLst xmlns:p15="http://schemas.microsoft.com/office/powerpoint/2012/main">
        <p15:guide id="1" orient="horz" pos="10368">
          <p15:clr>
            <a:srgbClr val="FBAE40"/>
          </p15:clr>
        </p15:guide>
        <p15:guide id="2" pos="9216" userDrawn="1">
          <p15:clr>
            <a:srgbClr val="FBAE40"/>
          </p15:clr>
        </p15:guide>
        <p15:guide id="3" pos="18432"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 descr="alt=&quot;&quot;"/>
          <p:cNvSpPr/>
          <p:nvPr/>
        </p:nvSpPr>
        <p:spPr>
          <a:xfrm>
            <a:off x="0" y="30409662"/>
            <a:ext cx="43891200" cy="2508738"/>
          </a:xfrm>
          <a:prstGeom prst="rect">
            <a:avLst/>
          </a:prstGeom>
          <a:solidFill>
            <a:srgbClr val="005BB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900" b="0" i="0" u="none" strike="noStrike" cap="none">
              <a:solidFill>
                <a:schemeClr val="dk1"/>
              </a:solidFill>
              <a:latin typeface="Arial"/>
              <a:ea typeface="Arial"/>
              <a:cs typeface="Arial"/>
              <a:sym typeface="Arial"/>
            </a:endParaRPr>
          </a:p>
        </p:txBody>
      </p:sp>
      <p:sp>
        <p:nvSpPr>
          <p:cNvPr id="11" name="Google Shape;11;p3" descr="alt=&quot;&quot;"/>
          <p:cNvSpPr/>
          <p:nvPr/>
        </p:nvSpPr>
        <p:spPr>
          <a:xfrm>
            <a:off x="0" y="0"/>
            <a:ext cx="43891200" cy="5486400"/>
          </a:xfrm>
          <a:prstGeom prst="rect">
            <a:avLst/>
          </a:prstGeom>
          <a:solidFill>
            <a:srgbClr val="005BB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900" b="0" i="0" u="none" strike="noStrike" cap="none">
              <a:solidFill>
                <a:schemeClr val="dk1"/>
              </a:solidFill>
              <a:latin typeface="Arial"/>
              <a:ea typeface="Arial"/>
              <a:cs typeface="Arial"/>
              <a:sym typeface="Arial"/>
            </a:endParaRPr>
          </a:p>
        </p:txBody>
      </p:sp>
      <p:sp>
        <p:nvSpPr>
          <p:cNvPr id="12" name="Google Shape;12;p3" descr="alt=&quot;&quot;"/>
          <p:cNvSpPr/>
          <p:nvPr/>
        </p:nvSpPr>
        <p:spPr>
          <a:xfrm>
            <a:off x="-1" y="5257800"/>
            <a:ext cx="43891201" cy="261257"/>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7258" b="0" i="0" u="none" strike="noStrike" cap="none">
              <a:solidFill>
                <a:schemeClr val="lt1"/>
              </a:solidFill>
              <a:latin typeface="Arial"/>
              <a:ea typeface="Arial"/>
              <a:cs typeface="Arial"/>
              <a:sym typeface="Arial"/>
            </a:endParaRPr>
          </a:p>
        </p:txBody>
      </p:sp>
      <p:cxnSp>
        <p:nvCxnSpPr>
          <p:cNvPr id="13" name="Google Shape;13;p3" descr="alt=&quot;&quot;"/>
          <p:cNvCxnSpPr/>
          <p:nvPr/>
        </p:nvCxnSpPr>
        <p:spPr>
          <a:xfrm>
            <a:off x="32696865" y="30837463"/>
            <a:ext cx="0" cy="1588169"/>
          </a:xfrm>
          <a:prstGeom prst="straightConnector1">
            <a:avLst/>
          </a:prstGeom>
          <a:noFill/>
          <a:ln w="25400" cap="flat" cmpd="sng">
            <a:solidFill>
              <a:schemeClr val="lt1"/>
            </a:solidFill>
            <a:prstDash val="dash"/>
            <a:miter lim="800000"/>
            <a:headEnd type="none" w="sm" len="sm"/>
            <a:tailEnd type="none" w="sm" len="sm"/>
          </a:ln>
        </p:spPr>
      </p:cxnSp>
      <p:pic>
        <p:nvPicPr>
          <p:cNvPr id="14" name="Google Shape;14;p3"/>
          <p:cNvPicPr preferRelativeResize="0"/>
          <p:nvPr/>
        </p:nvPicPr>
        <p:blipFill rotWithShape="1">
          <a:blip r:embed="rId5">
            <a:alphaModFix/>
          </a:blip>
          <a:srcRect/>
          <a:stretch/>
        </p:blipFill>
        <p:spPr>
          <a:xfrm>
            <a:off x="35554365" y="1216818"/>
            <a:ext cx="5443902" cy="3052764"/>
          </a:xfrm>
          <a:prstGeom prst="rect">
            <a:avLst/>
          </a:prstGeom>
          <a:noFill/>
          <a:ln>
            <a:noFill/>
          </a:ln>
        </p:spPr>
      </p:pic>
      <p:pic>
        <p:nvPicPr>
          <p:cNvPr id="15" name="Google Shape;15;p3"/>
          <p:cNvPicPr preferRelativeResize="0"/>
          <p:nvPr/>
        </p:nvPicPr>
        <p:blipFill rotWithShape="1">
          <a:blip r:embed="rId6">
            <a:alphaModFix/>
          </a:blip>
          <a:srcRect/>
          <a:stretch/>
        </p:blipFill>
        <p:spPr>
          <a:xfrm>
            <a:off x="1104744" y="30969559"/>
            <a:ext cx="14811531" cy="130551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Nancy-Odhiambo/Michigan-PFAS-Data" TargetMode="External"/><Relationship Id="rId2" Type="http://schemas.openxmlformats.org/officeDocument/2006/relationships/image" Target="../media/image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2F7C748-A7B8-994F-51B5-6A10DF850565}"/>
              </a:ext>
            </a:extLst>
          </p:cNvPr>
          <p:cNvSpPr>
            <a:spLocks noGrp="1"/>
          </p:cNvSpPr>
          <p:nvPr>
            <p:ph type="body" idx="1"/>
          </p:nvPr>
        </p:nvSpPr>
        <p:spPr>
          <a:xfrm>
            <a:off x="914398" y="5916167"/>
            <a:ext cx="13716001" cy="24063089"/>
          </a:xfrm>
        </p:spPr>
        <p:txBody>
          <a:bodyPr/>
          <a:lstStyle/>
          <a:p>
            <a:pPr marL="0" marR="0" lvl="0" indent="0" algn="l" rtl="0">
              <a:lnSpc>
                <a:spcPct val="95833"/>
              </a:lnSpc>
              <a:spcBef>
                <a:spcPts val="0"/>
              </a:spcBef>
              <a:spcAft>
                <a:spcPts val="0"/>
              </a:spcAft>
              <a:buNone/>
            </a:pPr>
            <a:r>
              <a:rPr lang="en-US" sz="4800" b="1" i="0" u="none" strike="noStrike" cap="none" dirty="0">
                <a:solidFill>
                  <a:srgbClr val="005BBB"/>
                </a:solidFill>
                <a:latin typeface="Arial"/>
                <a:ea typeface="Arial"/>
                <a:cs typeface="Arial"/>
                <a:sym typeface="Arial"/>
              </a:rPr>
              <a:t>Introduction</a:t>
            </a:r>
            <a:endParaRPr lang="en-US" dirty="0"/>
          </a:p>
          <a:p>
            <a:pPr marL="914400" lvl="1" indent="-457200">
              <a:lnSpc>
                <a:spcPct val="164285"/>
              </a:lnSpc>
              <a:spcBef>
                <a:spcPts val="1200"/>
              </a:spcBef>
              <a:buClr>
                <a:schemeClr val="dk2"/>
              </a:buClr>
              <a:buSzPts val="3500"/>
              <a:buFont typeface="Arial"/>
              <a:buChar char="•"/>
            </a:pPr>
            <a:r>
              <a:rPr lang="en-US" sz="3200" dirty="0">
                <a:solidFill>
                  <a:schemeClr val="accent4">
                    <a:lumMod val="50000"/>
                  </a:schemeClr>
                </a:solidFill>
              </a:rPr>
              <a:t>Per- and polyfluoroalkyl substances (FFAS) are persistent environmental contaminants that have adverse health effects</a:t>
            </a:r>
          </a:p>
          <a:p>
            <a:pPr marL="914400" lvl="1" indent="-457200">
              <a:lnSpc>
                <a:spcPct val="164285"/>
              </a:lnSpc>
              <a:spcBef>
                <a:spcPts val="1200"/>
              </a:spcBef>
              <a:buClr>
                <a:schemeClr val="dk2"/>
              </a:buClr>
              <a:buSzPts val="3500"/>
              <a:buFont typeface="Arial"/>
              <a:buChar char="•"/>
            </a:pPr>
            <a:r>
              <a:rPr lang="en-US" sz="3200" dirty="0">
                <a:solidFill>
                  <a:schemeClr val="accent4">
                    <a:lumMod val="50000"/>
                  </a:schemeClr>
                </a:solidFill>
              </a:rPr>
              <a:t>Spatial analysis of PFAS monitoring data can support public health research and inform environmental policy decisions</a:t>
            </a:r>
          </a:p>
          <a:p>
            <a:pPr marL="914400" lvl="1" indent="-457200">
              <a:lnSpc>
                <a:spcPct val="164285"/>
              </a:lnSpc>
              <a:spcBef>
                <a:spcPts val="1200"/>
              </a:spcBef>
              <a:buClr>
                <a:schemeClr val="dk2"/>
              </a:buClr>
              <a:buSzPts val="3500"/>
              <a:buFont typeface="Arial"/>
              <a:buChar char="•"/>
            </a:pPr>
            <a:r>
              <a:rPr lang="en-US" sz="3200" dirty="0">
                <a:solidFill>
                  <a:schemeClr val="accent4">
                    <a:lumMod val="50000"/>
                  </a:schemeClr>
                </a:solidFill>
              </a:rPr>
              <a:t>We developed interactive dashboard to integrate, visualize, and summarize PFAS contamination patterns and cumulative health risks across Michigan  </a:t>
            </a:r>
          </a:p>
          <a:p>
            <a:pPr marL="0" marR="0" lvl="0" indent="0" algn="l" rtl="0">
              <a:lnSpc>
                <a:spcPct val="95833"/>
              </a:lnSpc>
              <a:spcBef>
                <a:spcPts val="0"/>
              </a:spcBef>
              <a:spcAft>
                <a:spcPts val="0"/>
              </a:spcAft>
              <a:buNone/>
            </a:pPr>
            <a:endParaRPr lang="en-US" sz="4800" b="1" dirty="0">
              <a:solidFill>
                <a:srgbClr val="005BBB"/>
              </a:solidFill>
            </a:endParaRPr>
          </a:p>
          <a:p>
            <a:pPr marL="0" marR="0" lvl="0" indent="0" algn="l" rtl="0">
              <a:lnSpc>
                <a:spcPct val="95833"/>
              </a:lnSpc>
              <a:spcBef>
                <a:spcPts val="0"/>
              </a:spcBef>
              <a:spcAft>
                <a:spcPts val="0"/>
              </a:spcAft>
              <a:buNone/>
            </a:pPr>
            <a:r>
              <a:rPr lang="en-US" sz="4800" b="1" dirty="0">
                <a:solidFill>
                  <a:srgbClr val="005BBB"/>
                </a:solidFill>
              </a:rPr>
              <a:t>Data Source &amp; Structure</a:t>
            </a:r>
          </a:p>
          <a:p>
            <a:pPr marL="457200" marR="0" lvl="1" indent="0" algn="l" defTabSz="914400" rtl="0" eaLnBrk="1" fontAlgn="auto" latinLnBrk="0" hangingPunct="1">
              <a:lnSpc>
                <a:spcPct val="164285"/>
              </a:lnSpc>
              <a:spcBef>
                <a:spcPts val="1200"/>
              </a:spcBef>
              <a:spcAft>
                <a:spcPts val="0"/>
              </a:spcAft>
              <a:buClr>
                <a:srgbClr val="005BBB"/>
              </a:buClr>
              <a:buSzPts val="3500"/>
              <a:buFont typeface="Arial"/>
              <a:buNone/>
              <a:tabLst/>
              <a:defRPr/>
            </a:pPr>
            <a:r>
              <a:rPr kumimoji="0" lang="en-US" sz="3200" b="0" i="0" u="none" strike="noStrike" kern="0" cap="none" spc="0" normalizeH="0" baseline="0" noProof="0" dirty="0">
                <a:ln>
                  <a:noFill/>
                </a:ln>
                <a:solidFill>
                  <a:srgbClr val="666666">
                    <a:lumMod val="50000"/>
                  </a:srgbClr>
                </a:solidFill>
                <a:effectLst/>
                <a:uLnTx/>
                <a:uFillTx/>
                <a:latin typeface="Arial"/>
                <a:cs typeface="Arial"/>
                <a:sym typeface="Arial"/>
              </a:rPr>
              <a:t>This project uses publicly available PFAS datasets provided by the Michigan Department of Environment, Great Lakes, and Energy (EGLE) and the Michigan PFAS Action Response Team (MPART). The datasets used are;</a:t>
            </a:r>
          </a:p>
          <a:p>
            <a:pPr marL="971550" marR="0" lvl="1" indent="-514350" algn="l" defTabSz="914400" rtl="0" eaLnBrk="1" fontAlgn="auto" latinLnBrk="0" hangingPunct="1">
              <a:lnSpc>
                <a:spcPct val="164285"/>
              </a:lnSpc>
              <a:spcBef>
                <a:spcPts val="1200"/>
              </a:spcBef>
              <a:spcAft>
                <a:spcPts val="0"/>
              </a:spcAft>
              <a:buClr>
                <a:srgbClr val="005BBB"/>
              </a:buClr>
              <a:buSzPts val="3500"/>
              <a:buFont typeface="Arial" panose="020B0604020202020204" pitchFamily="34" charset="0"/>
              <a:buChar char="•"/>
              <a:tabLst/>
              <a:defRPr/>
            </a:pPr>
            <a:r>
              <a:rPr kumimoji="0" lang="en-US" sz="3200" b="0" i="1" u="none" strike="noStrike" kern="0" cap="none" spc="0" normalizeH="0" baseline="0" noProof="0" dirty="0">
                <a:ln>
                  <a:noFill/>
                </a:ln>
                <a:solidFill>
                  <a:srgbClr val="666666">
                    <a:lumMod val="50000"/>
                  </a:srgbClr>
                </a:solidFill>
                <a:effectLst/>
                <a:uLnTx/>
                <a:uFillTx/>
                <a:latin typeface="Arial"/>
                <a:cs typeface="Arial"/>
                <a:sym typeface="Arial"/>
              </a:rPr>
              <a:t>Surface Water Sampling Data</a:t>
            </a:r>
          </a:p>
          <a:p>
            <a:pPr marL="971550" marR="0" lvl="1" indent="-514350" algn="l" defTabSz="914400" rtl="0" eaLnBrk="1" fontAlgn="auto" latinLnBrk="0" hangingPunct="1">
              <a:lnSpc>
                <a:spcPct val="164285"/>
              </a:lnSpc>
              <a:spcBef>
                <a:spcPts val="1200"/>
              </a:spcBef>
              <a:spcAft>
                <a:spcPts val="0"/>
              </a:spcAft>
              <a:buClr>
                <a:srgbClr val="005BBB"/>
              </a:buClr>
              <a:buSzPts val="3500"/>
              <a:buFont typeface="Arial" panose="020B0604020202020204" pitchFamily="34" charset="0"/>
              <a:buChar char="•"/>
              <a:tabLst/>
              <a:defRPr/>
            </a:pPr>
            <a:r>
              <a:rPr kumimoji="0" lang="en-US" sz="3200" b="0" i="1" u="none" strike="noStrike" kern="0" cap="none" spc="0" normalizeH="0" baseline="0" noProof="0" dirty="0">
                <a:ln>
                  <a:noFill/>
                </a:ln>
                <a:solidFill>
                  <a:srgbClr val="666666">
                    <a:lumMod val="50000"/>
                  </a:srgbClr>
                </a:solidFill>
                <a:effectLst/>
                <a:uLnTx/>
                <a:uFillTx/>
                <a:latin typeface="Arial"/>
                <a:cs typeface="Arial"/>
                <a:sym typeface="Arial"/>
              </a:rPr>
              <a:t>Public Water Supply Sampling Data</a:t>
            </a:r>
          </a:p>
          <a:p>
            <a:pPr marL="971550" marR="0" lvl="1" indent="-514350" algn="l" defTabSz="914400" rtl="0" eaLnBrk="1" fontAlgn="auto" latinLnBrk="0" hangingPunct="1">
              <a:lnSpc>
                <a:spcPct val="164285"/>
              </a:lnSpc>
              <a:spcBef>
                <a:spcPts val="1200"/>
              </a:spcBef>
              <a:spcAft>
                <a:spcPts val="0"/>
              </a:spcAft>
              <a:buClr>
                <a:srgbClr val="005BBB"/>
              </a:buClr>
              <a:buSzPts val="3500"/>
              <a:buFont typeface="Arial" panose="020B0604020202020204" pitchFamily="34" charset="0"/>
              <a:buChar char="•"/>
              <a:tabLst/>
              <a:defRPr/>
            </a:pPr>
            <a:r>
              <a:rPr kumimoji="0" lang="en-US" sz="3200" b="0" i="1" u="none" strike="noStrike" kern="0" cap="none" spc="0" normalizeH="0" baseline="0" noProof="0" dirty="0">
                <a:ln>
                  <a:noFill/>
                </a:ln>
                <a:solidFill>
                  <a:srgbClr val="666666">
                    <a:lumMod val="50000"/>
                  </a:srgbClr>
                </a:solidFill>
                <a:effectLst/>
                <a:uLnTx/>
                <a:uFillTx/>
                <a:latin typeface="Arial"/>
                <a:cs typeface="Arial"/>
                <a:sym typeface="Arial"/>
              </a:rPr>
              <a:t>Michigan PFAS Sites Data</a:t>
            </a:r>
          </a:p>
          <a:p>
            <a:pPr marL="971550" marR="0" lvl="1" indent="-514350" algn="l" defTabSz="914400" rtl="0" eaLnBrk="1" fontAlgn="auto" latinLnBrk="0" hangingPunct="1">
              <a:lnSpc>
                <a:spcPct val="164285"/>
              </a:lnSpc>
              <a:spcBef>
                <a:spcPts val="1200"/>
              </a:spcBef>
              <a:spcAft>
                <a:spcPts val="0"/>
              </a:spcAft>
              <a:buClr>
                <a:srgbClr val="005BBB"/>
              </a:buClr>
              <a:buSzPts val="3500"/>
              <a:buFont typeface="Arial" panose="020B0604020202020204" pitchFamily="34" charset="0"/>
              <a:buChar char="•"/>
              <a:tabLst/>
              <a:defRPr/>
            </a:pPr>
            <a:r>
              <a:rPr kumimoji="0" lang="en-US" sz="3200" b="0" i="1" u="none" strike="noStrike" kern="0" cap="none" spc="0" normalizeH="0" baseline="0" noProof="0" dirty="0">
                <a:ln>
                  <a:noFill/>
                </a:ln>
                <a:solidFill>
                  <a:srgbClr val="666666">
                    <a:lumMod val="50000"/>
                  </a:srgbClr>
                </a:solidFill>
                <a:effectLst/>
                <a:uLnTx/>
                <a:uFillTx/>
                <a:latin typeface="Arial"/>
                <a:cs typeface="Arial"/>
                <a:sym typeface="Arial"/>
              </a:rPr>
              <a:t>PFAS Laboratory Analyte List (PDF)</a:t>
            </a:r>
          </a:p>
          <a:p>
            <a:pPr marL="457200" marR="0" lvl="1" indent="0" algn="l" defTabSz="914400" rtl="0" eaLnBrk="1" fontAlgn="auto" latinLnBrk="0" hangingPunct="1">
              <a:lnSpc>
                <a:spcPct val="164285"/>
              </a:lnSpc>
              <a:spcBef>
                <a:spcPts val="1200"/>
              </a:spcBef>
              <a:spcAft>
                <a:spcPts val="0"/>
              </a:spcAft>
              <a:buClr>
                <a:srgbClr val="005BBB"/>
              </a:buClr>
              <a:buSzPts val="3500"/>
              <a:buFont typeface="Arial"/>
              <a:buNone/>
              <a:tabLst/>
              <a:defRPr/>
            </a:pPr>
            <a:endParaRPr kumimoji="0" lang="en-US" sz="3200" b="0" i="0" u="none" strike="noStrike" kern="0" cap="none" spc="0" normalizeH="0" baseline="0" noProof="0" dirty="0">
              <a:ln>
                <a:noFill/>
              </a:ln>
              <a:solidFill>
                <a:srgbClr val="666666">
                  <a:lumMod val="50000"/>
                </a:srgbClr>
              </a:solidFill>
              <a:effectLst/>
              <a:uLnTx/>
              <a:uFillTx/>
              <a:latin typeface="Arial"/>
              <a:cs typeface="Arial"/>
              <a:sym typeface="Arial"/>
            </a:endParaRPr>
          </a:p>
          <a:p>
            <a:pPr marL="0" marR="0" lvl="0" indent="0" algn="l" rtl="0">
              <a:lnSpc>
                <a:spcPct val="95833"/>
              </a:lnSpc>
              <a:spcBef>
                <a:spcPts val="0"/>
              </a:spcBef>
              <a:spcAft>
                <a:spcPts val="0"/>
              </a:spcAft>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5" name="Text Placeholder 4">
            <a:extLst>
              <a:ext uri="{FF2B5EF4-FFF2-40B4-BE49-F238E27FC236}">
                <a16:creationId xmlns:a16="http://schemas.microsoft.com/office/drawing/2014/main" id="{0F657839-AC5A-CBEC-68BD-5C169C5740B8}"/>
              </a:ext>
            </a:extLst>
          </p:cNvPr>
          <p:cNvSpPr>
            <a:spLocks noGrp="1"/>
          </p:cNvSpPr>
          <p:nvPr>
            <p:ph type="body" idx="4"/>
          </p:nvPr>
        </p:nvSpPr>
        <p:spPr>
          <a:xfrm>
            <a:off x="15220335" y="5918525"/>
            <a:ext cx="13775770" cy="24224017"/>
          </a:xfrm>
        </p:spPr>
        <p:txBody>
          <a:bodyPr/>
          <a:lstStyle/>
          <a:p>
            <a:pPr marL="0" indent="0">
              <a:lnSpc>
                <a:spcPct val="95833"/>
              </a:lnSpc>
            </a:pPr>
            <a:r>
              <a:rPr lang="en-US" sz="4800" b="1" dirty="0">
                <a:solidFill>
                  <a:srgbClr val="005BBB"/>
                </a:solidFill>
              </a:rPr>
              <a:t>Hazard Index Formula</a:t>
            </a:r>
          </a:p>
          <a:p>
            <a:pPr marL="0" indent="0">
              <a:lnSpc>
                <a:spcPct val="95833"/>
              </a:lnSpc>
            </a:pPr>
            <a:endParaRPr lang="en-US" sz="4800" b="1" dirty="0">
              <a:solidFill>
                <a:srgbClr val="005BBB"/>
              </a:solidFill>
            </a:endParaRPr>
          </a:p>
          <a:p>
            <a:pPr marL="0" indent="0">
              <a:lnSpc>
                <a:spcPct val="95833"/>
              </a:lnSpc>
            </a:pPr>
            <a:endParaRPr lang="en-US" sz="4800" b="1" dirty="0">
              <a:solidFill>
                <a:srgbClr val="005BBB"/>
              </a:solidFill>
            </a:endParaRPr>
          </a:p>
          <a:p>
            <a:pPr marL="0" indent="0">
              <a:lnSpc>
                <a:spcPct val="95833"/>
              </a:lnSpc>
            </a:pPr>
            <a:endParaRPr lang="en-US" sz="4800" b="1" dirty="0">
              <a:solidFill>
                <a:srgbClr val="005BBB"/>
              </a:solidFill>
            </a:endParaRPr>
          </a:p>
          <a:p>
            <a:pPr marL="0" indent="0">
              <a:lnSpc>
                <a:spcPct val="95833"/>
              </a:lnSpc>
            </a:pPr>
            <a:endParaRPr lang="en-US" sz="4800" b="1" dirty="0">
              <a:solidFill>
                <a:srgbClr val="005BBB"/>
              </a:solidFill>
            </a:endParaRPr>
          </a:p>
          <a:p>
            <a:pPr marL="0" lvl="0" indent="0">
              <a:spcBef>
                <a:spcPts val="1200"/>
              </a:spcBef>
              <a:spcAft>
                <a:spcPts val="1200"/>
              </a:spcAft>
              <a:buClr>
                <a:srgbClr val="7F7F7F"/>
              </a:buClr>
            </a:pPr>
            <a:endParaRPr lang="en-US" sz="3200" dirty="0">
              <a:solidFill>
                <a:schemeClr val="accent4">
                  <a:lumMod val="50000"/>
                </a:schemeClr>
              </a:solidFill>
            </a:endParaRPr>
          </a:p>
          <a:p>
            <a:pPr marL="0" indent="0">
              <a:lnSpc>
                <a:spcPct val="95833"/>
              </a:lnSpc>
            </a:pPr>
            <a:r>
              <a:rPr lang="en-US" sz="4800" b="1" dirty="0">
                <a:solidFill>
                  <a:srgbClr val="005BBB"/>
                </a:solidFill>
              </a:rPr>
              <a:t>Analytical Framework</a:t>
            </a:r>
          </a:p>
          <a:p>
            <a:pPr marL="457200" lvl="1" indent="0">
              <a:spcBef>
                <a:spcPts val="1200"/>
              </a:spcBef>
              <a:buSzPts val="3500"/>
              <a:buNone/>
            </a:pPr>
            <a:r>
              <a:rPr lang="en-US" sz="3200" dirty="0">
                <a:solidFill>
                  <a:schemeClr val="accent4">
                    <a:lumMod val="50000"/>
                  </a:schemeClr>
                </a:solidFill>
              </a:rPr>
              <a:t>The  analysis integrates multiple datasets into a unified framework that supports spatial visualization of PFAS concentrations, aggregation of hazard analytes into a cumulative risk metric(Hazard Index), and interactive exploration at multiple geographic scales.</a:t>
            </a:r>
          </a:p>
          <a:p>
            <a:pPr marL="457200" lvl="1" indent="0">
              <a:spcBef>
                <a:spcPts val="1200"/>
              </a:spcBef>
              <a:buSzPts val="3500"/>
              <a:buNone/>
            </a:pPr>
            <a:endParaRPr lang="en-US" sz="3200" dirty="0">
              <a:solidFill>
                <a:schemeClr val="accent4">
                  <a:lumMod val="50000"/>
                </a:schemeClr>
              </a:solidFill>
            </a:endParaRPr>
          </a:p>
          <a:p>
            <a:pPr marL="0" indent="0">
              <a:lnSpc>
                <a:spcPct val="95833"/>
              </a:lnSpc>
            </a:pPr>
            <a:r>
              <a:rPr lang="en-US" sz="4800" b="1" dirty="0">
                <a:solidFill>
                  <a:srgbClr val="005BBB"/>
                </a:solidFill>
              </a:rPr>
              <a:t>Dashboard Implementation</a:t>
            </a:r>
            <a:endParaRPr kumimoji="0" lang="en-US" sz="3200" b="0" i="0" u="none" strike="noStrike" kern="0" cap="none" spc="0" normalizeH="0" baseline="0" noProof="0" dirty="0">
              <a:ln>
                <a:noFill/>
              </a:ln>
              <a:solidFill>
                <a:srgbClr val="666666">
                  <a:lumMod val="50000"/>
                </a:srgbClr>
              </a:solidFill>
              <a:effectLst/>
              <a:uLnTx/>
              <a:uFillTx/>
              <a:latin typeface="Arial"/>
              <a:cs typeface="Arial"/>
              <a:sym typeface="Arial"/>
            </a:endParaRPr>
          </a:p>
          <a:p>
            <a:pPr marL="457200" marR="0" lvl="1" indent="0" algn="l" defTabSz="914400" rtl="0" eaLnBrk="1" fontAlgn="auto" latinLnBrk="0" hangingPunct="1">
              <a:lnSpc>
                <a:spcPct val="164285"/>
              </a:lnSpc>
              <a:spcBef>
                <a:spcPts val="1200"/>
              </a:spcBef>
              <a:spcAft>
                <a:spcPts val="0"/>
              </a:spcAft>
              <a:buClr>
                <a:srgbClr val="005BBB"/>
              </a:buClr>
              <a:buSzPts val="3500"/>
              <a:buFont typeface="Arial"/>
              <a:buNone/>
              <a:tabLst/>
              <a:defRPr/>
            </a:pPr>
            <a:r>
              <a:rPr lang="en-US" sz="3200" dirty="0">
                <a:solidFill>
                  <a:srgbClr val="666666">
                    <a:lumMod val="50000"/>
                  </a:srgbClr>
                </a:solidFill>
              </a:rPr>
              <a:t>The interactive dashboard was built in R and Quarto. Leaflet maps display spatial patterns of PFAS concentration and cumulative health risks across Michigan while Plotly charts allow user to freely examine the cumulative health risks levels together with the metrics tables. The data processing was done in R , contents structured using Markdown with some interactivity and user navigation supported in JavaScript. This dashboard is deployed on GitHub pages providing open access for research, policy makers, the public, and for future works.</a:t>
            </a:r>
          </a:p>
          <a:p>
            <a:pPr marL="457200" marR="0" lvl="1" indent="0" algn="l" defTabSz="914400" rtl="0" eaLnBrk="1" fontAlgn="auto" latinLnBrk="0" hangingPunct="1">
              <a:lnSpc>
                <a:spcPct val="164285"/>
              </a:lnSpc>
              <a:spcBef>
                <a:spcPts val="1200"/>
              </a:spcBef>
              <a:spcAft>
                <a:spcPts val="0"/>
              </a:spcAft>
              <a:buClr>
                <a:srgbClr val="005BBB"/>
              </a:buClr>
              <a:buSzPts val="3500"/>
              <a:buFont typeface="Arial"/>
              <a:buNone/>
              <a:tabLst/>
              <a:defRPr/>
            </a:pPr>
            <a:endParaRPr kumimoji="0" lang="en-US" sz="3200" b="0" i="0" u="none" strike="noStrike" kern="0" cap="none" spc="0" normalizeH="0" baseline="0" noProof="0" dirty="0">
              <a:ln>
                <a:noFill/>
              </a:ln>
              <a:solidFill>
                <a:srgbClr val="666666">
                  <a:lumMod val="50000"/>
                </a:srgbClr>
              </a:solidFill>
              <a:effectLst/>
              <a:uLnTx/>
              <a:uFillTx/>
              <a:latin typeface="Arial"/>
              <a:cs typeface="Arial"/>
              <a:sym typeface="Arial"/>
            </a:endParaRPr>
          </a:p>
          <a:p>
            <a:pPr marL="0" marR="0" lvl="0" indent="0" algn="l" defTabSz="914400" rtl="0" eaLnBrk="1" fontAlgn="auto" latinLnBrk="0" hangingPunct="1">
              <a:lnSpc>
                <a:spcPct val="95833"/>
              </a:lnSpc>
              <a:spcBef>
                <a:spcPts val="0"/>
              </a:spcBef>
              <a:spcAft>
                <a:spcPts val="0"/>
              </a:spcAft>
              <a:buClr>
                <a:srgbClr val="666666"/>
              </a:buClr>
              <a:buSzPts val="2800"/>
              <a:buFont typeface="Arial"/>
              <a:buNone/>
              <a:tabLst/>
              <a:defRPr/>
            </a:pPr>
            <a:r>
              <a:rPr lang="en-US" sz="4800" b="1" dirty="0">
                <a:solidFill>
                  <a:srgbClr val="005BBB"/>
                </a:solidFill>
              </a:rPr>
              <a:t>M</a:t>
            </a:r>
            <a:r>
              <a:rPr kumimoji="0" lang="en-US" sz="4800" b="1" i="0" u="none" strike="noStrike" kern="0" cap="none" spc="0" normalizeH="0" baseline="0" noProof="0" dirty="0" err="1">
                <a:ln>
                  <a:noFill/>
                </a:ln>
                <a:solidFill>
                  <a:srgbClr val="005BBB"/>
                </a:solidFill>
                <a:effectLst/>
                <a:uLnTx/>
                <a:uFillTx/>
                <a:latin typeface="Arial"/>
                <a:cs typeface="Arial"/>
                <a:sym typeface="Arial"/>
              </a:rPr>
              <a:t>etric</a:t>
            </a:r>
            <a:r>
              <a:rPr kumimoji="0" lang="en-US" sz="4800" b="1" i="0" u="none" strike="noStrike" kern="0" cap="none" spc="0" normalizeH="0" baseline="0" noProof="0" dirty="0">
                <a:ln>
                  <a:noFill/>
                </a:ln>
                <a:solidFill>
                  <a:srgbClr val="005BBB"/>
                </a:solidFill>
                <a:effectLst/>
                <a:uLnTx/>
                <a:uFillTx/>
                <a:latin typeface="Arial"/>
                <a:cs typeface="Arial"/>
                <a:sym typeface="Arial"/>
              </a:rPr>
              <a:t> Tables, Maps, and Charts</a:t>
            </a:r>
            <a:endParaRPr kumimoji="0" lang="en-US" sz="3200" b="0" i="0" u="none" strike="noStrike" kern="0" cap="none" spc="0" normalizeH="0" baseline="0" noProof="0" dirty="0">
              <a:ln>
                <a:noFill/>
              </a:ln>
              <a:solidFill>
                <a:srgbClr val="666666">
                  <a:lumMod val="50000"/>
                </a:srgbClr>
              </a:solidFill>
              <a:effectLst/>
              <a:uLnTx/>
              <a:uFillTx/>
              <a:latin typeface="Arial"/>
              <a:cs typeface="Arial"/>
              <a:sym typeface="Arial"/>
            </a:endParaRPr>
          </a:p>
          <a:p>
            <a:pPr indent="-228600">
              <a:spcBef>
                <a:spcPts val="2200"/>
              </a:spcBef>
              <a:spcAft>
                <a:spcPts val="2200"/>
              </a:spcAft>
              <a:buClr>
                <a:schemeClr val="dk1"/>
              </a:buClr>
              <a:buNone/>
            </a:pPr>
            <a:endParaRPr lang="en-US" sz="1200" i="1" dirty="0">
              <a:solidFill>
                <a:schemeClr val="accent4">
                  <a:lumMod val="50000"/>
                </a:schemeClr>
              </a:solidFill>
              <a:latin typeface="+mn-lt"/>
              <a:ea typeface="Cambria" panose="02040503050406030204" pitchFamily="18" charset="0"/>
              <a:cs typeface="Times New Roman" panose="02020603050405020304" pitchFamily="18" charset="0"/>
            </a:endParaRPr>
          </a:p>
          <a:p>
            <a:pPr indent="-228600">
              <a:spcBef>
                <a:spcPts val="2200"/>
              </a:spcBef>
              <a:spcAft>
                <a:spcPts val="2200"/>
              </a:spcAft>
              <a:buClr>
                <a:schemeClr val="dk1"/>
              </a:buClr>
              <a:buNone/>
            </a:pPr>
            <a:endParaRPr lang="en-US" sz="800" i="1" dirty="0">
              <a:solidFill>
                <a:schemeClr val="accent4">
                  <a:lumMod val="50000"/>
                </a:schemeClr>
              </a:solidFill>
              <a:latin typeface="+mn-lt"/>
              <a:ea typeface="Cambria" panose="02040503050406030204" pitchFamily="18" charset="0"/>
              <a:cs typeface="Times New Roman" panose="02020603050405020304" pitchFamily="18" charset="0"/>
            </a:endParaRPr>
          </a:p>
          <a:p>
            <a:pPr indent="-228600">
              <a:spcBef>
                <a:spcPts val="2200"/>
              </a:spcBef>
              <a:spcAft>
                <a:spcPts val="2200"/>
              </a:spcAft>
              <a:buClr>
                <a:schemeClr val="dk1"/>
              </a:buClr>
              <a:buNone/>
            </a:pPr>
            <a:endParaRPr lang="en-US" sz="3200" i="1" dirty="0">
              <a:solidFill>
                <a:schemeClr val="accent4">
                  <a:lumMod val="50000"/>
                </a:schemeClr>
              </a:solidFill>
              <a:latin typeface="+mn-lt"/>
              <a:ea typeface="Cambria" panose="02040503050406030204" pitchFamily="18" charset="0"/>
              <a:cs typeface="Times New Roman" panose="02020603050405020304" pitchFamily="18" charset="0"/>
            </a:endParaRPr>
          </a:p>
          <a:p>
            <a:pPr marL="0" indent="0">
              <a:spcBef>
                <a:spcPts val="1200"/>
              </a:spcBef>
              <a:buClr>
                <a:srgbClr val="7F7F7F"/>
              </a:buClr>
            </a:pPr>
            <a:endParaRPr lang="en-US" sz="3200" dirty="0">
              <a:solidFill>
                <a:schemeClr val="accent4">
                  <a:lumMod val="50000"/>
                </a:schemeClr>
              </a:solidFill>
            </a:endParaRPr>
          </a:p>
        </p:txBody>
      </p:sp>
      <p:sp>
        <p:nvSpPr>
          <p:cNvPr id="8" name="Google Shape;36;p1">
            <a:extLst>
              <a:ext uri="{FF2B5EF4-FFF2-40B4-BE49-F238E27FC236}">
                <a16:creationId xmlns:a16="http://schemas.microsoft.com/office/drawing/2014/main" id="{BAAC6169-C1CE-EE5A-EDB1-D24E66F4A940}"/>
              </a:ext>
            </a:extLst>
          </p:cNvPr>
          <p:cNvSpPr/>
          <p:nvPr/>
        </p:nvSpPr>
        <p:spPr>
          <a:xfrm>
            <a:off x="999938" y="1095482"/>
            <a:ext cx="41224200" cy="4524073"/>
          </a:xfrm>
          <a:prstGeom prst="rect">
            <a:avLst/>
          </a:prstGeom>
          <a:noFill/>
          <a:ln>
            <a:noFill/>
          </a:ln>
        </p:spPr>
        <p:txBody>
          <a:bodyPr spcFirstLastPara="1" wrap="square" lIns="91225" tIns="45600" rIns="91225" bIns="45600" anchor="t" anchorCtr="0">
            <a:spAutoFit/>
          </a:bodyPr>
          <a:lstStyle/>
          <a:p>
            <a:pPr marL="0" marR="0" lvl="0" indent="0" algn="l" rtl="0">
              <a:spcBef>
                <a:spcPts val="0"/>
              </a:spcBef>
              <a:spcAft>
                <a:spcPts val="0"/>
              </a:spcAft>
              <a:buNone/>
            </a:pPr>
            <a:r>
              <a:rPr lang="en-US" sz="9600" dirty="0">
                <a:solidFill>
                  <a:schemeClr val="lt1"/>
                </a:solidFill>
              </a:rPr>
              <a:t>A Spatial Analysis of PFAS Pollution in Michigan</a:t>
            </a:r>
            <a:endParaRPr dirty="0"/>
          </a:p>
          <a:p>
            <a:pPr marL="0" marR="0" lvl="0" indent="0" algn="l" rtl="0">
              <a:spcBef>
                <a:spcPts val="1800"/>
              </a:spcBef>
              <a:spcAft>
                <a:spcPts val="0"/>
              </a:spcAft>
              <a:buNone/>
            </a:pPr>
            <a:endParaRPr lang="en-US" sz="2800" b="0" i="0" u="none" strike="noStrike" cap="none" dirty="0">
              <a:solidFill>
                <a:schemeClr val="lt1"/>
              </a:solidFill>
              <a:latin typeface="Arial"/>
              <a:ea typeface="Arial"/>
              <a:cs typeface="Arial"/>
              <a:sym typeface="Arial"/>
            </a:endParaRPr>
          </a:p>
          <a:p>
            <a:pPr lvl="0">
              <a:spcBef>
                <a:spcPts val="1800"/>
              </a:spcBef>
            </a:pPr>
            <a:r>
              <a:rPr lang="en-US" sz="3600" b="0" i="0" u="none" strike="noStrike" cap="none" dirty="0">
                <a:solidFill>
                  <a:schemeClr val="lt1"/>
                </a:solidFill>
                <a:latin typeface="Arial"/>
                <a:ea typeface="Arial"/>
                <a:cs typeface="Arial"/>
                <a:sym typeface="Arial"/>
              </a:rPr>
              <a:t>Andrew DiLernia</a:t>
            </a:r>
            <a:r>
              <a:rPr lang="en-US" sz="3600" b="0" i="0" u="none" strike="noStrike" cap="none" baseline="30000" dirty="0">
                <a:solidFill>
                  <a:schemeClr val="lt1"/>
                </a:solidFill>
                <a:latin typeface="Arial"/>
                <a:ea typeface="Arial"/>
                <a:cs typeface="Arial"/>
                <a:sym typeface="Arial"/>
              </a:rPr>
              <a:t>1</a:t>
            </a:r>
            <a:r>
              <a:rPr lang="en-US" sz="3600" b="0" i="0" u="none" strike="noStrike" cap="none" dirty="0">
                <a:solidFill>
                  <a:schemeClr val="lt1"/>
                </a:solidFill>
                <a:latin typeface="Arial"/>
                <a:ea typeface="Arial"/>
                <a:cs typeface="Arial"/>
                <a:sym typeface="Arial"/>
              </a:rPr>
              <a:t>, Nancy Odhiambo</a:t>
            </a:r>
            <a:r>
              <a:rPr lang="en-US" sz="3600" baseline="30000" dirty="0">
                <a:solidFill>
                  <a:schemeClr val="lt1"/>
                </a:solidFill>
              </a:rPr>
              <a:t>2</a:t>
            </a:r>
          </a:p>
          <a:p>
            <a:pPr lvl="0">
              <a:spcBef>
                <a:spcPts val="1800"/>
              </a:spcBef>
            </a:pPr>
            <a:r>
              <a:rPr lang="en-US" sz="3600" baseline="30000" dirty="0">
                <a:solidFill>
                  <a:schemeClr val="lt1"/>
                </a:solidFill>
              </a:rPr>
              <a:t>1</a:t>
            </a:r>
            <a:r>
              <a:rPr lang="en-US" sz="3600" b="0" i="0" u="none" strike="noStrike" cap="none" dirty="0">
                <a:solidFill>
                  <a:schemeClr val="lt1"/>
                </a:solidFill>
                <a:latin typeface="Arial"/>
                <a:ea typeface="Arial"/>
                <a:cs typeface="Arial"/>
                <a:sym typeface="Arial"/>
              </a:rPr>
              <a:t>Department of Statistics, Grand Valley State University; </a:t>
            </a:r>
            <a:endParaRPr dirty="0"/>
          </a:p>
          <a:p>
            <a:pPr marL="0" marR="0" lvl="0" indent="0" algn="l" rtl="0">
              <a:spcBef>
                <a:spcPts val="1800"/>
              </a:spcBef>
              <a:spcAft>
                <a:spcPts val="0"/>
              </a:spcAft>
              <a:buNone/>
            </a:pPr>
            <a:endParaRPr sz="3200" b="0" i="0" u="none" strike="noStrike" cap="none" dirty="0">
              <a:solidFill>
                <a:schemeClr val="lt1"/>
              </a:solidFill>
              <a:latin typeface="Arial"/>
              <a:ea typeface="Arial"/>
              <a:cs typeface="Arial"/>
              <a:sym typeface="Arial"/>
            </a:endParaRPr>
          </a:p>
        </p:txBody>
      </p:sp>
      <p:sp>
        <p:nvSpPr>
          <p:cNvPr id="9" name="Google Shape;74;p1">
            <a:extLst>
              <a:ext uri="{FF2B5EF4-FFF2-40B4-BE49-F238E27FC236}">
                <a16:creationId xmlns:a16="http://schemas.microsoft.com/office/drawing/2014/main" id="{7731369C-25C6-4539-52D3-470DF230526A}"/>
              </a:ext>
            </a:extLst>
          </p:cNvPr>
          <p:cNvSpPr/>
          <p:nvPr/>
        </p:nvSpPr>
        <p:spPr>
          <a:xfrm>
            <a:off x="33196429" y="30840633"/>
            <a:ext cx="9780371" cy="14961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0" i="0" u="none" strike="noStrike" cap="none" dirty="0">
                <a:solidFill>
                  <a:schemeClr val="lt1"/>
                </a:solidFill>
                <a:latin typeface="Arial"/>
                <a:ea typeface="Arial"/>
                <a:cs typeface="Arial"/>
                <a:sym typeface="Arial"/>
              </a:rPr>
              <a:t>Department of Statistics</a:t>
            </a:r>
            <a:br>
              <a:rPr lang="en-US" sz="2800" b="0" i="0" u="none" strike="noStrike" cap="none" dirty="0">
                <a:solidFill>
                  <a:schemeClr val="lt1"/>
                </a:solidFill>
                <a:latin typeface="Arial"/>
                <a:ea typeface="Arial"/>
                <a:cs typeface="Arial"/>
                <a:sym typeface="Arial"/>
              </a:rPr>
            </a:br>
            <a:r>
              <a:rPr lang="en-US" sz="2800" b="0" i="0" u="none" strike="noStrike" cap="none" dirty="0">
                <a:solidFill>
                  <a:schemeClr val="lt1"/>
                </a:solidFill>
                <a:latin typeface="Arial"/>
                <a:ea typeface="Arial"/>
                <a:cs typeface="Arial"/>
                <a:sym typeface="Arial"/>
              </a:rPr>
              <a:t>Grand Valley State University</a:t>
            </a:r>
            <a:endParaRPr dirty="0"/>
          </a:p>
          <a:p>
            <a:pPr marL="0" marR="0" lvl="0" indent="0" algn="l" rtl="0">
              <a:spcBef>
                <a:spcPts val="800"/>
              </a:spcBef>
              <a:spcAft>
                <a:spcPts val="0"/>
              </a:spcAft>
              <a:buNone/>
            </a:pPr>
            <a:r>
              <a:rPr lang="en-US" sz="3400" b="1" i="0" u="none" strike="noStrike" cap="none" dirty="0">
                <a:solidFill>
                  <a:schemeClr val="lt1"/>
                </a:solidFill>
                <a:latin typeface="Arial"/>
                <a:ea typeface="Arial"/>
                <a:cs typeface="Arial"/>
                <a:sym typeface="Arial"/>
              </a:rPr>
              <a:t>gvsu.edu</a:t>
            </a:r>
            <a:endParaRPr dirty="0"/>
          </a:p>
          <a:p>
            <a:pPr marL="0" marR="0" lvl="0" indent="0" algn="l" rtl="0">
              <a:spcBef>
                <a:spcPts val="80"/>
              </a:spcBef>
              <a:spcAft>
                <a:spcPts val="0"/>
              </a:spcAft>
              <a:buNone/>
            </a:pPr>
            <a:endParaRPr sz="2800" b="0" i="0" u="none" strike="noStrike" cap="none" dirty="0">
              <a:solidFill>
                <a:schemeClr val="lt1"/>
              </a:solidFill>
              <a:latin typeface="Arial"/>
              <a:ea typeface="Arial"/>
              <a:cs typeface="Arial"/>
              <a:sym typeface="Arial"/>
            </a:endParaRPr>
          </a:p>
        </p:txBody>
      </p:sp>
      <p:pic>
        <p:nvPicPr>
          <p:cNvPr id="11" name="Google Shape;76;p1">
            <a:extLst>
              <a:ext uri="{FF2B5EF4-FFF2-40B4-BE49-F238E27FC236}">
                <a16:creationId xmlns:a16="http://schemas.microsoft.com/office/drawing/2014/main" id="{BB728658-9F61-908A-3DCE-2DBBF3565C05}"/>
              </a:ext>
            </a:extLst>
          </p:cNvPr>
          <p:cNvPicPr preferRelativeResize="0"/>
          <p:nvPr/>
        </p:nvPicPr>
        <p:blipFill rotWithShape="1">
          <a:blip r:embed="rId2">
            <a:alphaModFix/>
          </a:blip>
          <a:srcRect/>
          <a:stretch/>
        </p:blipFill>
        <p:spPr>
          <a:xfrm>
            <a:off x="41705108" y="30752684"/>
            <a:ext cx="1905000" cy="1905000"/>
          </a:xfrm>
          <a:prstGeom prst="rect">
            <a:avLst/>
          </a:prstGeom>
          <a:solidFill>
            <a:srgbClr val="D8D8D8"/>
          </a:solidFill>
          <a:ln>
            <a:noFill/>
          </a:ln>
        </p:spPr>
      </p:pic>
      <p:sp>
        <p:nvSpPr>
          <p:cNvPr id="50" name="Text Placeholder 48">
            <a:extLst>
              <a:ext uri="{FF2B5EF4-FFF2-40B4-BE49-F238E27FC236}">
                <a16:creationId xmlns:a16="http://schemas.microsoft.com/office/drawing/2014/main" id="{AB71F360-BB8B-D375-3180-E5F2E2514D50}"/>
              </a:ext>
            </a:extLst>
          </p:cNvPr>
          <p:cNvSpPr>
            <a:spLocks noGrp="1"/>
          </p:cNvSpPr>
          <p:nvPr>
            <p:ph type="body" idx="6"/>
          </p:nvPr>
        </p:nvSpPr>
        <p:spPr>
          <a:xfrm>
            <a:off x="28996106" y="5619555"/>
            <a:ext cx="14523620" cy="24812177"/>
          </a:xfrm>
        </p:spPr>
        <p:txBody>
          <a:bodyPr/>
          <a:lstStyle/>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buNone/>
            </a:pPr>
            <a:endParaRPr lang="en-US" sz="4800" b="1" dirty="0">
              <a:solidFill>
                <a:srgbClr val="005BBB"/>
              </a:solidFill>
            </a:endParaRPr>
          </a:p>
          <a:p>
            <a:pPr marL="0" lvl="0" indent="0">
              <a:lnSpc>
                <a:spcPct val="95833"/>
              </a:lnSpc>
              <a:buNone/>
            </a:pPr>
            <a:endParaRPr lang="en-US" sz="4800" b="1" dirty="0">
              <a:solidFill>
                <a:srgbClr val="005BBB"/>
              </a:solidFill>
            </a:endParaRPr>
          </a:p>
          <a:p>
            <a:pPr marL="0" lvl="0" indent="0">
              <a:lnSpc>
                <a:spcPct val="95833"/>
              </a:lnSpc>
            </a:pPr>
            <a:endParaRPr lang="en-US" sz="4800" b="1" dirty="0">
              <a:solidFill>
                <a:srgbClr val="005BBB"/>
              </a:solidFill>
            </a:endParaRPr>
          </a:p>
          <a:p>
            <a:pPr marL="0" lvl="0" indent="0">
              <a:lnSpc>
                <a:spcPct val="95833"/>
              </a:lnSpc>
            </a:pPr>
            <a:r>
              <a:rPr lang="en-US" sz="4800" b="1" dirty="0">
                <a:solidFill>
                  <a:srgbClr val="005BBB"/>
                </a:solidFill>
              </a:rPr>
              <a:t>Discussion</a:t>
            </a:r>
          </a:p>
          <a:p>
            <a:pPr lvl="1" indent="-457200">
              <a:spcBef>
                <a:spcPts val="1200"/>
              </a:spcBef>
              <a:buSzPts val="3500"/>
            </a:pPr>
            <a:r>
              <a:rPr lang="en-US" sz="3200" dirty="0">
                <a:solidFill>
                  <a:schemeClr val="accent4">
                    <a:lumMod val="50000"/>
                  </a:schemeClr>
                </a:solidFill>
              </a:rPr>
              <a:t>Project demonstrates how integrating PFAS datasets into a spatial tool improves accessibility and understanding</a:t>
            </a:r>
          </a:p>
          <a:p>
            <a:pPr lvl="1" indent="-457200">
              <a:spcBef>
                <a:spcPts val="1200"/>
              </a:spcBef>
              <a:spcAft>
                <a:spcPts val="1200"/>
              </a:spcAft>
              <a:buSzPts val="3500"/>
            </a:pPr>
            <a:r>
              <a:rPr lang="en-US" sz="3200" dirty="0">
                <a:solidFill>
                  <a:schemeClr val="accent4">
                    <a:lumMod val="50000"/>
                  </a:schemeClr>
                </a:solidFill>
              </a:rPr>
              <a:t>The hazard Index provides an intuitive common scale summary of cumulative risk supporting public awareness and policy research</a:t>
            </a:r>
          </a:p>
          <a:p>
            <a:pPr marL="0" lvl="0" indent="0">
              <a:lnSpc>
                <a:spcPct val="95833"/>
              </a:lnSpc>
            </a:pPr>
            <a:r>
              <a:rPr lang="en-US" sz="4800" b="1" dirty="0">
                <a:solidFill>
                  <a:srgbClr val="005BBB"/>
                </a:solidFill>
              </a:rPr>
              <a:t>Conclusion</a:t>
            </a:r>
          </a:p>
          <a:p>
            <a:pPr lvl="1" indent="-457200">
              <a:spcBef>
                <a:spcPts val="1200"/>
              </a:spcBef>
              <a:buSzPts val="3500"/>
            </a:pPr>
            <a:r>
              <a:rPr lang="en-US" sz="3200" dirty="0">
                <a:solidFill>
                  <a:schemeClr val="accent4">
                    <a:lumMod val="50000"/>
                  </a:schemeClr>
                </a:solidFill>
              </a:rPr>
              <a:t>An interactive spatial dashboard can transform complex datasets like PFAS datasets into actionable information</a:t>
            </a:r>
          </a:p>
          <a:p>
            <a:pPr lvl="1" indent="-457200">
              <a:spcBef>
                <a:spcPts val="1200"/>
              </a:spcBef>
              <a:spcAft>
                <a:spcPts val="1200"/>
              </a:spcAft>
              <a:buSzPts val="3500"/>
            </a:pPr>
            <a:r>
              <a:rPr kumimoji="0" lang="en-US" sz="3200" i="0" u="none" strike="noStrike" kern="0" cap="none" spc="0" normalizeH="0" baseline="0" noProof="0" dirty="0">
                <a:ln>
                  <a:noFill/>
                </a:ln>
                <a:solidFill>
                  <a:schemeClr val="accent4">
                    <a:lumMod val="50000"/>
                  </a:schemeClr>
                </a:solidFill>
                <a:effectLst/>
                <a:uLnTx/>
                <a:uFillTx/>
                <a:latin typeface="Arial"/>
                <a:cs typeface="Arial"/>
                <a:sym typeface="Arial"/>
              </a:rPr>
              <a:t>This dashboard enhances transparency, support evidence driven decision making, and promotes public engagement</a:t>
            </a:r>
            <a:endParaRPr kumimoji="0" lang="en-US" sz="4800" i="0" u="none" strike="noStrike" kern="0" cap="none" spc="0" normalizeH="0" baseline="0" noProof="0" dirty="0">
              <a:ln>
                <a:noFill/>
              </a:ln>
              <a:solidFill>
                <a:srgbClr val="005BBB"/>
              </a:solidFill>
              <a:effectLst/>
              <a:uLnTx/>
              <a:uFillTx/>
              <a:latin typeface="Arial"/>
              <a:cs typeface="Arial"/>
              <a:sym typeface="Arial"/>
            </a:endParaRPr>
          </a:p>
          <a:p>
            <a:pPr marL="457200" lvl="1" indent="0">
              <a:spcBef>
                <a:spcPts val="1200"/>
              </a:spcBef>
              <a:spcAft>
                <a:spcPts val="1200"/>
              </a:spcAft>
              <a:buSzPts val="3500"/>
              <a:buNone/>
            </a:pPr>
            <a:endParaRPr lang="en-US" sz="1600" dirty="0">
              <a:solidFill>
                <a:schemeClr val="accent4">
                  <a:lumMod val="50000"/>
                </a:schemeClr>
              </a:solidFill>
            </a:endParaRPr>
          </a:p>
          <a:p>
            <a:pPr marL="0" indent="0">
              <a:lnSpc>
                <a:spcPct val="95833"/>
              </a:lnSpc>
            </a:pPr>
            <a:r>
              <a:rPr lang="en-US" sz="4800" b="1" dirty="0">
                <a:solidFill>
                  <a:srgbClr val="005BBB"/>
                </a:solidFill>
              </a:rPr>
              <a:t>Software &amp; Tools</a:t>
            </a:r>
          </a:p>
          <a:p>
            <a:pPr marL="0" lvl="0" indent="0">
              <a:spcBef>
                <a:spcPts val="1200"/>
              </a:spcBef>
              <a:spcAft>
                <a:spcPts val="1200"/>
              </a:spcAft>
            </a:pPr>
            <a:r>
              <a:rPr lang="en-US" sz="3200" dirty="0">
                <a:solidFill>
                  <a:schemeClr val="accent4">
                    <a:lumMod val="50000"/>
                  </a:schemeClr>
                </a:solidFill>
              </a:rPr>
              <a:t>Frontend: Leaflet, Plotly – Backend: R, Quarto, Markdown, JavaScript</a:t>
            </a:r>
          </a:p>
          <a:p>
            <a:pPr marL="0" lvl="0" indent="0">
              <a:spcBef>
                <a:spcPts val="1200"/>
              </a:spcBef>
              <a:spcAft>
                <a:spcPts val="1200"/>
              </a:spcAft>
            </a:pPr>
            <a:r>
              <a:rPr lang="en-US" sz="3200" dirty="0">
                <a:solidFill>
                  <a:schemeClr val="accent4">
                    <a:lumMod val="50000"/>
                  </a:schemeClr>
                </a:solidFill>
              </a:rPr>
              <a:t>Hosting: GitHub Pages: </a:t>
            </a:r>
            <a:r>
              <a:rPr lang="en-US" sz="3200" dirty="0">
                <a:solidFill>
                  <a:schemeClr val="accent4">
                    <a:lumMod val="50000"/>
                  </a:schemeClr>
                </a:solidFill>
                <a:hlinkClick r:id="rId3"/>
              </a:rPr>
              <a:t>https://github.com/Nancy-Odhiambo/Michigan-PFAS-Data</a:t>
            </a:r>
            <a:endParaRPr lang="en-US" sz="1600" dirty="0">
              <a:solidFill>
                <a:schemeClr val="accent4">
                  <a:lumMod val="50000"/>
                </a:schemeClr>
              </a:solidFill>
            </a:endParaRPr>
          </a:p>
          <a:p>
            <a:pPr marL="0" lvl="0" indent="0">
              <a:lnSpc>
                <a:spcPct val="95833"/>
              </a:lnSpc>
            </a:pPr>
            <a:r>
              <a:rPr lang="en-US" sz="4800" b="1" dirty="0">
                <a:solidFill>
                  <a:srgbClr val="005BBB"/>
                </a:solidFill>
              </a:rPr>
              <a:t>References</a:t>
            </a:r>
          </a:p>
          <a:p>
            <a:pPr marL="514350" lvl="0" indent="-514350">
              <a:lnSpc>
                <a:spcPct val="95833"/>
              </a:lnSpc>
              <a:buClr>
                <a:schemeClr val="dk1"/>
              </a:buClr>
              <a:buFont typeface="+mj-lt"/>
              <a:buAutoNum type="arabicPeriod"/>
            </a:pPr>
            <a:endParaRPr lang="en-US" sz="1200" dirty="0">
              <a:solidFill>
                <a:schemeClr val="accent4">
                  <a:lumMod val="50000"/>
                </a:schemeClr>
              </a:solidFill>
            </a:endParaRPr>
          </a:p>
          <a:p>
            <a:pPr marL="514350" lvl="0" indent="-514350">
              <a:lnSpc>
                <a:spcPct val="95833"/>
              </a:lnSpc>
              <a:spcBef>
                <a:spcPts val="1200"/>
              </a:spcBef>
              <a:spcAft>
                <a:spcPts val="1200"/>
              </a:spcAft>
              <a:buClr>
                <a:schemeClr val="dk1"/>
              </a:buClr>
              <a:buFont typeface="+mj-lt"/>
              <a:buAutoNum type="arabicPeriod"/>
            </a:pPr>
            <a:r>
              <a:rPr lang="en-US" sz="2500" dirty="0">
                <a:solidFill>
                  <a:schemeClr val="accent4">
                    <a:lumMod val="50000"/>
                  </a:schemeClr>
                </a:solidFill>
              </a:rPr>
              <a:t>M</a:t>
            </a:r>
          </a:p>
          <a:p>
            <a:pPr marL="0" lvl="0" indent="0">
              <a:lnSpc>
                <a:spcPct val="95833"/>
              </a:lnSpc>
              <a:spcBef>
                <a:spcPts val="1200"/>
              </a:spcBef>
              <a:spcAft>
                <a:spcPts val="1200"/>
              </a:spcAft>
              <a:buClr>
                <a:schemeClr val="dk1"/>
              </a:buClr>
              <a:buNone/>
            </a:pPr>
            <a:endParaRPr lang="en-US" sz="2500" dirty="0">
              <a:solidFill>
                <a:schemeClr val="accent4">
                  <a:lumMod val="50000"/>
                </a:schemeClr>
              </a:solidFill>
            </a:endParaRPr>
          </a:p>
          <a:p>
            <a:pPr marL="514350" indent="-514350">
              <a:lnSpc>
                <a:spcPct val="95833"/>
              </a:lnSpc>
              <a:buClr>
                <a:schemeClr val="dk1"/>
              </a:buClr>
              <a:buFont typeface="+mj-lt"/>
              <a:buAutoNum type="arabicPeriod"/>
            </a:pPr>
            <a:r>
              <a:rPr lang="en-US" sz="2500" dirty="0">
                <a:solidFill>
                  <a:schemeClr val="accent4">
                    <a:lumMod val="50000"/>
                  </a:schemeClr>
                </a:solidFill>
              </a:rPr>
              <a:t>R </a:t>
            </a:r>
            <a:endParaRPr lang="en-US" sz="2500" dirty="0"/>
          </a:p>
          <a:p>
            <a:pPr marL="514350" lvl="0" indent="-514350">
              <a:lnSpc>
                <a:spcPct val="95833"/>
              </a:lnSpc>
              <a:buClr>
                <a:schemeClr val="dk1"/>
              </a:buClr>
              <a:buFont typeface="+mj-lt"/>
              <a:buAutoNum type="arabicPeriod"/>
            </a:pPr>
            <a:endParaRPr lang="en-US" sz="3000" dirty="0">
              <a:solidFill>
                <a:schemeClr val="accent4">
                  <a:lumMod val="50000"/>
                </a:schemeClr>
              </a:solidFill>
              <a:ea typeface="Cambria" panose="020405030504060302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865402343"/>
      </p:ext>
    </p:extLst>
  </p:cSld>
  <p:clrMapOvr>
    <a:masterClrMapping/>
  </p:clrMapOvr>
</p:sld>
</file>

<file path=ppt/theme/theme1.xml><?xml version="1.0" encoding="utf-8"?>
<a:theme xmlns:a="http://schemas.openxmlformats.org/drawingml/2006/main" name="Research Poster Template">
  <a:themeElements>
    <a:clrScheme name="UB Color Palette">
      <a:dk1>
        <a:srgbClr val="666666"/>
      </a:dk1>
      <a:lt1>
        <a:srgbClr val="FFFFFF"/>
      </a:lt1>
      <a:dk2>
        <a:srgbClr val="005BBB"/>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670</TotalTime>
  <Words>387</Words>
  <Application>Microsoft Macintosh PowerPoint</Application>
  <PresentationFormat>Custom</PresentationFormat>
  <Paragraphs>72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Cambria</vt:lpstr>
      <vt:lpstr>Cambria Math</vt:lpstr>
      <vt:lpstr>NTR</vt:lpstr>
      <vt:lpstr>Times New Roman</vt:lpstr>
      <vt:lpstr>Research Poster Template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Nancy A. Odhiambo</cp:lastModifiedBy>
  <cp:revision>85</cp:revision>
  <dcterms:created xsi:type="dcterms:W3CDTF">2019-03-28T18:35:19Z</dcterms:created>
  <dcterms:modified xsi:type="dcterms:W3CDTF">2026-03-18T12:59:55Z</dcterms:modified>
</cp:coreProperties>
</file>