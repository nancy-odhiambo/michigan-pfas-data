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61" r:id="rId2"/>
  </p:sldIdLst>
  <p:sldSz cx="43891200" cy="329184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368">
          <p15:clr>
            <a:srgbClr val="A4A3A4"/>
          </p15:clr>
        </p15:guide>
        <p15:guide id="2" pos="13824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9" roundtripDataSignature="AMtx7mi8fLYElh59t4jHQwYsQUndL0Eu8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20A5EC-8840-9940-BC91-4086AF4B13F5}" v="33" dt="2026-03-25T11:29:17.515"/>
  </p1510:revLst>
</p1510:revInfo>
</file>

<file path=ppt/tableStyles.xml><?xml version="1.0" encoding="utf-8"?>
<a:tblStyleLst xmlns:a="http://schemas.openxmlformats.org/drawingml/2006/main" def="{FA1151E8-28CC-4D0A-90E6-D913D1850F2D}">
  <a:tblStyle styleId="{FA1151E8-28CC-4D0A-90E6-D913D1850F2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80" autoAdjust="0"/>
    <p:restoredTop sz="94784"/>
  </p:normalViewPr>
  <p:slideViewPr>
    <p:cSldViewPr snapToGrid="0">
      <p:cViewPr>
        <p:scale>
          <a:sx n="30" d="100"/>
          <a:sy n="30" d="100"/>
        </p:scale>
        <p:origin x="1120" y="-504"/>
      </p:cViewPr>
      <p:guideLst>
        <p:guide orient="horz" pos="10368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viewProps" Target="viewProps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9" Type="http://customschemas.google.com/relationships/presentationmetadata" Target="metadata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ncy A. Odhiambo" userId="9fd03ea9-f642-46ed-82e0-72dc91a725bc" providerId="ADAL" clId="{6B025E33-D5BB-5DD4-954E-4AC3FAD535B9}"/>
    <pc:docChg chg="undo custSel modSld">
      <pc:chgData name="Nancy A. Odhiambo" userId="9fd03ea9-f642-46ed-82e0-72dc91a725bc" providerId="ADAL" clId="{6B025E33-D5BB-5DD4-954E-4AC3FAD535B9}" dt="2026-03-25T11:29:17.515" v="2034" actId="255"/>
      <pc:docMkLst>
        <pc:docMk/>
      </pc:docMkLst>
      <pc:sldChg chg="addSp delSp modSp mod">
        <pc:chgData name="Nancy A. Odhiambo" userId="9fd03ea9-f642-46ed-82e0-72dc91a725bc" providerId="ADAL" clId="{6B025E33-D5BB-5DD4-954E-4AC3FAD535B9}" dt="2026-03-25T11:29:17.515" v="2034" actId="255"/>
        <pc:sldMkLst>
          <pc:docMk/>
          <pc:sldMk cId="3865402343" sldId="261"/>
        </pc:sldMkLst>
        <pc:spChg chg="add del mod">
          <ac:chgData name="Nancy A. Odhiambo" userId="9fd03ea9-f642-46ed-82e0-72dc91a725bc" providerId="ADAL" clId="{6B025E33-D5BB-5DD4-954E-4AC3FAD535B9}" dt="2026-03-25T11:29:17.515" v="2034" actId="255"/>
          <ac:spMkLst>
            <pc:docMk/>
            <pc:sldMk cId="3865402343" sldId="261"/>
            <ac:spMk id="2" creationId="{22F7C748-A7B8-994F-51B5-6A10DF850565}"/>
          </ac:spMkLst>
        </pc:spChg>
        <pc:spChg chg="add del mod">
          <ac:chgData name="Nancy A. Odhiambo" userId="9fd03ea9-f642-46ed-82e0-72dc91a725bc" providerId="ADAL" clId="{6B025E33-D5BB-5DD4-954E-4AC3FAD535B9}" dt="2026-03-24T04:09:39.296" v="1647" actId="478"/>
          <ac:spMkLst>
            <pc:docMk/>
            <pc:sldMk cId="3865402343" sldId="261"/>
            <ac:spMk id="3" creationId="{10DB3307-46A7-C7B7-5379-43CBB6320BF8}"/>
          </ac:spMkLst>
        </pc:spChg>
        <pc:spChg chg="add mod">
          <ac:chgData name="Nancy A. Odhiambo" userId="9fd03ea9-f642-46ed-82e0-72dc91a725bc" providerId="ADAL" clId="{6B025E33-D5BB-5DD4-954E-4AC3FAD535B9}" dt="2026-03-24T03:48:59.710" v="586"/>
          <ac:spMkLst>
            <pc:docMk/>
            <pc:sldMk cId="3865402343" sldId="261"/>
            <ac:spMk id="4" creationId="{E0AF4F27-BF7E-8C35-5EED-00A9A95028F6}"/>
          </ac:spMkLst>
        </pc:spChg>
        <pc:spChg chg="add del mod">
          <ac:chgData name="Nancy A. Odhiambo" userId="9fd03ea9-f642-46ed-82e0-72dc91a725bc" providerId="ADAL" clId="{6B025E33-D5BB-5DD4-954E-4AC3FAD535B9}" dt="2026-03-24T04:31:19.958" v="1939" actId="14100"/>
          <ac:spMkLst>
            <pc:docMk/>
            <pc:sldMk cId="3865402343" sldId="261"/>
            <ac:spMk id="5" creationId="{0F657839-AC5A-CBEC-68BD-5C169C5740B8}"/>
          </ac:spMkLst>
        </pc:spChg>
        <pc:spChg chg="add mod">
          <ac:chgData name="Nancy A. Odhiambo" userId="9fd03ea9-f642-46ed-82e0-72dc91a725bc" providerId="ADAL" clId="{6B025E33-D5BB-5DD4-954E-4AC3FAD535B9}" dt="2026-03-24T03:50:03.263" v="1053"/>
          <ac:spMkLst>
            <pc:docMk/>
            <pc:sldMk cId="3865402343" sldId="261"/>
            <ac:spMk id="6" creationId="{462E4BBD-A9E2-7A33-44CA-705C704EE9C3}"/>
          </ac:spMkLst>
        </pc:spChg>
        <pc:spChg chg="add mod">
          <ac:chgData name="Nancy A. Odhiambo" userId="9fd03ea9-f642-46ed-82e0-72dc91a725bc" providerId="ADAL" clId="{6B025E33-D5BB-5DD4-954E-4AC3FAD535B9}" dt="2026-03-24T04:08:42.917" v="1643" actId="478"/>
          <ac:spMkLst>
            <pc:docMk/>
            <pc:sldMk cId="3865402343" sldId="261"/>
            <ac:spMk id="7" creationId="{1375D565-B110-F90F-A070-10671DFEEB23}"/>
          </ac:spMkLst>
        </pc:spChg>
        <pc:spChg chg="add del mod">
          <ac:chgData name="Nancy A. Odhiambo" userId="9fd03ea9-f642-46ed-82e0-72dc91a725bc" providerId="ADAL" clId="{6B025E33-D5BB-5DD4-954E-4AC3FAD535B9}" dt="2026-03-24T04:08:44.616" v="1644" actId="478"/>
          <ac:spMkLst>
            <pc:docMk/>
            <pc:sldMk cId="3865402343" sldId="261"/>
            <ac:spMk id="8" creationId="{BAAC6169-C1CE-EE5A-EDB1-D24E66F4A940}"/>
          </ac:spMkLst>
        </pc:spChg>
        <pc:spChg chg="add del mod">
          <ac:chgData name="Nancy A. Odhiambo" userId="9fd03ea9-f642-46ed-82e0-72dc91a725bc" providerId="ADAL" clId="{6B025E33-D5BB-5DD4-954E-4AC3FAD535B9}" dt="2026-03-24T04:08:44.616" v="1644" actId="478"/>
          <ac:spMkLst>
            <pc:docMk/>
            <pc:sldMk cId="3865402343" sldId="261"/>
            <ac:spMk id="9" creationId="{7731369C-25C6-4539-52D3-470DF230526A}"/>
          </ac:spMkLst>
        </pc:spChg>
        <pc:spChg chg="add mod">
          <ac:chgData name="Nancy A. Odhiambo" userId="9fd03ea9-f642-46ed-82e0-72dc91a725bc" providerId="ADAL" clId="{6B025E33-D5BB-5DD4-954E-4AC3FAD535B9}" dt="2026-03-24T04:08:42.917" v="1643" actId="478"/>
          <ac:spMkLst>
            <pc:docMk/>
            <pc:sldMk cId="3865402343" sldId="261"/>
            <ac:spMk id="10" creationId="{9AFE843B-0EC6-7C80-72F9-2DA8A4E58788}"/>
          </ac:spMkLst>
        </pc:spChg>
        <pc:spChg chg="add mod">
          <ac:chgData name="Nancy A. Odhiambo" userId="9fd03ea9-f642-46ed-82e0-72dc91a725bc" providerId="ADAL" clId="{6B025E33-D5BB-5DD4-954E-4AC3FAD535B9}" dt="2026-03-24T04:08:42.917" v="1643" actId="478"/>
          <ac:spMkLst>
            <pc:docMk/>
            <pc:sldMk cId="3865402343" sldId="261"/>
            <ac:spMk id="12" creationId="{2FDC1D21-0ACE-1342-0B95-871DFDFBAA6C}"/>
          </ac:spMkLst>
        </pc:spChg>
        <pc:spChg chg="add del mod">
          <ac:chgData name="Nancy A. Odhiambo" userId="9fd03ea9-f642-46ed-82e0-72dc91a725bc" providerId="ADAL" clId="{6B025E33-D5BB-5DD4-954E-4AC3FAD535B9}" dt="2026-03-25T11:24:12.261" v="2008" actId="14100"/>
          <ac:spMkLst>
            <pc:docMk/>
            <pc:sldMk cId="3865402343" sldId="261"/>
            <ac:spMk id="50" creationId="{AB71F360-BB8B-D375-3180-E5F2E2514D50}"/>
          </ac:spMkLst>
        </pc:spChg>
        <pc:picChg chg="add mod">
          <ac:chgData name="Nancy A. Odhiambo" userId="9fd03ea9-f642-46ed-82e0-72dc91a725bc" providerId="ADAL" clId="{6B025E33-D5BB-5DD4-954E-4AC3FAD535B9}" dt="2026-03-25T11:08:20.240" v="1998" actId="14100"/>
          <ac:picMkLst>
            <pc:docMk/>
            <pc:sldMk cId="3865402343" sldId="261"/>
            <ac:picMk id="4" creationId="{2275A505-4BB7-0C64-4386-A57A3D5AAC1E}"/>
          </ac:picMkLst>
        </pc:picChg>
        <pc:picChg chg="add mod">
          <ac:chgData name="Nancy A. Odhiambo" userId="9fd03ea9-f642-46ed-82e0-72dc91a725bc" providerId="ADAL" clId="{6B025E33-D5BB-5DD4-954E-4AC3FAD535B9}" dt="2026-03-25T11:08:52.323" v="2001" actId="14100"/>
          <ac:picMkLst>
            <pc:docMk/>
            <pc:sldMk cId="3865402343" sldId="261"/>
            <ac:picMk id="7" creationId="{8DB399D0-5D23-D139-707D-865B3CB825B9}"/>
          </ac:picMkLst>
        </pc:picChg>
        <pc:picChg chg="add del mod">
          <ac:chgData name="Nancy A. Odhiambo" userId="9fd03ea9-f642-46ed-82e0-72dc91a725bc" providerId="ADAL" clId="{6B025E33-D5BB-5DD4-954E-4AC3FAD535B9}" dt="2026-03-24T04:08:44.616" v="1644" actId="478"/>
          <ac:picMkLst>
            <pc:docMk/>
            <pc:sldMk cId="3865402343" sldId="261"/>
            <ac:picMk id="11" creationId="{BB728658-9F61-908A-3DCE-2DBBF3565C05}"/>
          </ac:picMkLst>
        </pc:picChg>
        <pc:picChg chg="add mod">
          <ac:chgData name="Nancy A. Odhiambo" userId="9fd03ea9-f642-46ed-82e0-72dc91a725bc" providerId="ADAL" clId="{6B025E33-D5BB-5DD4-954E-4AC3FAD535B9}" dt="2026-03-25T11:06:58.889" v="1995" actId="14100"/>
          <ac:picMkLst>
            <pc:docMk/>
            <pc:sldMk cId="3865402343" sldId="261"/>
            <ac:picMk id="12" creationId="{04858FAE-1C8D-0946-B8C3-06B7A8DBCB97}"/>
          </ac:picMkLst>
        </pc:picChg>
        <pc:picChg chg="add mod">
          <ac:chgData name="Nancy A. Odhiambo" userId="9fd03ea9-f642-46ed-82e0-72dc91a725bc" providerId="ADAL" clId="{6B025E33-D5BB-5DD4-954E-4AC3FAD535B9}" dt="2026-03-25T11:23:58.160" v="2007" actId="14100"/>
          <ac:picMkLst>
            <pc:docMk/>
            <pc:sldMk cId="3865402343" sldId="261"/>
            <ac:picMk id="14" creationId="{B5BA9DBB-2550-B185-75A1-8A4A4386A3B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search Poster Template" preserve="1" userDrawn="1">
  <p:cSld name="Research Poster Template 3 Columns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Google Shape;18;p4"/>
          <p:cNvCxnSpPr/>
          <p:nvPr/>
        </p:nvCxnSpPr>
        <p:spPr>
          <a:xfrm>
            <a:off x="11307763" y="8992295"/>
            <a:ext cx="914400" cy="914400"/>
          </a:xfrm>
          <a:prstGeom prst="straightConnector1">
            <a:avLst/>
          </a:prstGeom>
          <a:noFill/>
          <a:ln>
            <a:noFill/>
          </a:ln>
        </p:spPr>
      </p:cxnSp>
      <p:sp>
        <p:nvSpPr>
          <p:cNvPr id="21" name="Google Shape;21;p4"/>
          <p:cNvSpPr txBox="1">
            <a:spLocks noGrp="1"/>
          </p:cNvSpPr>
          <p:nvPr>
            <p:ph type="body" idx="1" hasCustomPrompt="1"/>
          </p:nvPr>
        </p:nvSpPr>
        <p:spPr>
          <a:xfrm>
            <a:off x="914398" y="6859659"/>
            <a:ext cx="13716001" cy="23345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64285"/>
              </a:lnSpc>
              <a:spcBef>
                <a:spcPts val="0"/>
              </a:spcBef>
              <a:spcAft>
                <a:spcPts val="1200"/>
              </a:spcAft>
              <a:buClr>
                <a:schemeClr val="dk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005BBB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lang="en-US" dirty="0"/>
          </a:p>
          <a:p>
            <a:pPr marL="914400" lvl="1" indent="-457200">
              <a:lnSpc>
                <a:spcPct val="164285"/>
              </a:lnSpc>
              <a:spcBef>
                <a:spcPts val="1200"/>
              </a:spcBef>
              <a:buClr>
                <a:schemeClr val="dk2"/>
              </a:buClr>
              <a:buSzPts val="3500"/>
              <a:buFont typeface="Arial"/>
              <a:buChar char="•"/>
            </a:pPr>
            <a:r>
              <a:rPr lang="en-US" sz="3000" dirty="0">
                <a:solidFill>
                  <a:schemeClr val="accent4">
                    <a:lumMod val="50000"/>
                  </a:schemeClr>
                </a:solidFill>
              </a:rPr>
              <a:t>Functional connectivity (FC) is important for understanding neurodegenerative diseases and psychiatric disorders.</a:t>
            </a:r>
          </a:p>
          <a:p>
            <a:pPr marL="914400" lvl="1" indent="-457200">
              <a:lnSpc>
                <a:spcPct val="164285"/>
              </a:lnSpc>
              <a:spcBef>
                <a:spcPts val="1200"/>
              </a:spcBef>
              <a:buClr>
                <a:schemeClr val="dk2"/>
              </a:buClr>
              <a:buSzPts val="3500"/>
              <a:buFont typeface="Arial"/>
              <a:buChar char="•"/>
            </a:pPr>
            <a:r>
              <a:rPr lang="en-US" sz="3000" dirty="0">
                <a:solidFill>
                  <a:schemeClr val="accent4">
                    <a:lumMod val="50000"/>
                  </a:schemeClr>
                </a:solidFill>
              </a:rPr>
              <a:t>FC-based clustering of multi-subject fMRI data can inform physicians about patient diagnoses.</a:t>
            </a:r>
          </a:p>
          <a:p>
            <a:pPr marL="914400" lvl="1" indent="-457200">
              <a:lnSpc>
                <a:spcPct val="164285"/>
              </a:lnSpc>
              <a:spcBef>
                <a:spcPts val="1200"/>
              </a:spcBef>
              <a:buClr>
                <a:schemeClr val="dk2"/>
              </a:buClr>
              <a:buSzPts val="3500"/>
              <a:buFont typeface="Arial"/>
              <a:buChar char="•"/>
            </a:pPr>
            <a:r>
              <a:rPr lang="en-US" sz="3000" dirty="0">
                <a:solidFill>
                  <a:schemeClr val="accent4">
                    <a:lumMod val="50000"/>
                  </a:schemeClr>
                </a:solidFill>
              </a:rPr>
              <a:t>We propose a random covariance clustering model (RCCM) to cluster individuals based on FC, estimate individual FC networks, and to infer shared network features.</a:t>
            </a:r>
          </a:p>
          <a:p>
            <a:pPr marL="0" marR="0" lvl="0" indent="0" algn="l" rtl="0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005BBB"/>
                </a:solidFill>
                <a:latin typeface="Arial"/>
                <a:ea typeface="Arial"/>
                <a:cs typeface="Arial"/>
                <a:sym typeface="Arial"/>
              </a:rPr>
              <a:t>Hierarchical Model</a:t>
            </a:r>
            <a:endParaRPr lang="en-US" sz="3800" dirty="0">
              <a:solidFill>
                <a:schemeClr val="dk1"/>
              </a:solidFill>
            </a:endParaRPr>
          </a:p>
          <a:p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4"/>
          </p:nvPr>
        </p:nvSpPr>
        <p:spPr>
          <a:xfrm>
            <a:off x="15220335" y="6832926"/>
            <a:ext cx="13450530" cy="234012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6"/>
          </p:nvPr>
        </p:nvSpPr>
        <p:spPr>
          <a:xfrm>
            <a:off x="29880232" y="6859658"/>
            <a:ext cx="13112442" cy="23286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2">
                <a:extLst>
                  <a:ext uri="{FF2B5EF4-FFF2-40B4-BE49-F238E27FC236}">
                    <a16:creationId xmlns:a16="http://schemas.microsoft.com/office/drawing/2014/main" id="{DD64A777-8221-90AB-7F62-34B53C1013C0}"/>
                  </a:ext>
                </a:extLst>
              </p:cNvPr>
              <p:cNvGraphicFramePr>
                <a:graphicFrameLocks noGrp="1"/>
              </p:cNvGraphicFramePr>
              <p:nvPr userDrawn="1">
                <p:extLst>
                  <p:ext uri="{D42A27DB-BD31-4B8C-83A1-F6EECF244321}">
                    <p14:modId xmlns:p14="http://schemas.microsoft.com/office/powerpoint/2010/main" val="3180680857"/>
                  </p:ext>
                </p:extLst>
              </p:nvPr>
            </p:nvGraphicFramePr>
            <p:xfrm>
              <a:off x="648929" y="14846709"/>
              <a:ext cx="15102348" cy="8190271"/>
            </p:xfrm>
            <a:graphic>
              <a:graphicData uri="http://schemas.openxmlformats.org/drawingml/2006/table">
                <a:tbl>
                  <a:tblPr firstRow="1" bandRow="1">
                    <a:tableStyleId>{FA1151E8-28CC-4D0A-90E6-D913D1850F2D}</a:tableStyleId>
                  </a:tblPr>
                  <a:tblGrid>
                    <a:gridCol w="2856315">
                      <a:extLst>
                        <a:ext uri="{9D8B030D-6E8A-4147-A177-3AD203B41FA5}">
                          <a16:colId xmlns:a16="http://schemas.microsoft.com/office/drawing/2014/main" val="1191074651"/>
                        </a:ext>
                      </a:extLst>
                    </a:gridCol>
                    <a:gridCol w="6631900">
                      <a:extLst>
                        <a:ext uri="{9D8B030D-6E8A-4147-A177-3AD203B41FA5}">
                          <a16:colId xmlns:a16="http://schemas.microsoft.com/office/drawing/2014/main" val="2841301798"/>
                        </a:ext>
                      </a:extLst>
                    </a:gridCol>
                    <a:gridCol w="5614133">
                      <a:extLst>
                        <a:ext uri="{9D8B030D-6E8A-4147-A177-3AD203B41FA5}">
                          <a16:colId xmlns:a16="http://schemas.microsoft.com/office/drawing/2014/main" val="3617628030"/>
                        </a:ext>
                      </a:extLst>
                    </a:gridCol>
                  </a:tblGrid>
                  <a:tr h="1224217">
                    <a:tc>
                      <a:txBody>
                        <a:bodyPr/>
                        <a:lstStyle/>
                        <a:p>
                          <a:pPr marL="0" marR="0" indent="45720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</a:pPr>
                          <a:r>
                            <a:rPr lang="en-US" sz="32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Level</a:t>
                          </a:r>
                          <a:endParaRPr lang="en-US" sz="32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indent="457200" algn="ctr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</a:pPr>
                          <a:r>
                            <a:rPr lang="en-US" sz="32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Model</a:t>
                          </a:r>
                          <a:endParaRPr lang="en-US" sz="32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indent="457200" algn="l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</a:pPr>
                          <a:r>
                            <a:rPr lang="en-US" sz="3200" dirty="0">
                              <a:effectLst/>
                            </a:rPr>
                            <a:t>Interpretation</a:t>
                          </a:r>
                          <a:endParaRPr lang="en-US" sz="3200" dirty="0">
                            <a:effectLst/>
                            <a:latin typeface="Times New Roman" panose="020206030504050203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488523086"/>
                      </a:ext>
                    </a:extLst>
                  </a:tr>
                  <a:tr h="2322018"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32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Cluster</a:t>
                          </a:r>
                          <a:endParaRPr lang="en-US" sz="32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600" b="0" i="0" u="none" strike="noStrike" cap="none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{</m:t>
                                </m:r>
                                <m:sSub>
                                  <m:sSub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𝛀</m:t>
                                    </m:r>
                                  </m:e>
                                  <m: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𝟎𝐠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}</m:t>
                                    </m:r>
                                  </m:e>
                                  <m: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𝑔</m:t>
                                    </m:r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𝐺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36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lvl="0" indent="457200" algn="l" defTabSz="914400" rtl="0" eaLnBrk="1" fontAlgn="auto" latinLnBrk="0" hangingPunct="1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Set of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0" u="none" strike="noStrike" cap="none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𝐺</m:t>
                              </m:r>
                            </m:oMath>
                          </a14:m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 cluster-level precision matrices describing group-level FC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739924968"/>
                      </a:ext>
                    </a:extLst>
                  </a:tr>
                  <a:tr h="2322018"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32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Subject</a:t>
                          </a:r>
                          <a:endParaRPr lang="en-US" sz="32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600" b="0" i="0" u="none" strike="noStrike" cap="non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{</m:t>
                                </m:r>
                                <m:sSub>
                                  <m:sSub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𝛀</m:t>
                                    </m:r>
                                  </m:e>
                                  <m: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𝐤</m:t>
                                    </m:r>
                                  </m:sub>
                                </m:sSub>
                                <m:limUpp>
                                  <m:limUpp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limUppPr>
                                  <m:e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∼</m:t>
                                    </m:r>
                                  </m:e>
                                  <m:lim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𝑖𝑖𝑑</m:t>
                                    </m:r>
                                  </m:lim>
                                </m:limUpp>
                                <m:nary>
                                  <m:naryPr>
                                    <m:chr m:val="∑"/>
                                    <m:limLoc m:val="undOvr"/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𝑔</m:t>
                                    </m:r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𝐺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𝜋</m:t>
                                        </m:r>
                                      </m:e>
                                      <m:sub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𝑔</m:t>
                                        </m:r>
                                      </m:sub>
                                    </m:sSub>
                                  </m:e>
                                </m:nary>
                                <m:sSub>
                                  <m:sSub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𝑔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𝛀</m:t>
                                        </m:r>
                                      </m:e>
                                      <m:sub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𝐤</m:t>
                                        </m:r>
                                      </m:sub>
                                    </m:s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𝛀</m:t>
                                        </m:r>
                                      </m:e>
                                      <m:sub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𝟎𝐠</m:t>
                                        </m:r>
                                      </m:sub>
                                    </m:sSub>
                                  </m:e>
                                </m:d>
                                <m:limLow>
                                  <m:limLow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limLowPr>
                                  <m:e>
                                    <m:limUpp>
                                      <m:limUpp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limUpp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}</m:t>
                                        </m:r>
                                      </m:e>
                                      <m:lim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𝐾</m:t>
                                        </m:r>
                                      </m:lim>
                                    </m:limUpp>
                                  </m:e>
                                  <m:lim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𝑘</m:t>
                                    </m:r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=1</m:t>
                                    </m:r>
                                  </m:lim>
                                </m:limLow>
                              </m:oMath>
                            </m:oMathPara>
                          </a14:m>
                          <a:endParaRPr lang="en-US" sz="36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lvl="0" indent="457200" algn="l" defTabSz="914400" rtl="0" eaLnBrk="1" fontAlgn="auto" latinLnBrk="0" hangingPunct="1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Set of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0" u="none" strike="noStrike" cap="none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oMath>
                          </a14:m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 subject-level precision matrices describing unique individual-level FC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68420601"/>
                      </a:ext>
                    </a:extLst>
                  </a:tr>
                  <a:tr h="2322018"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32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Observation</a:t>
                          </a:r>
                          <a:endParaRPr lang="en-US" sz="32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600" b="0" i="0" u="none" strike="noStrike" cap="non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{{</m:t>
                                </m:r>
                                <m:sSub>
                                  <m:sSub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1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𝐲</m:t>
                                    </m:r>
                                  </m:e>
                                  <m:sub>
                                    <m:r>
                                      <a:rPr lang="en-US" sz="3600" b="1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𝐤𝐭</m:t>
                                    </m:r>
                                  </m:sub>
                                </m:sSub>
                                <m:r>
                                  <a:rPr lang="en-US" sz="3600" b="0" i="0" u="none" strike="noStrike" cap="none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1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𝛀</m:t>
                                    </m:r>
                                  </m:e>
                                  <m:sub>
                                    <m:r>
                                      <a:rPr lang="en-US" sz="3600" b="1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𝐤</m:t>
                                    </m:r>
                                  </m:sub>
                                </m:sSub>
                                <m:limUpp>
                                  <m:limUpp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limUppPr>
                                  <m:e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∼</m:t>
                                    </m:r>
                                  </m:e>
                                  <m:lim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𝑖𝑛𝑑</m:t>
                                    </m:r>
                                  </m:lim>
                                </m:limUpp>
                                <m:sSub>
                                  <m:sSub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𝒩</m:t>
                                    </m:r>
                                  </m:e>
                                  <m:sub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𝑝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3600" b="1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3600" b="1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𝛍</m:t>
                                        </m:r>
                                      </m:e>
                                      <m:sub>
                                        <m:r>
                                          <a:rPr lang="en-US" sz="3600" b="1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𝐤</m:t>
                                        </m:r>
                                      </m:sub>
                                    </m:s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3600" b="1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𝛀</m:t>
                                        </m:r>
                                      </m:e>
                                      <m:sub>
                                        <m:r>
                                          <a:rPr lang="en-US" sz="3600" b="1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𝐤</m:t>
                                        </m:r>
                                      </m:sub>
                                    </m:sSub>
                                  </m:e>
                                </m:d>
                                <m:limLow>
                                  <m:limLow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limLowPr>
                                  <m:e>
                                    <m:limUpp>
                                      <m:limUpp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limUpp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}</m:t>
                                        </m:r>
                                      </m:e>
                                      <m:lim>
                                        <m:sSub>
                                          <m:sSubPr>
                                            <m:ctrlPr>
                                              <a:rPr lang="en-US" sz="3600" b="0" i="1" u="none" strike="noStrike" cap="none">
                                                <a:solidFill>
                                                  <a:srgbClr val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3600" b="0" i="1" u="none" strike="noStrike" cap="none">
                                                <a:solidFill>
                                                  <a:srgbClr val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𝑛</m:t>
                                            </m:r>
                                          </m:e>
                                          <m:sub>
                                            <m:r>
                                              <a:rPr lang="en-US" sz="3600" b="0" i="1" u="none" strike="noStrike" cap="none">
                                                <a:solidFill>
                                                  <a:srgbClr val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lim>
                                    </m:limUpp>
                                  </m:e>
                                  <m:lim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𝑡</m:t>
                                    </m:r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=</m:t>
                                    </m:r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1</m:t>
                                    </m:r>
                                  </m:lim>
                                </m:limLow>
                                <m:limLow>
                                  <m:limLow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limLowPr>
                                  <m:e>
                                    <m:limUpp>
                                      <m:limUpp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limUpp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}</m:t>
                                        </m:r>
                                      </m:e>
                                      <m:lim>
                                        <m: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𝐾</m:t>
                                        </m:r>
                                      </m:lim>
                                    </m:limUpp>
                                  </m:e>
                                  <m:lim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𝑘</m:t>
                                    </m:r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=</m:t>
                                    </m:r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1</m:t>
                                    </m:r>
                                  </m:lim>
                                </m:limLow>
                              </m:oMath>
                            </m:oMathPara>
                          </a14:m>
                          <a:endParaRPr lang="en-US" sz="36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lvl="0" indent="457200" algn="l" defTabSz="914400" rtl="0" eaLnBrk="1" fontAlgn="auto" latinLnBrk="0" hangingPunct="1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Set of fMRI signals consisting of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800" b="0" i="1" u="none" strike="noStrike" cap="none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0" u="none" strike="noStrike" cap="none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2800" b="0" i="0" u="none" strike="noStrike" cap="none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 observations of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0" u="none" strike="noStrike" cap="none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</m:t>
                              </m:r>
                            </m:oMath>
                          </a14:m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 variables for subject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0" u="none" strike="noStrike" cap="none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oMath>
                          </a14:m>
                          <a:endParaRPr lang="en-US" sz="28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35443344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2">
                <a:extLst>
                  <a:ext uri="{FF2B5EF4-FFF2-40B4-BE49-F238E27FC236}">
                    <a16:creationId xmlns:a16="http://schemas.microsoft.com/office/drawing/2014/main" id="{DD64A777-8221-90AB-7F62-34B53C1013C0}"/>
                  </a:ext>
                </a:extLst>
              </p:cNvPr>
              <p:cNvGraphicFramePr>
                <a:graphicFrameLocks noGrp="1"/>
              </p:cNvGraphicFramePr>
              <p:nvPr userDrawn="1">
                <p:extLst>
                  <p:ext uri="{D42A27DB-BD31-4B8C-83A1-F6EECF244321}">
                    <p14:modId xmlns:p14="http://schemas.microsoft.com/office/powerpoint/2010/main" val="3180680857"/>
                  </p:ext>
                </p:extLst>
              </p:nvPr>
            </p:nvGraphicFramePr>
            <p:xfrm>
              <a:off x="648929" y="14846709"/>
              <a:ext cx="15102348" cy="8190271"/>
            </p:xfrm>
            <a:graphic>
              <a:graphicData uri="http://schemas.openxmlformats.org/drawingml/2006/table">
                <a:tbl>
                  <a:tblPr firstRow="1" bandRow="1">
                    <a:tableStyleId>{FA1151E8-28CC-4D0A-90E6-D913D1850F2D}</a:tableStyleId>
                  </a:tblPr>
                  <a:tblGrid>
                    <a:gridCol w="2856315">
                      <a:extLst>
                        <a:ext uri="{9D8B030D-6E8A-4147-A177-3AD203B41FA5}">
                          <a16:colId xmlns:a16="http://schemas.microsoft.com/office/drawing/2014/main" val="1191074651"/>
                        </a:ext>
                      </a:extLst>
                    </a:gridCol>
                    <a:gridCol w="6631900">
                      <a:extLst>
                        <a:ext uri="{9D8B030D-6E8A-4147-A177-3AD203B41FA5}">
                          <a16:colId xmlns:a16="http://schemas.microsoft.com/office/drawing/2014/main" val="2841301798"/>
                        </a:ext>
                      </a:extLst>
                    </a:gridCol>
                    <a:gridCol w="5614133">
                      <a:extLst>
                        <a:ext uri="{9D8B030D-6E8A-4147-A177-3AD203B41FA5}">
                          <a16:colId xmlns:a16="http://schemas.microsoft.com/office/drawing/2014/main" val="3617628030"/>
                        </a:ext>
                      </a:extLst>
                    </a:gridCol>
                  </a:tblGrid>
                  <a:tr h="1224217">
                    <a:tc>
                      <a:txBody>
                        <a:bodyPr/>
                        <a:lstStyle/>
                        <a:p>
                          <a:pPr marL="0" marR="0" indent="45720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</a:pPr>
                          <a:r>
                            <a:rPr lang="en-US" sz="32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Level</a:t>
                          </a:r>
                          <a:endParaRPr lang="en-US" sz="32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indent="457200" algn="ctr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</a:pPr>
                          <a:r>
                            <a:rPr lang="en-US" sz="32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Model</a:t>
                          </a:r>
                          <a:endParaRPr lang="en-US" sz="32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indent="457200" algn="l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</a:pPr>
                          <a:r>
                            <a:rPr lang="en-US" sz="3200" dirty="0">
                              <a:effectLst/>
                            </a:rPr>
                            <a:t>Interpretation</a:t>
                          </a:r>
                          <a:endParaRPr lang="en-US" sz="3200" dirty="0">
                            <a:effectLst/>
                            <a:latin typeface="Times New Roman" panose="020206030504050203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488523086"/>
                      </a:ext>
                    </a:extLst>
                  </a:tr>
                  <a:tr h="2322018"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32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Cluster</a:t>
                          </a:r>
                          <a:endParaRPr lang="en-US" sz="32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43199" t="-53018" r="-84835" b="-2007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169164" t="-53018" r="-217" b="-2007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9924968"/>
                      </a:ext>
                    </a:extLst>
                  </a:tr>
                  <a:tr h="2322018"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32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Subject</a:t>
                          </a:r>
                          <a:endParaRPr lang="en-US" sz="32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43199" t="-152618" r="-84835" b="-1002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169164" t="-152618" r="-217" b="-1002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8420601"/>
                      </a:ext>
                    </a:extLst>
                  </a:tr>
                  <a:tr h="2322018"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32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Observation</a:t>
                          </a:r>
                          <a:endParaRPr lang="en-US" sz="32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43199" t="-253281" r="-84835" b="-5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169164" t="-253281" r="-217" b="-5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443344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022213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68">
          <p15:clr>
            <a:srgbClr val="FBAE40"/>
          </p15:clr>
        </p15:guide>
        <p15:guide id="2" pos="9216" userDrawn="1">
          <p15:clr>
            <a:srgbClr val="FBAE40"/>
          </p15:clr>
        </p15:guide>
        <p15:guide id="3" pos="1843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search Poster Template" preserve="1" userDrawn="1">
  <p:cSld name="Research Poster Template 3 Column Empt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Google Shape;18;p4"/>
          <p:cNvCxnSpPr/>
          <p:nvPr/>
        </p:nvCxnSpPr>
        <p:spPr>
          <a:xfrm>
            <a:off x="11307763" y="8992295"/>
            <a:ext cx="914400" cy="914400"/>
          </a:xfrm>
          <a:prstGeom prst="straightConnector1">
            <a:avLst/>
          </a:prstGeom>
          <a:noFill/>
          <a:ln>
            <a:noFill/>
          </a:ln>
        </p:spPr>
      </p:cxn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914398" y="6859659"/>
            <a:ext cx="13716001" cy="23345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64285"/>
              </a:lnSpc>
              <a:spcBef>
                <a:spcPts val="0"/>
              </a:spcBef>
              <a:spcAft>
                <a:spcPts val="1200"/>
              </a:spcAft>
              <a:buClr>
                <a:schemeClr val="dk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4"/>
          </p:nvPr>
        </p:nvSpPr>
        <p:spPr>
          <a:xfrm>
            <a:off x="15220335" y="6832926"/>
            <a:ext cx="13450530" cy="234012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6"/>
          </p:nvPr>
        </p:nvSpPr>
        <p:spPr>
          <a:xfrm>
            <a:off x="29880232" y="6859658"/>
            <a:ext cx="13112442" cy="23286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604493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68">
          <p15:clr>
            <a:srgbClr val="FBAE40"/>
          </p15:clr>
        </p15:guide>
        <p15:guide id="2" pos="9216" userDrawn="1">
          <p15:clr>
            <a:srgbClr val="FBAE40"/>
          </p15:clr>
        </p15:guide>
        <p15:guide id="3" pos="18432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 descr="alt=&quot;&quot;"/>
          <p:cNvSpPr/>
          <p:nvPr/>
        </p:nvSpPr>
        <p:spPr>
          <a:xfrm>
            <a:off x="0" y="30409662"/>
            <a:ext cx="43891200" cy="2508738"/>
          </a:xfrm>
          <a:prstGeom prst="rect">
            <a:avLst/>
          </a:prstGeom>
          <a:solidFill>
            <a:srgbClr val="005BB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3" descr="alt=&quot;&quot;"/>
          <p:cNvSpPr/>
          <p:nvPr/>
        </p:nvSpPr>
        <p:spPr>
          <a:xfrm>
            <a:off x="0" y="0"/>
            <a:ext cx="43891200" cy="5486400"/>
          </a:xfrm>
          <a:prstGeom prst="rect">
            <a:avLst/>
          </a:prstGeom>
          <a:solidFill>
            <a:srgbClr val="005BB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3" descr="alt=&quot;&quot;"/>
          <p:cNvSpPr/>
          <p:nvPr/>
        </p:nvSpPr>
        <p:spPr>
          <a:xfrm>
            <a:off x="-1" y="5257800"/>
            <a:ext cx="43891201" cy="2612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7258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" name="Google Shape;13;p3" descr="alt=&quot;&quot;"/>
          <p:cNvCxnSpPr/>
          <p:nvPr/>
        </p:nvCxnSpPr>
        <p:spPr>
          <a:xfrm>
            <a:off x="32696865" y="30837463"/>
            <a:ext cx="0" cy="1588169"/>
          </a:xfrm>
          <a:prstGeom prst="straightConnector1">
            <a:avLst/>
          </a:prstGeom>
          <a:noFill/>
          <a:ln w="254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pic>
        <p:nvPicPr>
          <p:cNvPr id="14" name="Google Shape;14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5554365" y="1216818"/>
            <a:ext cx="5443902" cy="30527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04744" y="30969559"/>
            <a:ext cx="14811531" cy="1305519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ichigan.gov/pfasresponse/investigations/sites-aoi" TargetMode="External"/><Relationship Id="rId13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hyperlink" Target="https://gis-egle.hub.arcgis.com/search?q=pfasgis" TargetMode="External"/><Relationship Id="rId12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gis-egle.hub.arcgis.com/datasets/egle::pfas-surface-water-sampling/about" TargetMode="External"/><Relationship Id="rId11" Type="http://schemas.openxmlformats.org/officeDocument/2006/relationships/image" Target="../media/image7.png"/><Relationship Id="rId5" Type="http://schemas.openxmlformats.org/officeDocument/2006/relationships/hyperlink" Target="https://www.epa.gov/system/files/documents/2024-04/pfas-npdwr_fact-sheet_hazard-index_4.8.24.pdf" TargetMode="External"/><Relationship Id="rId10" Type="http://schemas.openxmlformats.org/officeDocument/2006/relationships/image" Target="../media/image6.png"/><Relationship Id="rId4" Type="http://schemas.openxmlformats.org/officeDocument/2006/relationships/hyperlink" Target="https://github.com/Nancy-Odhiambo/Michigan-PFAS-Data" TargetMode="External"/><Relationship Id="rId9" Type="http://schemas.openxmlformats.org/officeDocument/2006/relationships/hyperlink" Target="https://www.michigan.gov/pfasresponse/-/media/Project/Websites/PFAS-Response/Sampling-Guidance/Minimum-Laboratory-Analyte-List.pdf?rev=a35aba56ec5a4922b986f01e25c1a19d&amp;hash=04E6F164AA5F5CD29B83B39983341345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22F7C748-A7B8-994F-51B5-6A10DF85056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0" y="5619555"/>
                <a:ext cx="14630399" cy="24821957"/>
              </a:xfrm>
            </p:spPr>
            <p:txBody>
              <a:bodyPr/>
              <a:lstStyle/>
              <a:p>
                <a:pPr marL="0" marR="0" lvl="0" indent="0" algn="l" rtl="0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800" b="1" i="0" u="none" strike="noStrike" cap="none" dirty="0">
                    <a:solidFill>
                      <a:srgbClr val="005BBB"/>
                    </a:solidFill>
                    <a:latin typeface="Arial"/>
                    <a:ea typeface="Arial"/>
                    <a:cs typeface="Arial"/>
                    <a:sym typeface="Arial"/>
                  </a:rPr>
                  <a:t>Introduction</a:t>
                </a:r>
                <a:endParaRPr lang="en-US" dirty="0"/>
              </a:p>
              <a:p>
                <a:pPr marL="914400" lvl="1" indent="-457200">
                  <a:lnSpc>
                    <a:spcPct val="164285"/>
                  </a:lnSpc>
                  <a:spcBef>
                    <a:spcPts val="1200"/>
                  </a:spcBef>
                  <a:buClr>
                    <a:schemeClr val="dk2"/>
                  </a:buClr>
                  <a:buSzPts val="3500"/>
                  <a:buFont typeface="Arial"/>
                  <a:buChar char="•"/>
                </a:pPr>
                <a:r>
                  <a:rPr lang="en-US" sz="3200" dirty="0">
                    <a:solidFill>
                      <a:schemeClr val="accent4">
                        <a:lumMod val="50000"/>
                      </a:schemeClr>
                    </a:solidFill>
                  </a:rPr>
                  <a:t>PFAS are persistent environmental contaminants with adverse health effects.</a:t>
                </a:r>
              </a:p>
              <a:p>
                <a:pPr marL="914400" lvl="1" indent="-457200">
                  <a:spcBef>
                    <a:spcPts val="1200"/>
                  </a:spcBef>
                  <a:buSzPts val="3500"/>
                  <a:buFont typeface="Arial"/>
                  <a:buChar char="•"/>
                </a:pPr>
                <a:r>
                  <a:rPr lang="en-US" sz="3200" dirty="0">
                    <a:solidFill>
                      <a:schemeClr val="accent4">
                        <a:lumMod val="50000"/>
                      </a:schemeClr>
                    </a:solidFill>
                  </a:rPr>
                  <a:t>Analysis of monitoring data provides key insights into contamination patterns and cumulative health risks, supporting research and evidence-based policy decisions.</a:t>
                </a:r>
              </a:p>
              <a:p>
                <a:pPr marL="914400" lvl="1" indent="-457200">
                  <a:spcBef>
                    <a:spcPts val="1200"/>
                  </a:spcBef>
                  <a:buSzPts val="3500"/>
                  <a:buFont typeface="Arial"/>
                  <a:buChar char="•"/>
                </a:pPr>
                <a:r>
                  <a:rPr lang="en-US" sz="3200" dirty="0">
                    <a:solidFill>
                      <a:schemeClr val="accent4">
                        <a:lumMod val="50000"/>
                      </a:schemeClr>
                    </a:solidFill>
                  </a:rPr>
                  <a:t>As part of this work, an interactive dashboard was also developed to visualize and summarize the findings across Michigan.</a:t>
                </a:r>
                <a:endParaRPr lang="en-US" sz="4800" b="1" dirty="0">
                  <a:solidFill>
                    <a:srgbClr val="005BBB"/>
                  </a:solidFill>
                </a:endParaRPr>
              </a:p>
              <a:p>
                <a:pPr marL="0" marR="0" lvl="0" indent="0" algn="l" rtl="0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800" b="1" dirty="0">
                    <a:solidFill>
                      <a:srgbClr val="005BBB"/>
                    </a:solidFill>
                  </a:rPr>
                  <a:t>Data Source</a:t>
                </a:r>
              </a:p>
              <a:p>
                <a:pPr marL="457200" marR="0" lvl="1" indent="0" algn="l" defTabSz="914400" rtl="0" eaLnBrk="1" fontAlgn="auto" latinLnBrk="0" hangingPunct="1">
                  <a:lnSpc>
                    <a:spcPct val="164285"/>
                  </a:lnSpc>
                  <a:spcBef>
                    <a:spcPts val="1200"/>
                  </a:spcBef>
                  <a:spcAft>
                    <a:spcPts val="0"/>
                  </a:spcAft>
                  <a:buClr>
                    <a:srgbClr val="005BBB"/>
                  </a:buClr>
                  <a:buSzPts val="3500"/>
                  <a:buFont typeface="Arial"/>
                  <a:buNone/>
                  <a:tabLst/>
                  <a:defRPr/>
                </a:pPr>
                <a:r>
                  <a:rPr lang="en-US" sz="3200" dirty="0">
                    <a:solidFill>
                      <a:srgbClr val="666666">
                        <a:lumMod val="50000"/>
                      </a:srgbClr>
                    </a:solidFill>
                  </a:rPr>
                  <a:t>T</a:t>
                </a:r>
                <a:r>
                  <a:rPr kumimoji="0" lang="en-US" sz="3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666666">
                        <a:lumMod val="50000"/>
                      </a:srgbClr>
                    </a:solidFill>
                    <a:effectLst/>
                    <a:uLnTx/>
                    <a:uFillTx/>
                    <a:latin typeface="Arial"/>
                    <a:cs typeface="Arial"/>
                    <a:sym typeface="Arial"/>
                  </a:rPr>
                  <a:t>he Michigan Department of Environment, Great Lakes, and Energy (EGLE) and the Michigan PFAS Action Response Team (MPART). Datasets used;</a:t>
                </a:r>
              </a:p>
              <a:p>
                <a:pPr marL="971550" marR="0" lvl="1" indent="-514350" algn="l" defTabSz="914400" rtl="0" eaLnBrk="1" fontAlgn="auto" latinLnBrk="0" hangingPunct="1">
                  <a:lnSpc>
                    <a:spcPct val="164285"/>
                  </a:lnSpc>
                  <a:spcBef>
                    <a:spcPts val="1200"/>
                  </a:spcBef>
                  <a:spcAft>
                    <a:spcPts val="0"/>
                  </a:spcAft>
                  <a:buClr>
                    <a:srgbClr val="005BBB"/>
                  </a:buClr>
                  <a:buSzPts val="3500"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3200" b="0" i="1" u="none" strike="noStrike" kern="0" cap="none" spc="0" normalizeH="0" baseline="0" noProof="0" dirty="0">
                    <a:ln>
                      <a:noFill/>
                    </a:ln>
                    <a:solidFill>
                      <a:srgbClr val="666666">
                        <a:lumMod val="50000"/>
                      </a:srgbClr>
                    </a:solidFill>
                    <a:effectLst/>
                    <a:uLnTx/>
                    <a:uFillTx/>
                    <a:latin typeface="Arial"/>
                    <a:cs typeface="Arial"/>
                    <a:sym typeface="Arial"/>
                  </a:rPr>
                  <a:t>Surface Water Sampling Data</a:t>
                </a:r>
              </a:p>
              <a:p>
                <a:pPr marL="971550" marR="0" lvl="1" indent="-514350" algn="l" defTabSz="914400" rtl="0" eaLnBrk="1" fontAlgn="auto" latinLnBrk="0" hangingPunct="1">
                  <a:lnSpc>
                    <a:spcPct val="164285"/>
                  </a:lnSpc>
                  <a:spcBef>
                    <a:spcPts val="1200"/>
                  </a:spcBef>
                  <a:spcAft>
                    <a:spcPts val="0"/>
                  </a:spcAft>
                  <a:buClr>
                    <a:srgbClr val="005BBB"/>
                  </a:buClr>
                  <a:buSzPts val="3500"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3200" b="0" i="1" u="none" strike="noStrike" kern="0" cap="none" spc="0" normalizeH="0" baseline="0" noProof="0" dirty="0">
                    <a:ln>
                      <a:noFill/>
                    </a:ln>
                    <a:solidFill>
                      <a:srgbClr val="666666">
                        <a:lumMod val="50000"/>
                      </a:srgbClr>
                    </a:solidFill>
                    <a:effectLst/>
                    <a:uLnTx/>
                    <a:uFillTx/>
                    <a:latin typeface="Arial"/>
                    <a:cs typeface="Arial"/>
                    <a:sym typeface="Arial"/>
                  </a:rPr>
                  <a:t>Public Water Supply Sampling Data</a:t>
                </a:r>
              </a:p>
              <a:p>
                <a:pPr marL="971550" marR="0" lvl="1" indent="-514350" algn="l" defTabSz="914400" rtl="0" eaLnBrk="1" fontAlgn="auto" latinLnBrk="0" hangingPunct="1">
                  <a:lnSpc>
                    <a:spcPct val="164285"/>
                  </a:lnSpc>
                  <a:spcBef>
                    <a:spcPts val="1200"/>
                  </a:spcBef>
                  <a:spcAft>
                    <a:spcPts val="0"/>
                  </a:spcAft>
                  <a:buClr>
                    <a:srgbClr val="005BBB"/>
                  </a:buClr>
                  <a:buSzPts val="3500"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3200" b="0" i="1" u="none" strike="noStrike" kern="0" cap="none" spc="0" normalizeH="0" baseline="0" noProof="0" dirty="0">
                    <a:ln>
                      <a:noFill/>
                    </a:ln>
                    <a:solidFill>
                      <a:srgbClr val="666666">
                        <a:lumMod val="50000"/>
                      </a:srgbClr>
                    </a:solidFill>
                    <a:effectLst/>
                    <a:uLnTx/>
                    <a:uFillTx/>
                    <a:latin typeface="Arial"/>
                    <a:cs typeface="Arial"/>
                    <a:sym typeface="Arial"/>
                  </a:rPr>
                  <a:t>Michigan PFAS Sites Data</a:t>
                </a:r>
              </a:p>
              <a:p>
                <a:pPr marL="971550" marR="0" lvl="1" indent="-514350" algn="l" defTabSz="914400" rtl="0" eaLnBrk="1" fontAlgn="auto" latinLnBrk="0" hangingPunct="1">
                  <a:lnSpc>
                    <a:spcPct val="164285"/>
                  </a:lnSpc>
                  <a:spcBef>
                    <a:spcPts val="1200"/>
                  </a:spcBef>
                  <a:spcAft>
                    <a:spcPts val="0"/>
                  </a:spcAft>
                  <a:buClr>
                    <a:srgbClr val="005BBB"/>
                  </a:buClr>
                  <a:buSzPts val="3500"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3200" b="0" i="1" u="none" strike="noStrike" kern="0" cap="none" spc="0" normalizeH="0" baseline="0" noProof="0" dirty="0">
                    <a:ln>
                      <a:noFill/>
                    </a:ln>
                    <a:solidFill>
                      <a:srgbClr val="666666">
                        <a:lumMod val="50000"/>
                      </a:srgbClr>
                    </a:solidFill>
                    <a:effectLst/>
                    <a:uLnTx/>
                    <a:uFillTx/>
                    <a:latin typeface="Arial"/>
                    <a:cs typeface="Arial"/>
                    <a:sym typeface="Arial"/>
                  </a:rPr>
                  <a:t>PFAS Laboratory Analyte List (PDF)</a:t>
                </a:r>
              </a:p>
              <a:p>
                <a:pPr marL="0" lvl="0" indent="0">
                  <a:lnSpc>
                    <a:spcPct val="95833"/>
                  </a:lnSpc>
                </a:pPr>
                <a:endParaRPr lang="en-US" sz="4800" b="1" dirty="0">
                  <a:solidFill>
                    <a:srgbClr val="005BBB"/>
                  </a:solidFill>
                </a:endParaRPr>
              </a:p>
              <a:p>
                <a:pPr marL="0" lvl="0" indent="0">
                  <a:lnSpc>
                    <a:spcPct val="95833"/>
                  </a:lnSpc>
                </a:pPr>
                <a:r>
                  <a:rPr lang="en-US" sz="4800" b="1" dirty="0">
                    <a:solidFill>
                      <a:srgbClr val="005BBB"/>
                    </a:solidFill>
                  </a:rPr>
                  <a:t>Hazard Index EPA Definition</a:t>
                </a:r>
              </a:p>
              <a:p>
                <a:pPr marL="0" lvl="0" indent="0">
                  <a:lnSpc>
                    <a:spcPct val="95833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a:fld id="{825F15A7-03F4-43D7-82C5-3E23DA2F108C}" type="mathplaceholder">
                        <a:rPr lang="en-US" sz="4800" b="1" i="1" smtClean="0">
                          <a:solidFill>
                            <a:srgbClr val="005BBB"/>
                          </a:solidFill>
                          <a:latin typeface="Cambria Math" panose="02040503050406030204" pitchFamily="18" charset="0"/>
                        </a:rPr>
                        <a:t>Type equation here.</a:t>
                      </a:fld>
                    </m:oMath>
                  </m:oMathPara>
                </a14:m>
                <a:endParaRPr lang="en-US" sz="4800" b="1" dirty="0">
                  <a:solidFill>
                    <a:srgbClr val="005BBB"/>
                  </a:solidFill>
                </a:endParaRPr>
              </a:p>
              <a:p>
                <a:pPr marL="0" lvl="0" indent="0">
                  <a:lnSpc>
                    <a:spcPct val="95833"/>
                  </a:lnSpc>
                </a:pPr>
                <a:endParaRPr lang="en-US" sz="3200" dirty="0">
                  <a:solidFill>
                    <a:srgbClr val="666666">
                      <a:lumMod val="50000"/>
                    </a:srgbClr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𝑯𝑰</m:t>
                    </m:r>
                    <m:r>
                      <a:rPr lang="en-US" b="1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accent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accent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𝒖𝒏𝒊𝒕𝒍𝒆𝒔𝒔</m:t>
                        </m:r>
                      </m:e>
                    </m:d>
                    <m:r>
                      <a:rPr lang="en-US" b="1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1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𝑯𝑭𝑷𝑶</m:t>
                    </m:r>
                    <m:r>
                      <a:rPr lang="en-US" b="1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𝑫𝑨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accent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accent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𝒑𝒑𝒕</m:t>
                        </m:r>
                      </m:e>
                    </m:d>
                    <m:r>
                      <a:rPr lang="en-US" b="1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1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𝟏𝟎</m:t>
                    </m:r>
                  </m:oMath>
                </a14:m>
                <a:r>
                  <a:rPr lang="en-US" b="1" dirty="0">
                    <a:solidFill>
                      <a:schemeClr val="accent1">
                        <a:lumMod val="50000"/>
                      </a:schemeClr>
                    </a:solidFill>
                  </a:rPr>
                  <a:t> (ppt) ) +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𝑷𝑭𝑩𝑺</m:t>
                    </m:r>
                    <m:d>
                      <m:dPr>
                        <m:ctrlPr>
                          <a:rPr lang="en-US" b="1" i="1">
                            <a:solidFill>
                              <a:schemeClr val="accent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chemeClr val="accent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𝒑𝒑𝒕</m:t>
                        </m:r>
                      </m:e>
                    </m:d>
                    <m:r>
                      <a:rPr lang="en-US" b="1" i="1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1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𝟐𝟎𝟎</m:t>
                    </m:r>
                    <m:r>
                      <a:rPr lang="en-US" b="1" i="1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b="1" dirty="0">
                    <a:solidFill>
                      <a:schemeClr val="accent1">
                        <a:lumMod val="50000"/>
                      </a:schemeClr>
                    </a:solidFill>
                  </a:rPr>
                  <a:t> (ppt) ) +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𝑷𝑭𝑵𝑨</m:t>
                    </m:r>
                    <m:d>
                      <m:dPr>
                        <m:ctrlPr>
                          <a:rPr lang="en-US" b="1" i="1">
                            <a:solidFill>
                              <a:schemeClr val="accent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chemeClr val="accent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𝒑𝒑𝒕</m:t>
                        </m:r>
                      </m:e>
                    </m:d>
                    <m:r>
                      <a:rPr lang="en-US" b="1" i="1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1" i="1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𝟏𝟎</m:t>
                    </m:r>
                  </m:oMath>
                </a14:m>
                <a:r>
                  <a:rPr lang="en-US" b="1" dirty="0">
                    <a:solidFill>
                      <a:schemeClr val="accent1">
                        <a:lumMod val="50000"/>
                      </a:schemeClr>
                    </a:solidFill>
                  </a:rPr>
                  <a:t> (ppt) ) +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𝑷𝑭𝑯𝒙𝑺</m:t>
                    </m:r>
                    <m:r>
                      <a:rPr lang="en-US" b="1" i="1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1" i="1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𝟏𝟎</m:t>
                    </m:r>
                  </m:oMath>
                </a14:m>
                <a:r>
                  <a:rPr lang="en-US" b="1" dirty="0">
                    <a:solidFill>
                      <a:schemeClr val="accent1">
                        <a:lumMod val="50000"/>
                      </a:schemeClr>
                    </a:solidFill>
                  </a:rPr>
                  <a:t> (ppt ) ) </a:t>
                </a:r>
              </a:p>
              <a:p>
                <a:endParaRPr lang="en-US" sz="3200" b="1" dirty="0"/>
              </a:p>
              <a:p>
                <a:pPr marL="0" indent="0">
                  <a:lnSpc>
                    <a:spcPct val="95833"/>
                  </a:lnSpc>
                </a:pPr>
                <a:r>
                  <a:rPr lang="en-US" sz="4800" b="1" dirty="0">
                    <a:solidFill>
                      <a:srgbClr val="005BBB"/>
                    </a:solidFill>
                  </a:rPr>
                  <a:t>Analytical Framework</a:t>
                </a:r>
              </a:p>
              <a:p>
                <a:pPr lvl="1">
                  <a:spcBef>
                    <a:spcPts val="1200"/>
                  </a:spcBef>
                  <a:buSzPts val="3500"/>
                </a:pPr>
                <a:r>
                  <a:rPr lang="en-US" sz="3200" dirty="0"/>
                  <a:t>This analysis integrates PFAS datasets into a unified framework for geospatial harmonization, data transformation, and construction of a weighted Hazard Index from key analytes, enabling hierarchical aggregation and decomposition of risk across sites, systems, and counties. It emphasizes multi-scale analytical exploration to identify dominant contributors, quantify cumulative exposure, and reveal spatial patterns of PFAS risk in Michigan</a:t>
                </a:r>
                <a:endParaRPr lang="en-US" sz="3200" dirty="0">
                  <a:solidFill>
                    <a:srgbClr val="666666">
                      <a:lumMod val="50000"/>
                    </a:srgbClr>
                  </a:solidFill>
                </a:endParaRP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22F7C748-A7B8-994F-51B5-6A10DF8505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0" y="5619555"/>
                <a:ext cx="14630399" cy="24821957"/>
              </a:xfrm>
              <a:blipFill>
                <a:blip r:embed="rId2"/>
                <a:stretch>
                  <a:fillRect l="-1997" t="-716" r="-1649" b="-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657839-AC5A-CBEC-68BD-5C169C5740B8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14895095" y="5629335"/>
            <a:ext cx="14101012" cy="24812177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Arial"/>
              <a:buNone/>
              <a:tabLst/>
              <a:defRPr/>
            </a:pPr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solidFill>
                  <a:srgbClr val="005BBB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Results and Findings</a:t>
            </a:r>
          </a:p>
          <a:p>
            <a:pPr marL="0" marR="0" lvl="0" indent="0" algn="l" defTabSz="914400" rtl="0" eaLnBrk="1" fontAlgn="auto" latinLnBrk="0" hangingPunct="1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Arial"/>
              <a:buNone/>
              <a:tabLst/>
              <a:defRPr/>
            </a:pPr>
            <a:endParaRPr kumimoji="0" lang="en-US" sz="3200" b="0" i="0" u="none" strike="noStrike" kern="0" cap="none" spc="0" normalizeH="0" baseline="0" noProof="0" dirty="0">
              <a:ln>
                <a:noFill/>
              </a:ln>
              <a:solidFill>
                <a:srgbClr val="666666">
                  <a:lumMod val="50000"/>
                </a:srgbClr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indent="-228600">
              <a:spcBef>
                <a:spcPts val="2200"/>
              </a:spcBef>
              <a:spcAft>
                <a:spcPts val="2200"/>
              </a:spcAft>
              <a:buClr>
                <a:schemeClr val="dk1"/>
              </a:buClr>
              <a:buNone/>
            </a:pPr>
            <a:endParaRPr lang="en-US" sz="1200" i="1" dirty="0">
              <a:solidFill>
                <a:schemeClr val="accent4">
                  <a:lumMod val="50000"/>
                </a:schemeClr>
              </a:solidFill>
              <a:latin typeface="+mn-lt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indent="-228600">
              <a:spcBef>
                <a:spcPts val="2200"/>
              </a:spcBef>
              <a:spcAft>
                <a:spcPts val="2200"/>
              </a:spcAft>
              <a:buClr>
                <a:schemeClr val="dk1"/>
              </a:buClr>
              <a:buNone/>
            </a:pPr>
            <a:endParaRPr lang="en-US" sz="800" i="1" dirty="0">
              <a:solidFill>
                <a:schemeClr val="accent4">
                  <a:lumMod val="50000"/>
                </a:schemeClr>
              </a:solidFill>
              <a:latin typeface="+mn-lt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indent="-228600">
              <a:spcBef>
                <a:spcPts val="2200"/>
              </a:spcBef>
              <a:spcAft>
                <a:spcPts val="2200"/>
              </a:spcAft>
              <a:buClr>
                <a:schemeClr val="dk1"/>
              </a:buClr>
              <a:buNone/>
            </a:pPr>
            <a:endParaRPr lang="en-US" sz="3200" i="1" dirty="0">
              <a:solidFill>
                <a:schemeClr val="accent4">
                  <a:lumMod val="50000"/>
                </a:schemeClr>
              </a:solidFill>
              <a:latin typeface="+mn-lt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1200"/>
              </a:spcBef>
              <a:buClr>
                <a:srgbClr val="7F7F7F"/>
              </a:buClr>
            </a:pPr>
            <a:endParaRPr lang="en-US" sz="3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Google Shape;36;p1">
            <a:extLst>
              <a:ext uri="{FF2B5EF4-FFF2-40B4-BE49-F238E27FC236}">
                <a16:creationId xmlns:a16="http://schemas.microsoft.com/office/drawing/2014/main" id="{BAAC6169-C1CE-EE5A-EDB1-D24E66F4A940}"/>
              </a:ext>
            </a:extLst>
          </p:cNvPr>
          <p:cNvSpPr/>
          <p:nvPr/>
        </p:nvSpPr>
        <p:spPr>
          <a:xfrm>
            <a:off x="999938" y="1095482"/>
            <a:ext cx="41224200" cy="45240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25" tIns="45600" rIns="91225" bIns="456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600" dirty="0">
                <a:solidFill>
                  <a:schemeClr val="lt1"/>
                </a:solidFill>
              </a:rPr>
              <a:t>A Spatial Analysis of PFAS Pollution in Michigan</a:t>
            </a:r>
            <a:endParaRPr dirty="0"/>
          </a:p>
          <a:p>
            <a:pPr marL="0" marR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endParaRPr lang="en-US" sz="2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1800"/>
              </a:spcBef>
            </a:pP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Nancy Odhiambo</a:t>
            </a:r>
            <a:r>
              <a:rPr lang="en-US" sz="3600" baseline="30000" dirty="0">
                <a:solidFill>
                  <a:schemeClr val="lt1"/>
                </a:solidFill>
              </a:rPr>
              <a:t>, </a:t>
            </a:r>
            <a:r>
              <a:rPr lang="en-US" sz="3600" dirty="0">
                <a:solidFill>
                  <a:schemeClr val="lt1"/>
                </a:solidFill>
              </a:rPr>
              <a:t>Andrew DiLernia</a:t>
            </a:r>
            <a:endParaRPr lang="en-US" sz="3600" baseline="30000" dirty="0">
              <a:solidFill>
                <a:schemeClr val="lt1"/>
              </a:solidFill>
            </a:endParaRPr>
          </a:p>
          <a:p>
            <a:pPr lvl="0">
              <a:spcBef>
                <a:spcPts val="1800"/>
              </a:spcBef>
            </a:pP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Department of Statistics, Grand Valley State University </a:t>
            </a:r>
            <a:endParaRPr dirty="0"/>
          </a:p>
          <a:p>
            <a:pPr marL="0" marR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endParaRPr sz="32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" name="Google Shape;74;p1">
            <a:extLst>
              <a:ext uri="{FF2B5EF4-FFF2-40B4-BE49-F238E27FC236}">
                <a16:creationId xmlns:a16="http://schemas.microsoft.com/office/drawing/2014/main" id="{7731369C-25C6-4539-52D3-470DF230526A}"/>
              </a:ext>
            </a:extLst>
          </p:cNvPr>
          <p:cNvSpPr/>
          <p:nvPr/>
        </p:nvSpPr>
        <p:spPr>
          <a:xfrm>
            <a:off x="33196429" y="30840633"/>
            <a:ext cx="9780371" cy="14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Department of Statistics</a:t>
            </a:r>
            <a:b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Grand Valley State University</a:t>
            </a:r>
            <a:endParaRPr dirty="0"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34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gvsu.edu</a:t>
            </a:r>
            <a:endParaRPr dirty="0"/>
          </a:p>
          <a:p>
            <a:pPr marL="0" marR="0" lvl="0" indent="0" algn="l" rtl="0">
              <a:spcBef>
                <a:spcPts val="80"/>
              </a:spcBef>
              <a:spcAft>
                <a:spcPts val="0"/>
              </a:spcAft>
              <a:buNone/>
            </a:pPr>
            <a:endParaRPr sz="2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" name="Google Shape;76;p1">
            <a:extLst>
              <a:ext uri="{FF2B5EF4-FFF2-40B4-BE49-F238E27FC236}">
                <a16:creationId xmlns:a16="http://schemas.microsoft.com/office/drawing/2014/main" id="{BB728658-9F61-908A-3DCE-2DBBF3565C0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705108" y="30752684"/>
            <a:ext cx="1905000" cy="1905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pic>
      <p:sp>
        <p:nvSpPr>
          <p:cNvPr id="50" name="Text Placeholder 48">
            <a:extLst>
              <a:ext uri="{FF2B5EF4-FFF2-40B4-BE49-F238E27FC236}">
                <a16:creationId xmlns:a16="http://schemas.microsoft.com/office/drawing/2014/main" id="{AB71F360-BB8B-D375-3180-E5F2E2514D50}"/>
              </a:ext>
            </a:extLst>
          </p:cNvPr>
          <p:cNvSpPr>
            <a:spLocks noGrp="1"/>
          </p:cNvSpPr>
          <p:nvPr>
            <p:ph type="body" idx="6"/>
          </p:nvPr>
        </p:nvSpPr>
        <p:spPr>
          <a:xfrm>
            <a:off x="29260800" y="5619555"/>
            <a:ext cx="14630400" cy="24812177"/>
          </a:xfrm>
        </p:spPr>
        <p:txBody>
          <a:bodyPr/>
          <a:lstStyle/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  <a:buNone/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  <a:buNone/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  <a:buNone/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  <a:buNone/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  <a:buNone/>
            </a:pPr>
            <a:r>
              <a:rPr lang="en-US" sz="4800" b="1" dirty="0">
                <a:solidFill>
                  <a:srgbClr val="005BBB"/>
                </a:solidFill>
              </a:rPr>
              <a:t>Conclusion</a:t>
            </a:r>
          </a:p>
          <a:p>
            <a:pPr lvl="1" indent="-457200">
              <a:spcBef>
                <a:spcPts val="1200"/>
              </a:spcBef>
              <a:buSzPts val="3500"/>
            </a:pPr>
            <a:r>
              <a:rPr lang="en-US" sz="3200" dirty="0">
                <a:solidFill>
                  <a:schemeClr val="accent4">
                    <a:lumMod val="50000"/>
                  </a:schemeClr>
                </a:solidFill>
              </a:rPr>
              <a:t>PFAS data analysis enhances accessibility to the cumulative risk </a:t>
            </a:r>
          </a:p>
          <a:p>
            <a:pPr lvl="1" indent="-457200">
              <a:spcBef>
                <a:spcPts val="1200"/>
              </a:spcBef>
              <a:buSzPts val="3500"/>
            </a:pPr>
            <a:r>
              <a:rPr lang="en-US" sz="3200" dirty="0">
                <a:solidFill>
                  <a:schemeClr val="accent4">
                    <a:lumMod val="50000"/>
                  </a:schemeClr>
                </a:solidFill>
              </a:rPr>
              <a:t>The hazard Index consolidates multiple chemicals into an intuitive scale for public awareness and policy improvement</a:t>
            </a:r>
          </a:p>
          <a:p>
            <a:pPr lvl="1" indent="-457200">
              <a:spcBef>
                <a:spcPts val="1200"/>
              </a:spcBef>
              <a:buSzPts val="3500"/>
            </a:pPr>
            <a:r>
              <a:rPr lang="en-US" sz="3200" dirty="0">
                <a:solidFill>
                  <a:schemeClr val="accent4">
                    <a:lumMod val="50000"/>
                  </a:schemeClr>
                </a:solidFill>
              </a:rPr>
              <a:t>The insights that have been discovered from this analysis enables evidence-based decisions, improve transparency, and guide environmental management</a:t>
            </a:r>
          </a:p>
          <a:p>
            <a:pPr marL="0" indent="0">
              <a:lnSpc>
                <a:spcPct val="95833"/>
              </a:lnSpc>
              <a:buNone/>
            </a:pPr>
            <a:r>
              <a:rPr lang="en-US" sz="4800" b="1" dirty="0">
                <a:solidFill>
                  <a:srgbClr val="005BBB"/>
                </a:solidFill>
              </a:rPr>
              <a:t>Software &amp; Tools</a:t>
            </a:r>
          </a:p>
          <a:p>
            <a:pPr marL="0" lvl="0" indent="0">
              <a:spcBef>
                <a:spcPts val="1200"/>
              </a:spcBef>
              <a:spcAft>
                <a:spcPts val="1200"/>
              </a:spcAft>
            </a:pPr>
            <a:r>
              <a:rPr lang="en-US" sz="3200" dirty="0">
                <a:solidFill>
                  <a:schemeClr val="accent4">
                    <a:lumMod val="50000"/>
                  </a:schemeClr>
                </a:solidFill>
              </a:rPr>
              <a:t>Frontend: Leaflet, Plotly – Backend: R, Quarto, Markdown, JavaScript</a:t>
            </a:r>
          </a:p>
          <a:p>
            <a:pPr marL="0" lvl="0" indent="0">
              <a:spcBef>
                <a:spcPts val="1200"/>
              </a:spcBef>
              <a:spcAft>
                <a:spcPts val="1200"/>
              </a:spcAft>
            </a:pPr>
            <a:r>
              <a:rPr lang="en-US" sz="3200" dirty="0">
                <a:solidFill>
                  <a:schemeClr val="accent4">
                    <a:lumMod val="50000"/>
                  </a:schemeClr>
                </a:solidFill>
              </a:rPr>
              <a:t>Hosting: GitHub: 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  <a:hlinkClick r:id="rId4"/>
              </a:rPr>
              <a:t>https://github.com/Nancy-Odhiambo/Michigan-PFAS-Data</a:t>
            </a:r>
            <a:endParaRPr lang="en-US" sz="1600" dirty="0">
              <a:solidFill>
                <a:schemeClr val="accent4">
                  <a:lumMod val="50000"/>
                </a:schemeClr>
              </a:solidFill>
            </a:endParaRPr>
          </a:p>
          <a:p>
            <a:pPr marL="0" lvl="0" indent="0">
              <a:lnSpc>
                <a:spcPct val="95833"/>
              </a:lnSpc>
              <a:buNone/>
            </a:pPr>
            <a:r>
              <a:rPr lang="en-US" sz="4800" b="1" dirty="0">
                <a:solidFill>
                  <a:srgbClr val="005BBB"/>
                </a:solidFill>
              </a:rPr>
              <a:t>References</a:t>
            </a:r>
          </a:p>
          <a:p>
            <a:pPr marL="514350" lvl="0" indent="-514350">
              <a:lnSpc>
                <a:spcPct val="95833"/>
              </a:lnSpc>
              <a:buClr>
                <a:schemeClr val="dk1"/>
              </a:buClr>
              <a:buFont typeface="+mj-lt"/>
              <a:buAutoNum type="arabicPeriod"/>
            </a:pPr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  <a:p>
            <a:pPr marL="514350" lvl="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r>
              <a:rPr lang="en-US" sz="2500" dirty="0">
                <a:solidFill>
                  <a:schemeClr val="accent4">
                    <a:lumMod val="50000"/>
                  </a:schemeClr>
                </a:solidFill>
                <a:hlinkClick r:id="rId5"/>
              </a:rPr>
              <a:t>https://www.epa.gov/system/files/documents/2024-04/pfas-npdwr_fact-sheet_hazard-index_4.8.24.pdf</a:t>
            </a:r>
            <a:endParaRPr lang="en-US" sz="2500" dirty="0">
              <a:solidFill>
                <a:schemeClr val="accent4">
                  <a:lumMod val="50000"/>
                </a:schemeClr>
              </a:solidFill>
            </a:endParaRPr>
          </a:p>
          <a:p>
            <a:pPr marL="514350" lvl="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r>
              <a:rPr lang="en-US" sz="2500" dirty="0">
                <a:solidFill>
                  <a:schemeClr val="accent4">
                    <a:lumMod val="50000"/>
                  </a:schemeClr>
                </a:solidFill>
                <a:hlinkClick r:id="rId6"/>
              </a:rPr>
              <a:t>https://gis-egle.hub.arcgis.com/datasets/egle::pfas-surface-water-sampling/about</a:t>
            </a:r>
            <a:endParaRPr lang="en-US" sz="2500" dirty="0">
              <a:solidFill>
                <a:schemeClr val="accent4">
                  <a:lumMod val="50000"/>
                </a:schemeClr>
              </a:solidFill>
            </a:endParaRPr>
          </a:p>
          <a:p>
            <a:pPr marL="514350" lvl="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r>
              <a:rPr lang="en-US" sz="2500" dirty="0">
                <a:solidFill>
                  <a:schemeClr val="accent4">
                    <a:lumMod val="50000"/>
                  </a:schemeClr>
                </a:solidFill>
                <a:hlinkClick r:id="rId7"/>
              </a:rPr>
              <a:t>https://gis-egle.hub.arcgis.com/search?q=pfasgis</a:t>
            </a:r>
            <a:endParaRPr lang="en-US" sz="2500" dirty="0">
              <a:solidFill>
                <a:schemeClr val="accent4">
                  <a:lumMod val="50000"/>
                </a:schemeClr>
              </a:solidFill>
            </a:endParaRPr>
          </a:p>
          <a:p>
            <a:pPr marL="514350" lvl="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r>
              <a:rPr lang="en-US" sz="2500" dirty="0">
                <a:solidFill>
                  <a:schemeClr val="accent4">
                    <a:lumMod val="50000"/>
                  </a:schemeClr>
                </a:solidFill>
                <a:hlinkClick r:id="rId8"/>
              </a:rPr>
              <a:t>https://www.michigan.gov/pfasresponse/investigations/sites-aoi</a:t>
            </a:r>
            <a:endParaRPr lang="en-US" sz="2500" dirty="0">
              <a:solidFill>
                <a:schemeClr val="accent4">
                  <a:lumMod val="50000"/>
                </a:schemeClr>
              </a:solidFill>
            </a:endParaRPr>
          </a:p>
          <a:p>
            <a:pPr marL="514350" lvl="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r>
              <a:rPr lang="en-US" sz="2500" dirty="0">
                <a:solidFill>
                  <a:schemeClr val="accent4">
                    <a:lumMod val="50000"/>
                  </a:schemeClr>
                </a:solidFill>
                <a:hlinkClick r:id="rId9"/>
              </a:rPr>
              <a:t>https://www.michigan.gov/pfasresponse/-/media/Project/Websites/PFAS-Response/Sampling-Guidance/Minimum-Laboratory-Analyte-List.pdf?rev=a35aba56ec5a4922b986f01e25c1a19d&amp;hash=04E6F164AA5F5CD29B83B39983341345</a:t>
            </a:r>
            <a:endParaRPr lang="en-US" sz="2500" dirty="0">
              <a:solidFill>
                <a:schemeClr val="accent4">
                  <a:lumMod val="50000"/>
                </a:schemeClr>
              </a:solidFill>
            </a:endParaRPr>
          </a:p>
          <a:p>
            <a:pPr marL="514350" lvl="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endParaRPr lang="en-US" sz="2500" dirty="0">
              <a:solidFill>
                <a:schemeClr val="accent4">
                  <a:lumMod val="50000"/>
                </a:schemeClr>
              </a:solidFill>
            </a:endParaRPr>
          </a:p>
          <a:p>
            <a:pPr marL="514350" lvl="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endParaRPr lang="en-US" sz="2500" dirty="0">
              <a:solidFill>
                <a:schemeClr val="accent4">
                  <a:lumMod val="50000"/>
                </a:schemeClr>
              </a:solidFill>
            </a:endParaRPr>
          </a:p>
          <a:p>
            <a:pPr marL="514350" lvl="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endParaRPr lang="en-US" sz="2500" dirty="0">
              <a:solidFill>
                <a:schemeClr val="accent4">
                  <a:lumMod val="50000"/>
                </a:schemeClr>
              </a:solidFill>
            </a:endParaRPr>
          </a:p>
          <a:p>
            <a:pPr marL="514350" lvl="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endParaRPr lang="en-US" sz="2500" dirty="0">
              <a:solidFill>
                <a:schemeClr val="accent4">
                  <a:lumMod val="50000"/>
                </a:schemeClr>
              </a:solidFill>
            </a:endParaRPr>
          </a:p>
          <a:p>
            <a:pPr marL="514350" lvl="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endParaRPr lang="en-US" sz="2500" dirty="0">
              <a:solidFill>
                <a:schemeClr val="accent4">
                  <a:lumMod val="50000"/>
                </a:schemeClr>
              </a:solidFill>
            </a:endParaRPr>
          </a:p>
          <a:p>
            <a:pPr marL="0" indent="0">
              <a:lnSpc>
                <a:spcPct val="95833"/>
              </a:lnSpc>
              <a:buClr>
                <a:schemeClr val="dk1"/>
              </a:buClr>
              <a:buNone/>
            </a:pPr>
            <a:endParaRPr lang="en-US" sz="2500" dirty="0"/>
          </a:p>
          <a:p>
            <a:pPr marL="514350" lvl="0" indent="-514350">
              <a:lnSpc>
                <a:spcPct val="95833"/>
              </a:lnSpc>
              <a:buClr>
                <a:schemeClr val="dk1"/>
              </a:buClr>
              <a:buFont typeface="+mj-lt"/>
              <a:buAutoNum type="arabicPeriod"/>
            </a:pPr>
            <a:endParaRPr lang="en-US" sz="3000" dirty="0">
              <a:solidFill>
                <a:schemeClr val="accent4">
                  <a:lumMod val="50000"/>
                </a:schemeClr>
              </a:solidFill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75A505-4BB7-0C64-4386-A57A3D5AAC1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951033" y="6614556"/>
            <a:ext cx="12365181" cy="82434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B399D0-5D23-D139-707D-865B3CB825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065131" y="15267285"/>
            <a:ext cx="12670183" cy="905012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4858FAE-1C8D-0946-B8C3-06B7A8DBCB9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812065" y="5707504"/>
            <a:ext cx="13383695" cy="95597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5BA9DBB-2550-B185-75A1-8A4A4386A3B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179475" y="24561462"/>
            <a:ext cx="13816630" cy="5526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402343"/>
      </p:ext>
    </p:extLst>
  </p:cSld>
  <p:clrMapOvr>
    <a:masterClrMapping/>
  </p:clrMapOvr>
</p:sld>
</file>

<file path=ppt/theme/theme1.xml><?xml version="1.0" encoding="utf-8"?>
<a:theme xmlns:a="http://schemas.openxmlformats.org/drawingml/2006/main" name="Research Poster Template">
  <a:themeElements>
    <a:clrScheme name="UB Color Palette">
      <a:dk1>
        <a:srgbClr val="666666"/>
      </a:dk1>
      <a:lt1>
        <a:srgbClr val="FFFFFF"/>
      </a:lt1>
      <a:dk2>
        <a:srgbClr val="005BBB"/>
      </a:dk2>
      <a:lt2>
        <a:srgbClr val="FFFFFF"/>
      </a:lt2>
      <a:accent1>
        <a:srgbClr val="005BBB"/>
      </a:accent1>
      <a:accent2>
        <a:srgbClr val="41B6E6"/>
      </a:accent2>
      <a:accent3>
        <a:srgbClr val="E56D54"/>
      </a:accent3>
      <a:accent4>
        <a:srgbClr val="666666"/>
      </a:accent4>
      <a:accent5>
        <a:srgbClr val="007681"/>
      </a:accent5>
      <a:accent6>
        <a:srgbClr val="003E51"/>
      </a:accent6>
      <a:hlink>
        <a:srgbClr val="186BB7"/>
      </a:hlink>
      <a:folHlink>
        <a:srgbClr val="D86A4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1798</TotalTime>
  <Words>434</Words>
  <Application>Microsoft Macintosh PowerPoint</Application>
  <PresentationFormat>Custom</PresentationFormat>
  <Paragraphs>65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Cambria</vt:lpstr>
      <vt:lpstr>Cambria Math</vt:lpstr>
      <vt:lpstr>NTR</vt:lpstr>
      <vt:lpstr>Times New Roman</vt:lpstr>
      <vt:lpstr>Research Poster Template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Nancy A. Odhiambo</cp:lastModifiedBy>
  <cp:revision>86</cp:revision>
  <dcterms:created xsi:type="dcterms:W3CDTF">2019-03-28T18:35:19Z</dcterms:created>
  <dcterms:modified xsi:type="dcterms:W3CDTF">2026-03-25T11:29:27Z</dcterms:modified>
</cp:coreProperties>
</file>